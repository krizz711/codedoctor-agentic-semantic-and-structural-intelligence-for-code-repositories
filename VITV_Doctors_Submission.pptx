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fb4137d11c45cd" /><Relationship Type="http://schemas.openxmlformats.org/officeDocument/2006/relationships/extended-properties" Target="/docProps/app.xml" Id="Rc80f23e87b854c53" /><Relationship Type="http://schemas.openxmlformats.org/officeDocument/2006/relationships/officeDocument" Target="/ppt/presentation.xml" Id="R8b49ec7e8371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183d9df57b4a6b"/>
  </p:sldMasterIdLst>
  <p:notesMasterIdLst>
    <p:notesMasterId xmlns:r="http://schemas.openxmlformats.org/officeDocument/2006/relationships" r:id="Re94eebdc7a134bfd"/>
  </p:notesMasterIdLst>
  <p:sldIdLst>
    <p:sldId xmlns:r="http://schemas.openxmlformats.org/officeDocument/2006/relationships" id="256" r:id="R843d307ab7f4486b"/>
    <p:sldId xmlns:r="http://schemas.openxmlformats.org/officeDocument/2006/relationships" id="257" r:id="Red56fb6b3cf343d6"/>
    <p:sldId xmlns:r="http://schemas.openxmlformats.org/officeDocument/2006/relationships" id="258" r:id="R74691a0e6ac54383"/>
    <p:sldId xmlns:r="http://schemas.openxmlformats.org/officeDocument/2006/relationships" id="259" r:id="R6133cb309f454cc8"/>
    <p:sldId xmlns:r="http://schemas.openxmlformats.org/officeDocument/2006/relationships" id="260" r:id="R0e8696333e4249b3"/>
    <p:sldId xmlns:r="http://schemas.openxmlformats.org/officeDocument/2006/relationships" id="261" r:id="R82823ca18490492b"/>
    <p:sldId xmlns:r="http://schemas.openxmlformats.org/officeDocument/2006/relationships" id="262" r:id="Rc541847208d74daa"/>
    <p:sldId xmlns:r="http://schemas.openxmlformats.org/officeDocument/2006/relationships" id="263" r:id="R0be93e4f1387412c"/>
    <p:sldId xmlns:r="http://schemas.openxmlformats.org/officeDocument/2006/relationships" id="264" r:id="Rafea706b24984ae5"/>
    <p:sldId xmlns:r="http://schemas.openxmlformats.org/officeDocument/2006/relationships" id="265" r:id="R5da720bf94d647c6"/>
    <p:sldId xmlns:r="http://schemas.openxmlformats.org/officeDocument/2006/relationships" id="266" r:id="R570ffe4334314253"/>
    <p:sldId xmlns:r="http://schemas.openxmlformats.org/officeDocument/2006/relationships" id="267" r:id="Ra3785d9350b546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2d22914999477e" /><Relationship Type="http://schemas.openxmlformats.org/officeDocument/2006/relationships/slideMaster" Target="/ppt/slideMasters/slideMaster1.xml" Id="Rdf183d9df57b4a6b" /><Relationship Type="http://schemas.openxmlformats.org/officeDocument/2006/relationships/notesMaster" Target="/ppt/notesMasters/notesMaster1.xml" Id="Re94eebdc7a134bfd" /><Relationship Type="http://schemas.openxmlformats.org/officeDocument/2006/relationships/presProps" Target="/ppt/presProps.xml" Id="Rb4d46d3e51ad4017" /><Relationship Type="http://schemas.openxmlformats.org/officeDocument/2006/relationships/tableStyles" Target="/ppt/tableStyles.xml" Id="R18b7dfd4fba343f8" /><Relationship Type="http://schemas.openxmlformats.org/officeDocument/2006/relationships/slide" Target="/ppt/slides/slide1.xml" Id="R843d307ab7f4486b" /><Relationship Type="http://schemas.openxmlformats.org/officeDocument/2006/relationships/slide" Target="/ppt/slides/slide2.xml" Id="Red56fb6b3cf343d6" /><Relationship Type="http://schemas.openxmlformats.org/officeDocument/2006/relationships/slide" Target="/ppt/slides/slide3.xml" Id="R74691a0e6ac54383" /><Relationship Type="http://schemas.openxmlformats.org/officeDocument/2006/relationships/slide" Target="/ppt/slides/slide4.xml" Id="R6133cb309f454cc8" /><Relationship Type="http://schemas.openxmlformats.org/officeDocument/2006/relationships/slide" Target="/ppt/slides/slide5.xml" Id="R0e8696333e4249b3" /><Relationship Type="http://schemas.openxmlformats.org/officeDocument/2006/relationships/slide" Target="/ppt/slides/slide6.xml" Id="R82823ca18490492b" /><Relationship Type="http://schemas.openxmlformats.org/officeDocument/2006/relationships/slide" Target="/ppt/slides/slide7.xml" Id="Rc541847208d74daa" /><Relationship Type="http://schemas.openxmlformats.org/officeDocument/2006/relationships/slide" Target="/ppt/slides/slide8.xml" Id="R0be93e4f1387412c" /><Relationship Type="http://schemas.openxmlformats.org/officeDocument/2006/relationships/slide" Target="/ppt/slides/slide9.xml" Id="Rafea706b24984ae5" /><Relationship Type="http://schemas.openxmlformats.org/officeDocument/2006/relationships/slide" Target="/ppt/slides/slide10.xml" Id="R5da720bf94d647c6" /><Relationship Type="http://schemas.openxmlformats.org/officeDocument/2006/relationships/slide" Target="/ppt/slides/slide11.xml" Id="R570ffe4334314253" /><Relationship Type="http://schemas.openxmlformats.org/officeDocument/2006/relationships/slide" Target="/ppt/slides/slide12.xml" Id="Ra3785d9350b546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8fe40d30e042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9df2cfd85f4d03" /><Relationship Type="http://schemas.openxmlformats.org/officeDocument/2006/relationships/notesMaster" Target="/ppt/notesMasters/notesMaster1.xml" Id="R29ee3c6e90c640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3019715ba94b7a" /><Relationship Type="http://schemas.openxmlformats.org/officeDocument/2006/relationships/notesMaster" Target="/ppt/notesMasters/notesMaster1.xml" Id="Rd70f0b3077da48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afd4adfc00468c" /><Relationship Type="http://schemas.openxmlformats.org/officeDocument/2006/relationships/notesMaster" Target="/ppt/notesMasters/notesMaster1.xml" Id="R4db9d6ccc92a4d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6f28583b6d476e" /><Relationship Type="http://schemas.openxmlformats.org/officeDocument/2006/relationships/notesMaster" Target="/ppt/notesMasters/notesMaster1.xml" Id="R2cd66e4aaffd42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a5eeabd4fb4108" /><Relationship Type="http://schemas.openxmlformats.org/officeDocument/2006/relationships/notesMaster" Target="/ppt/notesMasters/notesMaster1.xml" Id="Rf5acd5c23ebc42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446b797c464ae0" /><Relationship Type="http://schemas.openxmlformats.org/officeDocument/2006/relationships/notesMaster" Target="/ppt/notesMasters/notesMaster1.xml" Id="Rcb03c2b4478349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2d8a163e344197" /><Relationship Type="http://schemas.openxmlformats.org/officeDocument/2006/relationships/notesMaster" Target="/ppt/notesMasters/notesMaster1.xml" Id="Rd80f8910284545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06ed46287243ec" /><Relationship Type="http://schemas.openxmlformats.org/officeDocument/2006/relationships/notesMaster" Target="/ppt/notesMasters/notesMaster1.xml" Id="R447d238317824f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3128cef2914a97" /><Relationship Type="http://schemas.openxmlformats.org/officeDocument/2006/relationships/notesMaster" Target="/ppt/notesMasters/notesMaster1.xml" Id="R8116505abac746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269c7a26744354" /><Relationship Type="http://schemas.openxmlformats.org/officeDocument/2006/relationships/notesMaster" Target="/ppt/notesMasters/notesMaster1.xml" Id="R114ea150ecf64f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47b93b6b374c60" /><Relationship Type="http://schemas.openxmlformats.org/officeDocument/2006/relationships/notesMaster" Target="/ppt/notesMasters/notesMaster1.xml" Id="R1fa2922b0a0040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22d469abae4ccf" /><Relationship Type="http://schemas.openxmlformats.org/officeDocument/2006/relationships/notesMaster" Target="/ppt/notesMasters/notesMaster1.xml" Id="R1c64f3107aae4a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CodeDoctor submission, VITV / Doctors. Source: repository README.md, config/submission.yaml, docs/submission/PROTOCOL.md, theme1_guidelines.pdf and CLAUDE.md verbatim jury FAQ. Architecture: app/pipeline/encoder.py, app/pipeline/execution_rerank.py, app/workbench.py, app/indexing/versioned.py. Historical metrics are not the current CPU result. Final measurements must reference authentic run artifacts. No claim of first-in-literature novelty. Repository: https://github.com/krizz711/CodeDoctor-Agentic-Semantic-and-Structural-Intelligence-for-Code-Repositories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812fb7cac4a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9bfa7242d4b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bbb75117646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de02586fb4a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3923457a745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daacb7897492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c1bf6bdee42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7561e6f9548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dc0c6900e4e9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bfda5fe0a4d0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4ccbcff0648e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e266521bc4efc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5">
            <a:extLst xmlns:a="http://schemas.openxmlformats.org/drawingml/2006/main">
              <a:ext uri="{FF2B5EF4-FFF2-40B4-BE49-F238E27FC236}">
                <a16:creationId xmlns:a16="http://schemas.microsoft.com/office/drawing/2014/main" id="{6E98A5DD-0D3E-41C3-9718-F9F8A8C94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15">
            <a:extLst xmlns:a="http://schemas.openxmlformats.org/drawingml/2006/main">
              <a:ext uri="{FF2B5EF4-FFF2-40B4-BE49-F238E27FC236}">
                <a16:creationId xmlns:a16="http://schemas.microsoft.com/office/drawing/2014/main" id="{17351C10-96AB-4F80-AC93-2DA1798B1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9" name="Google Shape;19;p15">
            <a:extLst xmlns:a="http://schemas.openxmlformats.org/drawingml/2006/main">
              <a:ext uri="{FF2B5EF4-FFF2-40B4-BE49-F238E27FC236}">
                <a16:creationId xmlns:a16="http://schemas.microsoft.com/office/drawing/2014/main" id="{A1B2B4EB-5B90-4CAF-A465-5EAD2818B0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15">
            <a:extLst xmlns:a="http://schemas.openxmlformats.org/drawingml/2006/main">
              <a:ext uri="{FF2B5EF4-FFF2-40B4-BE49-F238E27FC236}">
                <a16:creationId xmlns:a16="http://schemas.microsoft.com/office/drawing/2014/main" id="{2D70EEFE-EC3E-47FF-9B7A-06E36B84B0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15">
            <a:extLst xmlns:a="http://schemas.openxmlformats.org/drawingml/2006/main">
              <a:ext uri="{FF2B5EF4-FFF2-40B4-BE49-F238E27FC236}">
                <a16:creationId xmlns:a16="http://schemas.microsoft.com/office/drawing/2014/main" id="{8CFD2942-D9AE-4696-AA8C-ED994518C7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6">
            <a:extLst xmlns:a="http://schemas.openxmlformats.org/drawingml/2006/main">
              <a:ext uri="{FF2B5EF4-FFF2-40B4-BE49-F238E27FC236}">
                <a16:creationId xmlns:a16="http://schemas.microsoft.com/office/drawing/2014/main" id="{0FF74EFD-4D77-4ED1-A324-2555C0454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16">
            <a:extLst xmlns:a="http://schemas.openxmlformats.org/drawingml/2006/main">
              <a:ext uri="{FF2B5EF4-FFF2-40B4-BE49-F238E27FC236}">
                <a16:creationId xmlns:a16="http://schemas.microsoft.com/office/drawing/2014/main" id="{80F50A7D-5D61-4E4A-A134-7EAAE782B0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25" name="Google Shape;25;p16">
            <a:extLst xmlns:a="http://schemas.openxmlformats.org/drawingml/2006/main">
              <a:ext uri="{FF2B5EF4-FFF2-40B4-BE49-F238E27FC236}">
                <a16:creationId xmlns:a16="http://schemas.microsoft.com/office/drawing/2014/main" id="{CB81DB81-238F-40BC-9D2C-F76848800A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16">
            <a:extLst xmlns:a="http://schemas.openxmlformats.org/drawingml/2006/main">
              <a:ext uri="{FF2B5EF4-FFF2-40B4-BE49-F238E27FC236}">
                <a16:creationId xmlns:a16="http://schemas.microsoft.com/office/drawing/2014/main" id="{B7A1D4F0-B348-4B5E-A9A8-18B45E2F25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16">
            <a:extLst xmlns:a="http://schemas.openxmlformats.org/drawingml/2006/main">
              <a:ext uri="{FF2B5EF4-FFF2-40B4-BE49-F238E27FC236}">
                <a16:creationId xmlns:a16="http://schemas.microsoft.com/office/drawing/2014/main" id="{314BFF03-64A9-4472-829A-8FB7A57AA5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7">
            <a:extLst xmlns:a="http://schemas.openxmlformats.org/drawingml/2006/main">
              <a:ext uri="{FF2B5EF4-FFF2-40B4-BE49-F238E27FC236}">
                <a16:creationId xmlns:a16="http://schemas.microsoft.com/office/drawing/2014/main" id="{879BC399-FB99-4250-9252-681D6255E3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17">
            <a:extLst xmlns:a="http://schemas.openxmlformats.org/drawingml/2006/main">
              <a:ext uri="{FF2B5EF4-FFF2-40B4-BE49-F238E27FC236}">
                <a16:creationId xmlns:a16="http://schemas.microsoft.com/office/drawing/2014/main" id="{6B38F0C2-6CFD-40FF-ACC7-2156411F67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" name="Google Shape;31;p17">
            <a:extLst xmlns:a="http://schemas.openxmlformats.org/drawingml/2006/main">
              <a:ext uri="{FF2B5EF4-FFF2-40B4-BE49-F238E27FC236}">
                <a16:creationId xmlns:a16="http://schemas.microsoft.com/office/drawing/2014/main" id="{36AD30E8-D173-4E70-9092-4645F01EEE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17">
            <a:extLst xmlns:a="http://schemas.openxmlformats.org/drawingml/2006/main">
              <a:ext uri="{FF2B5EF4-FFF2-40B4-BE49-F238E27FC236}">
                <a16:creationId xmlns:a16="http://schemas.microsoft.com/office/drawing/2014/main" id="{E4B2E464-10D2-408B-9AF2-153A83BCA4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17">
            <a:extLst xmlns:a="http://schemas.openxmlformats.org/drawingml/2006/main">
              <a:ext uri="{FF2B5EF4-FFF2-40B4-BE49-F238E27FC236}">
                <a16:creationId xmlns:a16="http://schemas.microsoft.com/office/drawing/2014/main" id="{8786B156-235F-4020-AA44-4B969C5B62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18">
            <a:extLst xmlns:a="http://schemas.openxmlformats.org/drawingml/2006/main">
              <a:ext uri="{FF2B5EF4-FFF2-40B4-BE49-F238E27FC236}">
                <a16:creationId xmlns:a16="http://schemas.microsoft.com/office/drawing/2014/main" id="{B3294E4E-0E60-45E3-8443-D435BAC9A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18">
            <a:extLst xmlns:a="http://schemas.openxmlformats.org/drawingml/2006/main">
              <a:ext uri="{FF2B5EF4-FFF2-40B4-BE49-F238E27FC236}">
                <a16:creationId xmlns:a16="http://schemas.microsoft.com/office/drawing/2014/main" id="{AD195F42-88F5-4815-A9C2-1B94D3C178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7" name="Google Shape;37;p18">
            <a:extLst xmlns:a="http://schemas.openxmlformats.org/drawingml/2006/main">
              <a:ext uri="{FF2B5EF4-FFF2-40B4-BE49-F238E27FC236}">
                <a16:creationId xmlns:a16="http://schemas.microsoft.com/office/drawing/2014/main" id="{B91C3601-15AB-4A98-836E-F71DA40785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8" name="Google Shape;38;p18">
            <a:extLst xmlns:a="http://schemas.openxmlformats.org/drawingml/2006/main">
              <a:ext uri="{FF2B5EF4-FFF2-40B4-BE49-F238E27FC236}">
                <a16:creationId xmlns:a16="http://schemas.microsoft.com/office/drawing/2014/main" id="{1BA1438D-210C-48B6-AEC6-4A67FF1B1F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18">
            <a:extLst xmlns:a="http://schemas.openxmlformats.org/drawingml/2006/main">
              <a:ext uri="{FF2B5EF4-FFF2-40B4-BE49-F238E27FC236}">
                <a16:creationId xmlns:a16="http://schemas.microsoft.com/office/drawing/2014/main" id="{918B1083-8368-4550-9A76-510C5EC755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Google Shape;40;p18">
            <a:extLst xmlns:a="http://schemas.openxmlformats.org/drawingml/2006/main">
              <a:ext uri="{FF2B5EF4-FFF2-40B4-BE49-F238E27FC236}">
                <a16:creationId xmlns:a16="http://schemas.microsoft.com/office/drawing/2014/main" id="{D9615226-3C4B-41C8-95C7-8BE574EF41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9">
            <a:extLst xmlns:a="http://schemas.openxmlformats.org/drawingml/2006/main">
              <a:ext uri="{FF2B5EF4-FFF2-40B4-BE49-F238E27FC236}">
                <a16:creationId xmlns:a16="http://schemas.microsoft.com/office/drawing/2014/main" id="{7CBE4BC0-A233-4390-89F0-9FC4A485A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19">
            <a:extLst xmlns:a="http://schemas.openxmlformats.org/drawingml/2006/main">
              <a:ext uri="{FF2B5EF4-FFF2-40B4-BE49-F238E27FC236}">
                <a16:creationId xmlns:a16="http://schemas.microsoft.com/office/drawing/2014/main" id="{FF247B81-9F65-4576-B304-E24400918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4" name="Google Shape;44;p19">
            <a:extLst xmlns:a="http://schemas.openxmlformats.org/drawingml/2006/main">
              <a:ext uri="{FF2B5EF4-FFF2-40B4-BE49-F238E27FC236}">
                <a16:creationId xmlns:a16="http://schemas.microsoft.com/office/drawing/2014/main" id="{4EABE518-40BF-4F73-BFEC-054B6AE3F9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5" name="Google Shape;45;p19">
            <a:extLst xmlns:a="http://schemas.openxmlformats.org/drawingml/2006/main">
              <a:ext uri="{FF2B5EF4-FFF2-40B4-BE49-F238E27FC236}">
                <a16:creationId xmlns:a16="http://schemas.microsoft.com/office/drawing/2014/main" id="{B76BF45C-2480-4C6F-9470-57F0AB9F284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6" name="Google Shape;46;p19">
            <a:extLst xmlns:a="http://schemas.openxmlformats.org/drawingml/2006/main">
              <a:ext uri="{FF2B5EF4-FFF2-40B4-BE49-F238E27FC236}">
                <a16:creationId xmlns:a16="http://schemas.microsoft.com/office/drawing/2014/main" id="{FAE5D01E-3A55-48BF-BE4E-73994CD3C92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7" name="Google Shape;47;p19">
            <a:extLst xmlns:a="http://schemas.openxmlformats.org/drawingml/2006/main">
              <a:ext uri="{FF2B5EF4-FFF2-40B4-BE49-F238E27FC236}">
                <a16:creationId xmlns:a16="http://schemas.microsoft.com/office/drawing/2014/main" id="{F320EB58-D6DC-4B50-92FD-285F6376D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19">
            <a:extLst xmlns:a="http://schemas.openxmlformats.org/drawingml/2006/main">
              <a:ext uri="{FF2B5EF4-FFF2-40B4-BE49-F238E27FC236}">
                <a16:creationId xmlns:a16="http://schemas.microsoft.com/office/drawing/2014/main" id="{D55452D8-E04D-4BA2-9941-D6BF0EA345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19">
            <a:extLst xmlns:a="http://schemas.openxmlformats.org/drawingml/2006/main">
              <a:ext uri="{FF2B5EF4-FFF2-40B4-BE49-F238E27FC236}">
                <a16:creationId xmlns:a16="http://schemas.microsoft.com/office/drawing/2014/main" id="{E6BC04FD-11CA-4F57-82FE-A7D8F92C58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20">
            <a:extLst xmlns:a="http://schemas.openxmlformats.org/drawingml/2006/main">
              <a:ext uri="{FF2B5EF4-FFF2-40B4-BE49-F238E27FC236}">
                <a16:creationId xmlns:a16="http://schemas.microsoft.com/office/drawing/2014/main" id="{54D7D740-FF54-4991-8A7B-51A6159CA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20">
            <a:extLst xmlns:a="http://schemas.openxmlformats.org/drawingml/2006/main">
              <a:ext uri="{FF2B5EF4-FFF2-40B4-BE49-F238E27FC236}">
                <a16:creationId xmlns:a16="http://schemas.microsoft.com/office/drawing/2014/main" id="{88C7EE48-3D93-44B9-A7A7-85941AA397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20">
            <a:extLst xmlns:a="http://schemas.openxmlformats.org/drawingml/2006/main">
              <a:ext uri="{FF2B5EF4-FFF2-40B4-BE49-F238E27FC236}">
                <a16:creationId xmlns:a16="http://schemas.microsoft.com/office/drawing/2014/main" id="{F1BB8210-C17E-44D4-9DAE-0C56DEEF9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4" name="Google Shape;54;p20">
            <a:extLst xmlns:a="http://schemas.openxmlformats.org/drawingml/2006/main">
              <a:ext uri="{FF2B5EF4-FFF2-40B4-BE49-F238E27FC236}">
                <a16:creationId xmlns:a16="http://schemas.microsoft.com/office/drawing/2014/main" id="{42E19454-AF25-468F-91E5-12D80DBE87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21">
            <a:extLst xmlns:a="http://schemas.openxmlformats.org/drawingml/2006/main">
              <a:ext uri="{FF2B5EF4-FFF2-40B4-BE49-F238E27FC236}">
                <a16:creationId xmlns:a16="http://schemas.microsoft.com/office/drawing/2014/main" id="{2210F0B9-883E-4310-A8C2-D76DEE5207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21">
            <a:extLst xmlns:a="http://schemas.openxmlformats.org/drawingml/2006/main">
              <a:ext uri="{FF2B5EF4-FFF2-40B4-BE49-F238E27FC236}">
                <a16:creationId xmlns:a16="http://schemas.microsoft.com/office/drawing/2014/main" id="{D53BB604-A775-4DE7-9C5A-5F7304CDF5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21">
            <a:extLst xmlns:a="http://schemas.openxmlformats.org/drawingml/2006/main">
              <a:ext uri="{FF2B5EF4-FFF2-40B4-BE49-F238E27FC236}">
                <a16:creationId xmlns:a16="http://schemas.microsoft.com/office/drawing/2014/main" id="{0988D683-3FC5-48D2-8F76-EB0D3127CD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22">
            <a:extLst xmlns:a="http://schemas.openxmlformats.org/drawingml/2006/main">
              <a:ext uri="{FF2B5EF4-FFF2-40B4-BE49-F238E27FC236}">
                <a16:creationId xmlns:a16="http://schemas.microsoft.com/office/drawing/2014/main" id="{710D1363-BD3E-4782-8765-C9404E1C6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1" name="Google Shape;61;p22">
            <a:extLst xmlns:a="http://schemas.openxmlformats.org/drawingml/2006/main">
              <a:ext uri="{FF2B5EF4-FFF2-40B4-BE49-F238E27FC236}">
                <a16:creationId xmlns:a16="http://schemas.microsoft.com/office/drawing/2014/main" id="{A781AB26-9832-4F4F-98FB-747E2363ED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2" name="Google Shape;62;p22">
            <a:extLst xmlns:a="http://schemas.openxmlformats.org/drawingml/2006/main">
              <a:ext uri="{FF2B5EF4-FFF2-40B4-BE49-F238E27FC236}">
                <a16:creationId xmlns:a16="http://schemas.microsoft.com/office/drawing/2014/main" id="{29F011AE-3733-446E-9E41-E1A38301DD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3" name="Google Shape;63;p22">
            <a:extLst xmlns:a="http://schemas.openxmlformats.org/drawingml/2006/main">
              <a:ext uri="{FF2B5EF4-FFF2-40B4-BE49-F238E27FC236}">
                <a16:creationId xmlns:a16="http://schemas.microsoft.com/office/drawing/2014/main" id="{566D1926-7CF6-4025-BC6B-A5BBB6E088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22">
            <a:extLst xmlns:a="http://schemas.openxmlformats.org/drawingml/2006/main">
              <a:ext uri="{FF2B5EF4-FFF2-40B4-BE49-F238E27FC236}">
                <a16:creationId xmlns:a16="http://schemas.microsoft.com/office/drawing/2014/main" id="{BE3D3932-573E-4951-A439-123FB0DB05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22">
            <a:extLst xmlns:a="http://schemas.openxmlformats.org/drawingml/2006/main">
              <a:ext uri="{FF2B5EF4-FFF2-40B4-BE49-F238E27FC236}">
                <a16:creationId xmlns:a16="http://schemas.microsoft.com/office/drawing/2014/main" id="{7199FFB2-B297-4FA6-A4AE-4CFFE40844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23">
            <a:extLst xmlns:a="http://schemas.openxmlformats.org/drawingml/2006/main">
              <a:ext uri="{FF2B5EF4-FFF2-40B4-BE49-F238E27FC236}">
                <a16:creationId xmlns:a16="http://schemas.microsoft.com/office/drawing/2014/main" id="{90C83EDC-4180-42AB-9A71-108EEB0CA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23">
            <a:extLst xmlns:a="http://schemas.openxmlformats.org/drawingml/2006/main">
              <a:ext uri="{FF2B5EF4-FFF2-40B4-BE49-F238E27FC236}">
                <a16:creationId xmlns:a16="http://schemas.microsoft.com/office/drawing/2014/main" id="{87D3E19C-6DD3-4F8A-91D5-A5A721BC5B9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9" name="Google Shape;69;p23">
            <a:extLst xmlns:a="http://schemas.openxmlformats.org/drawingml/2006/main">
              <a:ext uri="{FF2B5EF4-FFF2-40B4-BE49-F238E27FC236}">
                <a16:creationId xmlns:a16="http://schemas.microsoft.com/office/drawing/2014/main" id="{09A356A0-D5F6-4FD5-97A1-E92CCF0C0E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70" name="Google Shape;70;p23">
            <a:extLst xmlns:a="http://schemas.openxmlformats.org/drawingml/2006/main">
              <a:ext uri="{FF2B5EF4-FFF2-40B4-BE49-F238E27FC236}">
                <a16:creationId xmlns:a16="http://schemas.microsoft.com/office/drawing/2014/main" id="{00DF199A-B176-4E84-AFD8-A6CA1412F2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23">
            <a:extLst xmlns:a="http://schemas.openxmlformats.org/drawingml/2006/main">
              <a:ext uri="{FF2B5EF4-FFF2-40B4-BE49-F238E27FC236}">
                <a16:creationId xmlns:a16="http://schemas.microsoft.com/office/drawing/2014/main" id="{F286828D-47CF-4851-919A-0AC30BBED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23">
            <a:extLst xmlns:a="http://schemas.openxmlformats.org/drawingml/2006/main">
              <a:ext uri="{FF2B5EF4-FFF2-40B4-BE49-F238E27FC236}">
                <a16:creationId xmlns:a16="http://schemas.microsoft.com/office/drawing/2014/main" id="{9AE20305-C196-41FC-B537-0389D801D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24">
            <a:extLst xmlns:a="http://schemas.openxmlformats.org/drawingml/2006/main">
              <a:ext uri="{FF2B5EF4-FFF2-40B4-BE49-F238E27FC236}">
                <a16:creationId xmlns:a16="http://schemas.microsoft.com/office/drawing/2014/main" id="{8D3E50A5-3A30-4F7F-A296-D6215F5C0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5" name="Google Shape;75;p24">
            <a:extLst xmlns:a="http://schemas.openxmlformats.org/drawingml/2006/main">
              <a:ext uri="{FF2B5EF4-FFF2-40B4-BE49-F238E27FC236}">
                <a16:creationId xmlns:a16="http://schemas.microsoft.com/office/drawing/2014/main" id="{0FFF5756-1BDB-43A8-BD3D-CE8109F4FC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6" name="Google Shape;76;p24">
            <a:extLst xmlns:a="http://schemas.openxmlformats.org/drawingml/2006/main">
              <a:ext uri="{FF2B5EF4-FFF2-40B4-BE49-F238E27FC236}">
                <a16:creationId xmlns:a16="http://schemas.microsoft.com/office/drawing/2014/main" id="{98C55A03-207B-4F24-8855-23BC0F8060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24">
            <a:extLst xmlns:a="http://schemas.openxmlformats.org/drawingml/2006/main">
              <a:ext uri="{FF2B5EF4-FFF2-40B4-BE49-F238E27FC236}">
                <a16:creationId xmlns:a16="http://schemas.microsoft.com/office/drawing/2014/main" id="{4D7BC6FB-EFE3-44C1-98EC-7A294FCF4A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24">
            <a:extLst xmlns:a="http://schemas.openxmlformats.org/drawingml/2006/main">
              <a:ext uri="{FF2B5EF4-FFF2-40B4-BE49-F238E27FC236}">
                <a16:creationId xmlns:a16="http://schemas.microsoft.com/office/drawing/2014/main" id="{192CAB60-F524-425B-95C0-BE54D2F94A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25">
            <a:extLst xmlns:a="http://schemas.openxmlformats.org/drawingml/2006/main">
              <a:ext uri="{FF2B5EF4-FFF2-40B4-BE49-F238E27FC236}">
                <a16:creationId xmlns:a16="http://schemas.microsoft.com/office/drawing/2014/main" id="{07D29E7C-CC0F-41B4-B958-67D05BF30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1" name="Google Shape;81;p25">
            <a:extLst xmlns:a="http://schemas.openxmlformats.org/drawingml/2006/main">
              <a:ext uri="{FF2B5EF4-FFF2-40B4-BE49-F238E27FC236}">
                <a16:creationId xmlns:a16="http://schemas.microsoft.com/office/drawing/2014/main" id="{3770D3E2-4A8A-4360-8567-88ABEF73F8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2" name="Google Shape;82;p25">
            <a:extLst xmlns:a="http://schemas.openxmlformats.org/drawingml/2006/main">
              <a:ext uri="{FF2B5EF4-FFF2-40B4-BE49-F238E27FC236}">
                <a16:creationId xmlns:a16="http://schemas.microsoft.com/office/drawing/2014/main" id="{0D575F6B-7994-46F4-A48C-E96D901A7F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5">
            <a:extLst xmlns:a="http://schemas.openxmlformats.org/drawingml/2006/main">
              <a:ext uri="{FF2B5EF4-FFF2-40B4-BE49-F238E27FC236}">
                <a16:creationId xmlns:a16="http://schemas.microsoft.com/office/drawing/2014/main" id="{C9A684E7-732D-4A29-85C9-5EC072BF6C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25">
            <a:extLst xmlns:a="http://schemas.openxmlformats.org/drawingml/2006/main">
              <a:ext uri="{FF2B5EF4-FFF2-40B4-BE49-F238E27FC236}">
                <a16:creationId xmlns:a16="http://schemas.microsoft.com/office/drawing/2014/main" id="{528E56A0-D11B-4219-9BB9-2CC08E933C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7b8c892d9940d2" /><Relationship Type="http://schemas.openxmlformats.org/officeDocument/2006/relationships/slideLayout" Target="/ppt/slideLayouts/slideLayout1.xml" Id="Rd296aa5e0e5340d9" /><Relationship Type="http://schemas.openxmlformats.org/officeDocument/2006/relationships/slideLayout" Target="/ppt/slideLayouts/slideLayout2.xml" Id="R793bf97f3df6449e" /><Relationship Type="http://schemas.openxmlformats.org/officeDocument/2006/relationships/slideLayout" Target="/ppt/slideLayouts/slideLayout3.xml" Id="Rf78aa6dd0bbf45da" /><Relationship Type="http://schemas.openxmlformats.org/officeDocument/2006/relationships/slideLayout" Target="/ppt/slideLayouts/slideLayout4.xml" Id="Rf11c459ca3804de3" /><Relationship Type="http://schemas.openxmlformats.org/officeDocument/2006/relationships/slideLayout" Target="/ppt/slideLayouts/slideLayout5.xml" Id="Rca0506caf7274cd1" /><Relationship Type="http://schemas.openxmlformats.org/officeDocument/2006/relationships/slideLayout" Target="/ppt/slideLayouts/slideLayout6.xml" Id="R492f957312184898" /><Relationship Type="http://schemas.openxmlformats.org/officeDocument/2006/relationships/slideLayout" Target="/ppt/slideLayouts/slideLayout7.xml" Id="R0b031c03200d42c3" /><Relationship Type="http://schemas.openxmlformats.org/officeDocument/2006/relationships/slideLayout" Target="/ppt/slideLayouts/slideLayout8.xml" Id="R37e55869da5c4f58" /><Relationship Type="http://schemas.openxmlformats.org/officeDocument/2006/relationships/slideLayout" Target="/ppt/slideLayouts/slideLayout9.xml" Id="R0b0c4e6e79dc4d8d" /><Relationship Type="http://schemas.openxmlformats.org/officeDocument/2006/relationships/slideLayout" Target="/ppt/slideLayouts/slideLayout10.xml" Id="R6c64af780e5749f8" /><Relationship Type="http://schemas.openxmlformats.org/officeDocument/2006/relationships/slideLayout" Target="/ppt/slideLayouts/slideLayout11.xml" Id="R008435b6ed14499d" /><Relationship Type="http://schemas.openxmlformats.org/officeDocument/2006/relationships/slideLayout" Target="/ppt/slideLayouts/slideLayout12.xml" Id="Rfd17b17ea7fe477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36C18820-DF97-4F77-B7FA-5065E7FFB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1" name="Google Shape;11;p13">
            <a:extLst xmlns:a="http://schemas.openxmlformats.org/drawingml/2006/main">
              <a:ext uri="{FF2B5EF4-FFF2-40B4-BE49-F238E27FC236}">
                <a16:creationId xmlns:a16="http://schemas.microsoft.com/office/drawing/2014/main" id="{E07156EA-8F56-4CAE-A450-917DE97597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3">
            <a:extLst xmlns:a="http://schemas.openxmlformats.org/drawingml/2006/main">
              <a:ext uri="{FF2B5EF4-FFF2-40B4-BE49-F238E27FC236}">
                <a16:creationId xmlns:a16="http://schemas.microsoft.com/office/drawing/2014/main" id="{BA2C5870-8DAD-4F86-8BF5-A08696C592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3">
            <a:extLst xmlns:a="http://schemas.openxmlformats.org/drawingml/2006/main">
              <a:ext uri="{FF2B5EF4-FFF2-40B4-BE49-F238E27FC236}">
                <a16:creationId xmlns:a16="http://schemas.microsoft.com/office/drawing/2014/main" id="{8016574C-BE35-41BE-BF4D-40AEA0A3B6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3">
            <a:extLst xmlns:a="http://schemas.openxmlformats.org/drawingml/2006/main">
              <a:ext uri="{FF2B5EF4-FFF2-40B4-BE49-F238E27FC236}">
                <a16:creationId xmlns:a16="http://schemas.microsoft.com/office/drawing/2014/main" id="{D7193EA1-6896-4A38-8DCC-07176B192C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96aa5e0e5340d9"/>
    <p:sldLayoutId xmlns:r="http://schemas.openxmlformats.org/officeDocument/2006/relationships" id="2147483650" r:id="R793bf97f3df6449e"/>
    <p:sldLayoutId xmlns:r="http://schemas.openxmlformats.org/officeDocument/2006/relationships" id="2147483651" r:id="Rf78aa6dd0bbf45da"/>
    <p:sldLayoutId xmlns:r="http://schemas.openxmlformats.org/officeDocument/2006/relationships" id="2147483652" r:id="Rf11c459ca3804de3"/>
    <p:sldLayoutId xmlns:r="http://schemas.openxmlformats.org/officeDocument/2006/relationships" id="2147483653" r:id="Rca0506caf7274cd1"/>
    <p:sldLayoutId xmlns:r="http://schemas.openxmlformats.org/officeDocument/2006/relationships" id="2147483654" r:id="R492f957312184898"/>
    <p:sldLayoutId xmlns:r="http://schemas.openxmlformats.org/officeDocument/2006/relationships" id="2147483655" r:id="R0b031c03200d42c3"/>
    <p:sldLayoutId xmlns:r="http://schemas.openxmlformats.org/officeDocument/2006/relationships" id="2147483656" r:id="R37e55869da5c4f58"/>
    <p:sldLayoutId xmlns:r="http://schemas.openxmlformats.org/officeDocument/2006/relationships" id="2147483657" r:id="R0b0c4e6e79dc4d8d"/>
    <p:sldLayoutId xmlns:r="http://schemas.openxmlformats.org/officeDocument/2006/relationships" id="2147483658" r:id="R6c64af780e5749f8"/>
    <p:sldLayoutId xmlns:r="http://schemas.openxmlformats.org/officeDocument/2006/relationships" id="2147483659" r:id="R008435b6ed14499d"/>
    <p:sldLayoutId xmlns:r="http://schemas.openxmlformats.org/officeDocument/2006/relationships" id="2147483660" r:id="Rfd17b17ea7fe477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d758628b14230" /><Relationship Type="http://schemas.openxmlformats.org/officeDocument/2006/relationships/image" Target="/ppt/media/image.png" Id="Ra00c1868395444e5" /><Relationship Type="http://schemas.openxmlformats.org/officeDocument/2006/relationships/hyperlink" Target="https://github.com/krizz711/CodeDoctor-Agentic-Semantic-and-Structural-Intelligence-for-Code-Repositories" TargetMode="External" Id="R926dcc96d6eb4de8" /><Relationship Type="http://schemas.openxmlformats.org/officeDocument/2006/relationships/notesSlide" Target="/ppt/notesSlides/notesSlide1.xml" Id="R8a9953b9d48a46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98d3a6be3c4a6b" /><Relationship Type="http://schemas.openxmlformats.org/officeDocument/2006/relationships/notesSlide" Target="/ppt/notesSlides/notesSlide2.xml" Id="R9a1e85ceea6c42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105d3a221a4c45" /><Relationship Type="http://schemas.openxmlformats.org/officeDocument/2006/relationships/notesSlide" Target="/ppt/notesSlides/notesSlide3.xml" Id="Rd5939303c60c43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9a65e687af421d" /><Relationship Type="http://schemas.openxmlformats.org/officeDocument/2006/relationships/notesSlide" Target="/ppt/notesSlides/notesSlide4.xml" Id="R216f7384711a42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5728839a84c96" /><Relationship Type="http://schemas.openxmlformats.org/officeDocument/2006/relationships/notesSlide" Target="/ppt/notesSlides/notesSlide5.xml" Id="R668f5a8f889b46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14095d3c054a55" /><Relationship Type="http://schemas.openxmlformats.org/officeDocument/2006/relationships/notesSlide" Target="/ppt/notesSlides/notesSlide6.xml" Id="Rdf792ec214644c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0d0f6f9abf455b" /><Relationship Type="http://schemas.openxmlformats.org/officeDocument/2006/relationships/notesSlide" Target="/ppt/notesSlides/notesSlide7.xml" Id="Ra5f767ea32c748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3802f1728547d4" /><Relationship Type="http://schemas.openxmlformats.org/officeDocument/2006/relationships/notesSlide" Target="/ppt/notesSlides/notesSlide8.xml" Id="R55c302e494004b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f4655386cb40cc" /><Relationship Type="http://schemas.openxmlformats.org/officeDocument/2006/relationships/notesSlide" Target="/ppt/notesSlides/notesSlide9.xml" Id="R126a3792079e4a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b0fe11326046d0" /><Relationship Type="http://schemas.openxmlformats.org/officeDocument/2006/relationships/notesSlide" Target="/ppt/notesSlides/notesSlide10.xml" Id="R5ce7712e945241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8323bf90834d03" /><Relationship Type="http://schemas.openxmlformats.org/officeDocument/2006/relationships/notesSlide" Target="/ppt/notesSlides/notesSlide11.xml" Id="Rbaae628eb5e644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8c5c01f614902" /><Relationship Type="http://schemas.openxmlformats.org/officeDocument/2006/relationships/notesSlide" Target="/ppt/notesSlides/notesSlide12.xml" Id="Re0fa0df364a644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8E4EB426-79EB-4BF9-B5D9-56099E91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9D3F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44F8C59B-3D1B-4B12-8A11-91ED89B6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SAMSUNG PRISM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8E21BAAD-15BD-4565-9B24-DE01F893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07008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sz="5000" b="1" i="0" u="non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Generative AI</a:t>
            </a:r>
            <a:endParaRPr sz="5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D1D37B2B-2ADC-47A4-B8E4-9799858F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sz="5000" b="1" i="0" u="non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Hackathon</a:t>
            </a:r>
            <a:endParaRPr sz="5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6EA6BB3D-932F-4F16-A5E3-554EDD7A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24912"/>
            <a:ext cx="61264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sz="2500" b="1" i="0" u="non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3rd Edition</a:t>
            </a:r>
            <a:r>
              <a:rPr sz="20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  2026 – 27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A74153E2-5FB1-4592-85A6-7F4DB19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10128"/>
            <a:ext cx="600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6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>
                <a:solidFill>
                  <a:srgbClr val="302C3C"/>
                </a:solidFill>
                <a:latin typeface="Arial"/>
                <a:ea typeface="Arial"/>
                <a:cs typeface="Arial"/>
              </a:rPr>
              <a:t>Theme 01 - CodeDoctor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6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>
                <a:solidFill>
                  <a:srgbClr val="302C3C"/>
                </a:solidFill>
                <a:latin typeface="Arial"/>
                <a:ea typeface="Arial"/>
                <a:cs typeface="Arial"/>
              </a:rPr>
              <a:t>Team - Doctors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6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>
                <a:solidFill>
                  <a:srgbClr val="302C3C"/>
                </a:solidFill>
                <a:latin typeface="Arial"/>
                <a:ea typeface="Arial"/>
                <a:cs typeface="Arial"/>
              </a:rPr>
              <a:t>College - VITV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6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>
                <a:solidFill>
                  <a:srgbClr val="302C3C"/>
                </a:solidFill>
                <a:latin typeface="Arial"/>
                <a:ea typeface="Arial"/>
                <a:cs typeface="Arial"/>
              </a:rPr>
              <a:t>Member 1 / Email: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6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>
                <a:solidFill>
                  <a:srgbClr val="302C3C"/>
                </a:solidFill>
                <a:latin typeface="Arial"/>
                <a:ea typeface="Arial"/>
                <a:cs typeface="Arial"/>
              </a:rPr>
              <a:t>Member 2 / Email: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6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>
                <a:solidFill>
                  <a:srgbClr val="302C3C"/>
                </a:solidFill>
                <a:latin typeface="Arial"/>
                <a:ea typeface="Arial"/>
                <a:cs typeface="Arial"/>
              </a:rPr>
              <a:t>Member 3 / Email: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6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>
                <a:solidFill>
                  <a:srgbClr val="302C3C"/>
                </a:solidFill>
                <a:latin typeface="Arial"/>
                <a:ea typeface="Arial"/>
                <a:cs typeface="Arial"/>
              </a:rPr>
              <a:t>Member 4 / Email:</a:t>
            </a:r>
            <a:endParaRPr/>
          </a:p>
        </p:txBody>
      </p:sp>
      <p:pic>
        <p:nvPicPr>
          <p:cNvPr id="104" name="Google Shape;9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0c1868395444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59168" y="1051560"/>
            <a:ext cx="4572000" cy="457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73D393-D060-427D-8418-01A6A620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u="sng">
                <a:solidFill>
                  <a:srgbClr val="70509B"/>
                </a:solidFill>
                <a:hlinkClick xmlns:r="http://schemas.openxmlformats.org/officeDocument/2006/relationships" r:id="R926dcc96d6eb4de8"/>
              </a:rPr>
              <a:t>Submission GitHub: CodeDoctor repository</a:t>
            </a:r>
          </a:p>
        </p:txBody>
      </p:sp>
    </p:spTree>
    <p:extLst>
      <p:ext uri="{BB962C8B-B14F-4D97-AF65-F5344CB8AC3E}">
        <p14:creationId xmlns:p14="http://schemas.microsoft.com/office/powerpoint/2010/main" val="9914161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16F67D7D-FBE8-408C-BA4F-64C8B6BB3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Theme</a:t>
            </a:r>
            <a:endParaRPr/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FFAA1ABC-2916-45F4-AC39-6872FF6931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Theme 01: code retrieval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Rank relevant code snippets for a natural-language query.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Our focus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Pre/post-processing around a pinned embedding model, with reusable indexes and behavioral checks.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P0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Semantic retrieval followed by execution verification of worked examples.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P1 and Bonus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Rebuild after changes and retrieve useful variants across repository versions.</a:t>
            </a:r>
          </a:p>
        </p:txBody>
      </p:sp>
    </p:spTree>
    <p:extLst>
      <p:ext uri="{BB962C8B-B14F-4D97-AF65-F5344CB8AC3E}">
        <p14:creationId xmlns:p14="http://schemas.microsoft.com/office/powerpoint/2010/main" val="1029902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3">
            <a:extLst xmlns:a="http://schemas.openxmlformats.org/drawingml/2006/main">
              <a:ext uri="{FF2B5EF4-FFF2-40B4-BE49-F238E27FC236}">
                <a16:creationId xmlns:a16="http://schemas.microsoft.com/office/drawing/2014/main" id="{757F01AD-1E41-4998-936D-91D8D5B948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>
            <a:extLst xmlns:a="http://schemas.openxmlformats.org/drawingml/2006/main">
              <a:ext uri="{FF2B5EF4-FFF2-40B4-BE49-F238E27FC236}">
                <a16:creationId xmlns:a16="http://schemas.microsoft.com/office/drawing/2014/main" id="{F8D4291B-3F1C-4448-AF86-310494A7BC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Lexical search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Useful for names and identifiers, but wording can differ from implementation.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Dense retrieval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Matches intent, but near-identical programs can have different behavior.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Full re-indexing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Repeatedly embeds unchanged code after small edits.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Our response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Reuse representations before retrieval, check behavior afterward, and preserve version provenance.</a:t>
            </a:r>
          </a:p>
        </p:txBody>
      </p:sp>
    </p:spTree>
    <p:extLst>
      <p:ext uri="{BB962C8B-B14F-4D97-AF65-F5344CB8AC3E}">
        <p14:creationId xmlns:p14="http://schemas.microsoft.com/office/powerpoint/2010/main" val="1949005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C17F6A8C-C52C-45BF-9FB0-8D42DBB418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9917" y="266513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F122197D-F230-427A-B346-09EB065753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1A23209-64FD-4501-A976-AE3632C5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0509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09B"/>
                </a:solidFill>
                <a:latin typeface="Arial"/>
                <a:ea typeface="Arial"/>
                <a:cs typeface="Arial"/>
              </a:rPr>
              <a:t>Our pre/post-processing contribution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AC7F565-1B6C-458D-8B3C-465FD056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FA"/>
          </a:solidFill>
          <a:ln xmlns:a="http://schemas.openxmlformats.org/drawingml/2006/main" w="14288">
            <a:solidFill>
              <a:srgbClr val="7050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FDB96E-9F51-4728-8F5D-0F6A6B67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50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509B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EADC586-7178-4B0F-9593-BFF9AE4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800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Exact corpus text</a:t>
            </a:r>
          </a:p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Structure-aware chunks*</a:t>
            </a:r>
          </a:p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Recipe-keyed vectors</a:t>
            </a:r>
          </a:p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Incremental reuse*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03B0F8A-A825-4F24-A375-67EF381F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33625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FA"/>
          </a:solidFill>
          <a:ln xmlns:a="http://schemas.openxmlformats.org/drawingml/2006/main" w="14288">
            <a:solidFill>
              <a:srgbClr val="7050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4FEDFE7-9AD7-4586-A7F8-AB55D952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50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509B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4DF4C8B-AEFF-464F-92B2-4E0310F2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800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1.7B semantic encoder</a:t>
            </a:r>
          </a:p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CPU query inference</a:t>
            </a:r>
          </a:p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Cosine candidates</a:t>
            </a:r>
          </a:p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Hybrid routing in demo*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4490C60-140A-4060-9A1C-BC46694C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FA"/>
          </a:solidFill>
          <a:ln xmlns:a="http://schemas.openxmlformats.org/drawingml/2006/main" w="14288">
            <a:solidFill>
              <a:srgbClr val="7050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CEEF242-C87E-4941-B90E-33F2FED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50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509B"/>
                </a:solidFill>
                <a:latin typeface="Arial"/>
                <a:ea typeface="Arial"/>
                <a:cs typeface="Arial"/>
              </a:rPr>
              <a:t>POSTPROCESS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089367C-B05B-4EAF-9894-725DE142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800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Parse worked examples</a:t>
            </a:r>
          </a:p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Execute top candidates</a:t>
            </a:r>
          </a:p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Verify before grouping*</a:t>
            </a:r>
          </a:p>
          <a:p xmlns:a="http://schemas.openxmlformats.org/drawingml/2006/main">
            <a:pPr>
              <a:defRPr sz="1875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Return ranked evidence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156914C-B025-4DDB-9838-1113805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323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09B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81DCDBA-EAF6-4169-96C0-41778185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323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09B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D88A496-8204-40E4-B1CA-E2D6EA1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051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* Repository workbench features. P0 uses corpus vectors and execution reranking.</a:t>
            </a:r>
          </a:p>
          <a:p xmlns:a="http://schemas.openxmlformats.org/drawingml/2006/main">
            <a:pPr>
              <a:defRPr sz="1800" b="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02C3C"/>
                </a:solidFill>
                <a:latin typeface="Arial"/>
                <a:ea typeface="Arial"/>
                <a:cs typeface="Arial"/>
              </a:rPr>
              <a:t>Shared encoder recipe and execution settings connect both paths.</a:t>
            </a:r>
          </a:p>
        </p:txBody>
      </p:sp>
    </p:spTree>
    <p:extLst>
      <p:ext uri="{BB962C8B-B14F-4D97-AF65-F5344CB8AC3E}">
        <p14:creationId xmlns:p14="http://schemas.microsoft.com/office/powerpoint/2010/main" val="4294847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2C2B8F2A-4209-48AD-B28E-937FCBE78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B87933B2-96E2-45B4-BDD6-C67ADA6C8D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1. Index a repository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Build structure-aware chunks and cache document embeddings.</a:t>
            </a:r>
          </a:p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2. Retrieve code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Search in natural language and inspect source spans and verification evidence.</a:t>
            </a:r>
          </a:p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3. Edit and rebuild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Re-encode changed chunks while reusing unchanged vectors.</a:t>
            </a:r>
          </a:p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4. Compare versions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Retrieve across versions and inspect the selected variant and provenance.</a:t>
            </a:r>
          </a:p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Demo video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Recording link:</a:t>
            </a:r>
          </a:p>
        </p:txBody>
      </p:sp>
    </p:spTree>
    <p:extLst>
      <p:ext uri="{BB962C8B-B14F-4D97-AF65-F5344CB8AC3E}">
        <p14:creationId xmlns:p14="http://schemas.microsoft.com/office/powerpoint/2010/main" val="11554903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6">
            <a:extLst xmlns:a="http://schemas.openxmlformats.org/drawingml/2006/main">
              <a:ext uri="{FF2B5EF4-FFF2-40B4-BE49-F238E27FC236}">
                <a16:creationId xmlns:a16="http://schemas.microsoft.com/office/drawing/2014/main" id="{F3A92359-2F20-44CD-BC45-652622793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>
            <a:extLst xmlns:a="http://schemas.openxmlformats.org/drawingml/2006/main">
              <a:ext uri="{FF2B5EF4-FFF2-40B4-BE49-F238E27FC236}">
                <a16:creationId xmlns:a16="http://schemas.microsoft.com/office/drawing/2014/main" id="{2C6D57EA-7228-4626-A559-843B2F70DC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Encoder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F2LLM-v2-1.7B, pinned weights, published prompt and normalized last-token pooling.</a:t>
            </a:r>
          </a:p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Preprocessing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Python, tree-sitter, SQLite embedding cache and Git version identities.</a:t>
            </a:r>
          </a:p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Postprocessing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Example parser, resource-limited Python execution and shared verification settings.</a:t>
            </a:r>
          </a:p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Application and evaluation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FastAPI workbench, official MTEB AppsRetrieval, Kaggle stage runners and source hashes.</a:t>
            </a:r>
          </a:p>
          <a:p xmlns:a="http://schemas.openxmlformats.org/drawingml/2006/main">
            <a:pPr>
              <a:spcAft>
                <a:spcPts val="1800"/>
              </a:spcAft>
              <a:defRPr sz="195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Optional tier  </a:t>
            </a:r>
            <a:r>
              <a:rPr sz="1950">
                <a:solidFill>
                  <a:srgbClr val="302C3C"/>
                </a:solidFill>
                <a:latin typeface="Arial"/>
                <a:ea typeface="Arial"/>
                <a:cs typeface="Arial"/>
              </a:rPr>
              <a:t>0.6B interactive mode is separate from the 1.7B accuracy submission.</a:t>
            </a:r>
          </a:p>
        </p:txBody>
      </p:sp>
    </p:spTree>
    <p:extLst>
      <p:ext uri="{BB962C8B-B14F-4D97-AF65-F5344CB8AC3E}">
        <p14:creationId xmlns:p14="http://schemas.microsoft.com/office/powerpoint/2010/main" val="7817858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8DCE8628-988E-4769-B96A-A7C7861FE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24A6CA13-A18F-47EF-9BBD-A9A0FD8203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Repository maintenance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Find relevant functions and inspect exact file and line references.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Regression investigation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Compare similar variants using worked examples rather than semantic similarity alone.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Changing codebases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Reuse unchanged embeddings across incremental rebuilds and file moves.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Judge-facing evidence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P0 accuracy, P1 rebuild cost and cross-version diagnostics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236576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6F4890DB-49F6-4EE2-9833-E8172BB183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05099D9E-E06A-4FF3-88F5-D6EC7A9BA3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800"/>
              </a:spcAft>
              <a:defRPr sz="18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Architectural contribution  </a:t>
            </a:r>
            <a:r>
              <a:rPr sz="1800">
                <a:solidFill>
                  <a:srgbClr val="302C3C"/>
                </a:solidFill>
                <a:latin typeface="Arial"/>
                <a:ea typeface="Arial"/>
                <a:cs typeface="Arial"/>
              </a:rPr>
              <a:t>Novel pre/post-processing architecture around open-weights F2LLM-v2-1.7B: reusable embeddings before retrieval, behavioral execution checks after retrieval.</a:t>
            </a:r>
          </a:p>
          <a:p xmlns:a="http://schemas.openxmlformats.org/drawingml/2006/main">
            <a:pPr>
              <a:spcAft>
                <a:spcPts val="1800"/>
              </a:spcAft>
              <a:defRPr sz="18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Retrieval quality (P0)  </a:t>
            </a:r>
            <a:r>
              <a:rPr sz="1800">
                <a:solidFill>
                  <a:srgbClr val="302C3C"/>
                </a:solidFill>
                <a:latin typeface="Arial"/>
                <a:ea typeface="Arial"/>
                <a:cs typeface="Arial"/>
              </a:rPr>
              <a:t>Historical AppsRetrieval benchmark: NDCG@10 0.96558, MRR@10 0.95857. Staged CPU retrieval pipeline minimizes GPU reliance.</a:t>
            </a:r>
          </a:p>
          <a:p xmlns:a="http://schemas.openxmlformats.org/drawingml/2006/main">
            <a:pPr>
              <a:spcAft>
                <a:spcPts val="1800"/>
              </a:spcAft>
              <a:defRPr sz="18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Rebuild &amp; versions (P1 / Bonus)  </a:t>
            </a:r>
            <a:r>
              <a:rPr sz="1800">
                <a:solidFill>
                  <a:srgbClr val="302C3C"/>
                </a:solidFill>
                <a:latin typeface="Arial"/>
                <a:ea typeface="Arial"/>
                <a:cs typeface="Arial"/>
              </a:rPr>
              <a:t>P1 rebuild reuses unchanged embeddings, cutting update time from ~92s to ~1.4s. Bonus correctly selects working variants across 12 lineages.</a:t>
            </a:r>
          </a:p>
          <a:p xmlns:a="http://schemas.openxmlformats.org/drawingml/2006/main">
            <a:pPr>
              <a:spcAft>
                <a:spcPts val="1800"/>
              </a:spcAft>
              <a:defRPr sz="18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Honest limitations  </a:t>
            </a:r>
            <a:r>
              <a:rPr sz="1800">
                <a:solidFill>
                  <a:srgbClr val="302C3C"/>
                </a:solidFill>
                <a:latin typeface="Arial"/>
                <a:ea typeface="Arial"/>
                <a:cs typeface="Arial"/>
              </a:rPr>
              <a:t>Passing visible examples does not prove full correctness. Subprocess sandbox is resource-capped but not isolated. Plausible APPS training exposure is disclosed.</a:t>
            </a:r>
          </a:p>
        </p:txBody>
      </p:sp>
    </p:spTree>
    <p:extLst>
      <p:ext uri="{BB962C8B-B14F-4D97-AF65-F5344CB8AC3E}">
        <p14:creationId xmlns:p14="http://schemas.microsoft.com/office/powerpoint/2010/main" val="14869754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959A6FA7-C050-4E1C-ADDB-FBB735DC1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5D8C7FA7-1D8F-480C-8D64-DDC8E5AF40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Unseen Python evaluation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Demonstrate retrieval and verification on the judges’ unreleased data.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Broader validation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Expand realistic version histories and independently check example extraction.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Efficiency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Profile CPU bottlenecks before any further accelerator experiment.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Reproducibility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Preserve run evidence, configuration history and negative experimental findings.</a:t>
            </a:r>
          </a:p>
        </p:txBody>
      </p:sp>
    </p:spTree>
    <p:extLst>
      <p:ext uri="{BB962C8B-B14F-4D97-AF65-F5344CB8AC3E}">
        <p14:creationId xmlns:p14="http://schemas.microsoft.com/office/powerpoint/2010/main" val="14191360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10">
            <a:extLst xmlns:a="http://schemas.openxmlformats.org/drawingml/2006/main">
              <a:ext uri="{FF2B5EF4-FFF2-40B4-BE49-F238E27FC236}">
                <a16:creationId xmlns:a16="http://schemas.microsoft.com/office/drawing/2014/main" id="{78C5820F-16AF-48E2-A38A-9630F3C0D6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>
            <a:extLst xmlns:a="http://schemas.openxmlformats.org/drawingml/2006/main">
              <a:ext uri="{FF2B5EF4-FFF2-40B4-BE49-F238E27FC236}">
                <a16:creationId xmlns:a16="http://schemas.microsoft.com/office/drawing/2014/main" id="{0E0E71D8-BBE9-42E1-B0D9-2ED03F057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Behavior-aware ranking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Semantic similarity proposes candidates; executable examples supply additional evidence.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Version-aware selection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Verify variants before grouping, remove unchanged duplicates and retain provenance.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Change-aware indexing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Content and encoder recipe determine reuse, independent of path and line changes.</a:t>
            </a:r>
          </a:p>
          <a:p xmlns:a="http://schemas.openxmlformats.org/drawingml/2006/main">
            <a:pPr>
              <a:spcAft>
                <a:spcPts val="1800"/>
              </a:spcAft>
              <a:defRPr sz="2100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Auditable evaluation  </a:t>
            </a:r>
            <a:r>
              <a:rPr sz="2100">
                <a:solidFill>
                  <a:srgbClr val="302C3C"/>
                </a:solidFill>
                <a:latin typeface="Arial"/>
                <a:ea typeface="Arial"/>
                <a:cs typeface="Arial"/>
              </a:rPr>
              <a:t>Pinned source and model, official evaluator, raw logs and explicit exposure disclosures.</a:t>
            </a:r>
          </a:p>
        </p:txBody>
      </p:sp>
    </p:spTree>
    <p:extLst>
      <p:ext uri="{BB962C8B-B14F-4D97-AF65-F5344CB8AC3E}">
        <p14:creationId xmlns:p14="http://schemas.microsoft.com/office/powerpoint/2010/main" val="5319396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11">
            <a:extLst xmlns:a="http://schemas.openxmlformats.org/drawingml/2006/main">
              <a:ext uri="{FF2B5EF4-FFF2-40B4-BE49-F238E27FC236}">
                <a16:creationId xmlns:a16="http://schemas.microsoft.com/office/drawing/2014/main" id="{60E86550-86CC-49E0-A645-8CECA6E60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Checklist - Submission materials</a:t>
            </a:r>
            <a:endParaRPr/>
          </a:p>
        </p:txBody>
      </p:sp>
      <p:sp>
        <p:nvSpPr>
          <p:cNvPr id="156" name="Google Shape;156;p11">
            <a:extLst xmlns:a="http://schemas.openxmlformats.org/drawingml/2006/main">
              <a:ext uri="{FF2B5EF4-FFF2-40B4-BE49-F238E27FC236}">
                <a16:creationId xmlns:a16="http://schemas.microsoft.com/office/drawing/2014/main" id="{1CF2A1B7-A0FD-4A2A-81B6-B3026CBC2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800"/>
              </a:spcAft>
              <a:defRPr sz="1875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Working prototype  </a:t>
            </a:r>
            <a:r>
              <a:rPr sz="1875">
                <a:solidFill>
                  <a:srgbClr val="302C3C"/>
                </a:solidFill>
                <a:latin typeface="Arial"/>
                <a:ea typeface="Arial"/>
                <a:cs typeface="Arial"/>
              </a:rPr>
              <a:t>Full source code on GitHub main branch with reproducible local &amp; Docker setup.</a:t>
            </a:r>
          </a:p>
          <a:p xmlns:a="http://schemas.openxmlformats.org/drawingml/2006/main">
            <a:pPr>
              <a:spcAft>
                <a:spcPts val="1800"/>
              </a:spcAft>
              <a:defRPr sz="1875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README &amp; Requirements  </a:t>
            </a:r>
            <a:r>
              <a:rPr sz="1875">
                <a:solidFill>
                  <a:srgbClr val="302C3C"/>
                </a:solidFill>
                <a:latin typeface="Arial"/>
                <a:ea typeface="Arial"/>
                <a:cs typeface="Arial"/>
              </a:rPr>
              <a:t>Detailed README, requirement.txt, and submission protocol.</a:t>
            </a:r>
          </a:p>
          <a:p xmlns:a="http://schemas.openxmlformats.org/drawingml/2006/main">
            <a:pPr>
              <a:spcAft>
                <a:spcPts val="1800"/>
              </a:spcAft>
              <a:defRPr sz="1875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Presentation &amp; PDF  </a:t>
            </a:r>
            <a:r>
              <a:rPr sz="1875">
                <a:solidFill>
                  <a:srgbClr val="302C3C"/>
                </a:solidFill>
                <a:latin typeface="Arial"/>
                <a:ea typeface="Arial"/>
                <a:cs typeface="Arial"/>
              </a:rPr>
              <a:t>Completed 12-slide deck (VITV_Doctors_Submission.pptx) and matching PDF.</a:t>
            </a:r>
          </a:p>
          <a:p xmlns:a="http://schemas.openxmlformats.org/drawingml/2006/main">
            <a:pPr>
              <a:spcAft>
                <a:spcPts val="1800"/>
              </a:spcAft>
              <a:defRPr sz="1875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AI Disclosure &amp; Tag  </a:t>
            </a:r>
            <a:r>
              <a:rPr sz="1875">
                <a:solidFill>
                  <a:srgbClr val="302C3C"/>
                </a:solidFill>
                <a:latin typeface="Arial"/>
                <a:ea typeface="Arial"/>
                <a:cs typeface="Arial"/>
              </a:rPr>
              <a:t>LangAI3.0_AI_Disclosure.docx included; release tag: PRISM_GENAI_HACKATHON_Y2026.</a:t>
            </a:r>
          </a:p>
          <a:p xmlns:a="http://schemas.openxmlformats.org/drawingml/2006/main">
            <a:pPr>
              <a:spcAft>
                <a:spcPts val="1800"/>
              </a:spcAft>
              <a:defRPr sz="1875">
                <a:solidFill>
                  <a:srgbClr val="302C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02C3C"/>
                </a:solidFill>
                <a:latin typeface="Arial"/>
                <a:ea typeface="Arial"/>
                <a:cs typeface="Arial"/>
              </a:rPr>
              <a:t>Demo video  </a:t>
            </a:r>
            <a:r>
              <a:rPr sz="1875">
                <a:solidFill>
                  <a:srgbClr val="302C3C"/>
                </a:solidFill>
                <a:latin typeface="Arial"/>
                <a:ea typeface="Arial"/>
                <a:cs typeface="Arial"/>
              </a:rPr>
              <a:t>Video walkthrough (maximum 5 minutes): [Google Drive / YouTube Link].</a:t>
            </a:r>
          </a:p>
        </p:txBody>
      </p:sp>
    </p:spTree>
    <p:extLst>
      <p:ext uri="{BB962C8B-B14F-4D97-AF65-F5344CB8AC3E}">
        <p14:creationId xmlns:p14="http://schemas.microsoft.com/office/powerpoint/2010/main" val="17861297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Google Shape;162;p12">
            <a:extLst xmlns:a="http://schemas.openxmlformats.org/drawingml/2006/main">
              <a:ext uri="{FF2B5EF4-FFF2-40B4-BE49-F238E27FC236}">
                <a16:creationId xmlns:a16="http://schemas.microsoft.com/office/drawing/2014/main" id="{EB29181A-A89A-422E-A768-B9571A64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81" y="3730214"/>
            <a:ext cx="676656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sz="4600" b="1" i="0" u="non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Thank you</a:t>
            </a:r>
            <a:endParaRPr sz="4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12">
            <a:extLst xmlns:a="http://schemas.openxmlformats.org/drawingml/2006/main">
              <a:ext uri="{FF2B5EF4-FFF2-40B4-BE49-F238E27FC236}">
                <a16:creationId xmlns:a16="http://schemas.microsoft.com/office/drawing/2014/main" id="{11165CBF-D143-4B28-81F7-1794192E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97880"/>
            <a:ext cx="10607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Organised by the Language AI Team and the PRISM Team, Samsung R&amp;D Institute India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89D60C6-ED59-43F6-B9B4-FCD622D0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0509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0509B"/>
                </a:solidFill>
                <a:latin typeface="Arial"/>
                <a:ea typeface="Arial"/>
                <a:cs typeface="Arial"/>
              </a:rPr>
              <a:t>CodeDoctor  /  VITV  /  Doctors</a:t>
            </a:r>
          </a:p>
        </p:txBody>
      </p:sp>
    </p:spTree>
    <p:extLst>
      <p:ext uri="{BB962C8B-B14F-4D97-AF65-F5344CB8AC3E}">
        <p14:creationId xmlns:p14="http://schemas.microsoft.com/office/powerpoint/2010/main" val="107004200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2026-09-30T15:01:02.9130000Z</dcterms:created>
  <dcterms:modified xsi:type="dcterms:W3CDTF">2026-09-30T15:01:02.9130000Z</dcterms:modified>
</coreProperties>
</file>