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da8c9aa98f414b" /><Relationship Type="http://schemas.openxmlformats.org/officeDocument/2006/relationships/extended-properties" Target="/docProps/app.xml" Id="R81d95a7ce35c4dc3" /><Relationship Type="http://schemas.openxmlformats.org/officeDocument/2006/relationships/officeDocument" Target="/ppt/presentation.xml" Id="Ra9d47816b4a840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9f50d31fbea45b5"/>
  </p:sldMasterIdLst>
  <p:notesMasterIdLst>
    <p:notesMasterId xmlns:r="http://schemas.openxmlformats.org/officeDocument/2006/relationships" r:id="Re60ca43abf4b453f"/>
  </p:notesMasterIdLst>
  <p:sldIdLst>
    <p:sldId xmlns:r="http://schemas.openxmlformats.org/officeDocument/2006/relationships" id="256" r:id="R343ceed0200a4996"/>
    <p:sldId xmlns:r="http://schemas.openxmlformats.org/officeDocument/2006/relationships" id="257" r:id="Rda801a4702464bf3"/>
    <p:sldId xmlns:r="http://schemas.openxmlformats.org/officeDocument/2006/relationships" id="258" r:id="R03ea7891db1e4115"/>
    <p:sldId xmlns:r="http://schemas.openxmlformats.org/officeDocument/2006/relationships" id="259" r:id="R01ab92db2b914fb4"/>
    <p:sldId xmlns:r="http://schemas.openxmlformats.org/officeDocument/2006/relationships" id="260" r:id="Rdd430a3d7df94b8e"/>
    <p:sldId xmlns:r="http://schemas.openxmlformats.org/officeDocument/2006/relationships" id="261" r:id="R69c3b88d66ed420b"/>
    <p:sldId xmlns:r="http://schemas.openxmlformats.org/officeDocument/2006/relationships" id="262" r:id="Rc8d788843c2d41ba"/>
    <p:sldId xmlns:r="http://schemas.openxmlformats.org/officeDocument/2006/relationships" id="263" r:id="R4e6b6507aa8b4bc2"/>
    <p:sldId xmlns:r="http://schemas.openxmlformats.org/officeDocument/2006/relationships" id="264" r:id="R3eace2cb04ce4db5"/>
    <p:sldId xmlns:r="http://schemas.openxmlformats.org/officeDocument/2006/relationships" id="265" r:id="Ra4350c79922f4af9"/>
    <p:sldId xmlns:r="http://schemas.openxmlformats.org/officeDocument/2006/relationships" id="266" r:id="Rdb1c796f9dd64621"/>
    <p:sldId xmlns:r="http://schemas.openxmlformats.org/officeDocument/2006/relationships" id="267" r:id="R4cadb1867d3e463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0baefd7bc864777" /><Relationship Type="http://schemas.openxmlformats.org/officeDocument/2006/relationships/slideMaster" Target="/ppt/slideMasters/slideMaster1.xml" Id="Rb9f50d31fbea45b5" /><Relationship Type="http://schemas.openxmlformats.org/officeDocument/2006/relationships/notesMaster" Target="/ppt/notesMasters/notesMaster1.xml" Id="Re60ca43abf4b453f" /><Relationship Type="http://schemas.openxmlformats.org/officeDocument/2006/relationships/presProps" Target="/ppt/presProps.xml" Id="R0394195a48f44f88" /><Relationship Type="http://schemas.openxmlformats.org/officeDocument/2006/relationships/tableStyles" Target="/ppt/tableStyles.xml" Id="R544f7b03741c4f33" /><Relationship Type="http://schemas.openxmlformats.org/officeDocument/2006/relationships/slide" Target="/ppt/slides/slide1.xml" Id="R343ceed0200a4996" /><Relationship Type="http://schemas.openxmlformats.org/officeDocument/2006/relationships/slide" Target="/ppt/slides/slide2.xml" Id="Rda801a4702464bf3" /><Relationship Type="http://schemas.openxmlformats.org/officeDocument/2006/relationships/slide" Target="/ppt/slides/slide3.xml" Id="R03ea7891db1e4115" /><Relationship Type="http://schemas.openxmlformats.org/officeDocument/2006/relationships/slide" Target="/ppt/slides/slide4.xml" Id="R01ab92db2b914fb4" /><Relationship Type="http://schemas.openxmlformats.org/officeDocument/2006/relationships/slide" Target="/ppt/slides/slide5.xml" Id="Rdd430a3d7df94b8e" /><Relationship Type="http://schemas.openxmlformats.org/officeDocument/2006/relationships/slide" Target="/ppt/slides/slide6.xml" Id="R69c3b88d66ed420b" /><Relationship Type="http://schemas.openxmlformats.org/officeDocument/2006/relationships/slide" Target="/ppt/slides/slide7.xml" Id="Rc8d788843c2d41ba" /><Relationship Type="http://schemas.openxmlformats.org/officeDocument/2006/relationships/slide" Target="/ppt/slides/slide8.xml" Id="R4e6b6507aa8b4bc2" /><Relationship Type="http://schemas.openxmlformats.org/officeDocument/2006/relationships/slide" Target="/ppt/slides/slide9.xml" Id="R3eace2cb04ce4db5" /><Relationship Type="http://schemas.openxmlformats.org/officeDocument/2006/relationships/slide" Target="/ppt/slides/slide10.xml" Id="Ra4350c79922f4af9" /><Relationship Type="http://schemas.openxmlformats.org/officeDocument/2006/relationships/slide" Target="/ppt/slides/slide11.xml" Id="Rdb1c796f9dd64621" /><Relationship Type="http://schemas.openxmlformats.org/officeDocument/2006/relationships/slide" Target="/ppt/slides/slide12.xml" Id="R4cadb1867d3e46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72a9888e2249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dc94ad7a5f4939" /><Relationship Type="http://schemas.openxmlformats.org/officeDocument/2006/relationships/notesMaster" Target="/ppt/notesMasters/notesMaster1.xml" Id="R61fb5a4e77264d1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516d7b7b2fa4cc3" /><Relationship Type="http://schemas.openxmlformats.org/officeDocument/2006/relationships/notesMaster" Target="/ppt/notesMasters/notesMaster1.xml" Id="R3c0d57bfcaf1434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77ba3d231764683" /><Relationship Type="http://schemas.openxmlformats.org/officeDocument/2006/relationships/notesMaster" Target="/ppt/notesMasters/notesMaster1.xml" Id="Rc41eea80eb914dc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f01d4227f354d87" /><Relationship Type="http://schemas.openxmlformats.org/officeDocument/2006/relationships/notesMaster" Target="/ppt/notesMasters/notesMaster1.xml" Id="R8ac7749225dc489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ddcae18fa74117" /><Relationship Type="http://schemas.openxmlformats.org/officeDocument/2006/relationships/notesMaster" Target="/ppt/notesMasters/notesMaster1.xml" Id="R4cbee01dbd474e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607236a472c4dd1" /><Relationship Type="http://schemas.openxmlformats.org/officeDocument/2006/relationships/notesMaster" Target="/ppt/notesMasters/notesMaster1.xml" Id="R4fefcb3ab636439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1ceea35bdc04da7" /><Relationship Type="http://schemas.openxmlformats.org/officeDocument/2006/relationships/notesMaster" Target="/ppt/notesMasters/notesMaster1.xml" Id="Rcf9ff84e447643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1d536637ed4198" /><Relationship Type="http://schemas.openxmlformats.org/officeDocument/2006/relationships/notesMaster" Target="/ppt/notesMasters/notesMaster1.xml" Id="R27e7f311db394f9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e5aa73a3eba4853" /><Relationship Type="http://schemas.openxmlformats.org/officeDocument/2006/relationships/notesMaster" Target="/ppt/notesMasters/notesMaster1.xml" Id="R81cafa9f97624b7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ace92dd49034362" /><Relationship Type="http://schemas.openxmlformats.org/officeDocument/2006/relationships/notesMaster" Target="/ppt/notesMasters/notesMaster1.xml" Id="R8087a8ce117540a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0f8382509184d02" /><Relationship Type="http://schemas.openxmlformats.org/officeDocument/2006/relationships/notesMaster" Target="/ppt/notesMasters/notesMaster1.xml" Id="R2a90bc312f774b9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5d83a761a094e4e" /><Relationship Type="http://schemas.openxmlformats.org/officeDocument/2006/relationships/notesMaster" Target="/ppt/notesMasters/notesMaster1.xml" Id="R27cd31d3c66d4d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CodeDoctor submission, VITV / Doctors. Source: repository README.md, config/submission.yaml, docs/submission/PROTOCOL.md, theme1_guidelines.pdf and jury confirmations. Architecture: app/agent/router.py, app/parser/chunker.py, app/indexing/cache.py, app/pipeline/execution_rerank.py, app/indexing/lineage.py, app/workbench.py. Verified P0 NDCG@10: 0.96558 (+0.02802 ablation lift); P1 Kaggle Intel Xeon CPU: 1.51 s update (~68x speedup); Bonus: 100% variant disambiguation vs 8.33% control. Repository: https://github.com/krizz711/CodeDoctor-Agentic-Semantic-and-Structural-Intelligence-for-Code-Repositories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0360e925e54c5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244cd0245f41f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b290eab80b4f8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74e24760e4442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8b0c75905f42b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9b3ed97f6d4d1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d447db9f8a444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5d7ee0bbb3410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3b9bc5fb2b40d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cc6d2957d04df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a8a67cea62481e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49618a58684e1d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15">
            <a:extLst xmlns:a="http://schemas.openxmlformats.org/drawingml/2006/main">
              <a:ext uri="{FF2B5EF4-FFF2-40B4-BE49-F238E27FC236}">
                <a16:creationId xmlns:a16="http://schemas.microsoft.com/office/drawing/2014/main" id="{F1AC3C3B-8735-4F71-899B-6EF96D8840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15">
            <a:extLst xmlns:a="http://schemas.openxmlformats.org/drawingml/2006/main">
              <a:ext uri="{FF2B5EF4-FFF2-40B4-BE49-F238E27FC236}">
                <a16:creationId xmlns:a16="http://schemas.microsoft.com/office/drawing/2014/main" id="{31513AB8-A8AF-4FCC-92E3-5724BF45EE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9" name="Google Shape;19;p15">
            <a:extLst xmlns:a="http://schemas.openxmlformats.org/drawingml/2006/main">
              <a:ext uri="{FF2B5EF4-FFF2-40B4-BE49-F238E27FC236}">
                <a16:creationId xmlns:a16="http://schemas.microsoft.com/office/drawing/2014/main" id="{BC26E57D-2C44-4CED-9A1A-F866D8E548B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0" name="Google Shape;20;p15">
            <a:extLst xmlns:a="http://schemas.openxmlformats.org/drawingml/2006/main">
              <a:ext uri="{FF2B5EF4-FFF2-40B4-BE49-F238E27FC236}">
                <a16:creationId xmlns:a16="http://schemas.microsoft.com/office/drawing/2014/main" id="{B79242D2-E80B-4D97-8636-442FD35AD1E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1" name="Google Shape;21;p15">
            <a:extLst xmlns:a="http://schemas.openxmlformats.org/drawingml/2006/main">
              <a:ext uri="{FF2B5EF4-FFF2-40B4-BE49-F238E27FC236}">
                <a16:creationId xmlns:a16="http://schemas.microsoft.com/office/drawing/2014/main" id="{D0465069-026E-4840-AA1C-68761CA38A3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Google Shape;23;p16">
            <a:extLst xmlns:a="http://schemas.openxmlformats.org/drawingml/2006/main">
              <a:ext uri="{FF2B5EF4-FFF2-40B4-BE49-F238E27FC236}">
                <a16:creationId xmlns:a16="http://schemas.microsoft.com/office/drawing/2014/main" id="{10879FF7-9C80-4438-A974-212725C05BD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4" name="Google Shape;24;p16">
            <a:extLst xmlns:a="http://schemas.openxmlformats.org/drawingml/2006/main">
              <a:ext uri="{FF2B5EF4-FFF2-40B4-BE49-F238E27FC236}">
                <a16:creationId xmlns:a16="http://schemas.microsoft.com/office/drawing/2014/main" id="{6E30D929-473D-4F94-B51A-7DF523E4B8E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25" name="Google Shape;25;p16">
            <a:extLst xmlns:a="http://schemas.openxmlformats.org/drawingml/2006/main">
              <a:ext uri="{FF2B5EF4-FFF2-40B4-BE49-F238E27FC236}">
                <a16:creationId xmlns:a16="http://schemas.microsoft.com/office/drawing/2014/main" id="{5611920F-8D3F-4AC8-A6FD-D5838015DFF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6" name="Google Shape;26;p16">
            <a:extLst xmlns:a="http://schemas.openxmlformats.org/drawingml/2006/main">
              <a:ext uri="{FF2B5EF4-FFF2-40B4-BE49-F238E27FC236}">
                <a16:creationId xmlns:a16="http://schemas.microsoft.com/office/drawing/2014/main" id="{5ABF249C-4219-4CAF-AA74-63583D4D01A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16">
            <a:extLst xmlns:a="http://schemas.openxmlformats.org/drawingml/2006/main">
              <a:ext uri="{FF2B5EF4-FFF2-40B4-BE49-F238E27FC236}">
                <a16:creationId xmlns:a16="http://schemas.microsoft.com/office/drawing/2014/main" id="{EE8E4E89-7CE7-4E0E-96A1-6D1BC349DA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17">
            <a:extLst xmlns:a="http://schemas.openxmlformats.org/drawingml/2006/main">
              <a:ext uri="{FF2B5EF4-FFF2-40B4-BE49-F238E27FC236}">
                <a16:creationId xmlns:a16="http://schemas.microsoft.com/office/drawing/2014/main" id="{2B29AC73-7D02-4FA6-9BE5-95E63B782A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0" name="Google Shape;30;p17">
            <a:extLst xmlns:a="http://schemas.openxmlformats.org/drawingml/2006/main">
              <a:ext uri="{FF2B5EF4-FFF2-40B4-BE49-F238E27FC236}">
                <a16:creationId xmlns:a16="http://schemas.microsoft.com/office/drawing/2014/main" id="{B5C29F69-2267-4A58-B34B-C639C9BA16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1" name="Google Shape;31;p17">
            <a:extLst xmlns:a="http://schemas.openxmlformats.org/drawingml/2006/main">
              <a:ext uri="{FF2B5EF4-FFF2-40B4-BE49-F238E27FC236}">
                <a16:creationId xmlns:a16="http://schemas.microsoft.com/office/drawing/2014/main" id="{D1889A07-0D0A-4F8D-A230-DDFA8F4EE6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2" name="Google Shape;32;p17">
            <a:extLst xmlns:a="http://schemas.openxmlformats.org/drawingml/2006/main">
              <a:ext uri="{FF2B5EF4-FFF2-40B4-BE49-F238E27FC236}">
                <a16:creationId xmlns:a16="http://schemas.microsoft.com/office/drawing/2014/main" id="{F12CB5FA-4037-40FA-8983-8898A24623A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3" name="Google Shape;33;p17">
            <a:extLst xmlns:a="http://schemas.openxmlformats.org/drawingml/2006/main">
              <a:ext uri="{FF2B5EF4-FFF2-40B4-BE49-F238E27FC236}">
                <a16:creationId xmlns:a16="http://schemas.microsoft.com/office/drawing/2014/main" id="{24032809-DE52-4B42-BC0C-EA255004B1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Google Shape;35;p18">
            <a:extLst xmlns:a="http://schemas.openxmlformats.org/drawingml/2006/main">
              <a:ext uri="{FF2B5EF4-FFF2-40B4-BE49-F238E27FC236}">
                <a16:creationId xmlns:a16="http://schemas.microsoft.com/office/drawing/2014/main" id="{0E81971E-63B1-4165-A40B-BA591060BF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6" name="Google Shape;36;p18">
            <a:extLst xmlns:a="http://schemas.openxmlformats.org/drawingml/2006/main">
              <a:ext uri="{FF2B5EF4-FFF2-40B4-BE49-F238E27FC236}">
                <a16:creationId xmlns:a16="http://schemas.microsoft.com/office/drawing/2014/main" id="{74632E26-C66E-4CD0-99A8-F6E1A45FF3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7" name="Google Shape;37;p18">
            <a:extLst xmlns:a="http://schemas.openxmlformats.org/drawingml/2006/main">
              <a:ext uri="{FF2B5EF4-FFF2-40B4-BE49-F238E27FC236}">
                <a16:creationId xmlns:a16="http://schemas.microsoft.com/office/drawing/2014/main" id="{46BB8197-53BB-4CBE-AB93-602D3B14A98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8" name="Google Shape;38;p18">
            <a:extLst xmlns:a="http://schemas.openxmlformats.org/drawingml/2006/main">
              <a:ext uri="{FF2B5EF4-FFF2-40B4-BE49-F238E27FC236}">
                <a16:creationId xmlns:a16="http://schemas.microsoft.com/office/drawing/2014/main" id="{C029850C-8003-4FC1-93BB-7006B7BC17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9" name="Google Shape;39;p18">
            <a:extLst xmlns:a="http://schemas.openxmlformats.org/drawingml/2006/main">
              <a:ext uri="{FF2B5EF4-FFF2-40B4-BE49-F238E27FC236}">
                <a16:creationId xmlns:a16="http://schemas.microsoft.com/office/drawing/2014/main" id="{00A85900-1D43-4E0B-8A7B-29BAFBD726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0" name="Google Shape;40;p18">
            <a:extLst xmlns:a="http://schemas.openxmlformats.org/drawingml/2006/main">
              <a:ext uri="{FF2B5EF4-FFF2-40B4-BE49-F238E27FC236}">
                <a16:creationId xmlns:a16="http://schemas.microsoft.com/office/drawing/2014/main" id="{63311EBF-2C77-4431-8B8C-2D66624E61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9">
            <a:extLst xmlns:a="http://schemas.openxmlformats.org/drawingml/2006/main">
              <a:ext uri="{FF2B5EF4-FFF2-40B4-BE49-F238E27FC236}">
                <a16:creationId xmlns:a16="http://schemas.microsoft.com/office/drawing/2014/main" id="{94C44160-FD4E-4B46-A442-364231CCCD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3" name="Google Shape;43;p19">
            <a:extLst xmlns:a="http://schemas.openxmlformats.org/drawingml/2006/main">
              <a:ext uri="{FF2B5EF4-FFF2-40B4-BE49-F238E27FC236}">
                <a16:creationId xmlns:a16="http://schemas.microsoft.com/office/drawing/2014/main" id="{B3865CED-714E-4433-BA25-259E0ACFA0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4" name="Google Shape;44;p19">
            <a:extLst xmlns:a="http://schemas.openxmlformats.org/drawingml/2006/main">
              <a:ext uri="{FF2B5EF4-FFF2-40B4-BE49-F238E27FC236}">
                <a16:creationId xmlns:a16="http://schemas.microsoft.com/office/drawing/2014/main" id="{A37163D6-39A1-4ED7-9C36-A7722D4203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787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5" name="Google Shape;45;p19">
            <a:extLst xmlns:a="http://schemas.openxmlformats.org/drawingml/2006/main">
              <a:ext uri="{FF2B5EF4-FFF2-40B4-BE49-F238E27FC236}">
                <a16:creationId xmlns:a16="http://schemas.microsoft.com/office/drawing/2014/main" id="{FCE540D2-9B5F-43F9-8309-09F25DE84CB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/>
        </p:txBody>
      </p:sp>
      <p:sp>
        <p:nvSpPr>
          <p:cNvPr id="46" name="Google Shape;46;p19">
            <a:extLst xmlns:a="http://schemas.openxmlformats.org/drawingml/2006/main">
              <a:ext uri="{FF2B5EF4-FFF2-40B4-BE49-F238E27FC236}">
                <a16:creationId xmlns:a16="http://schemas.microsoft.com/office/drawing/2014/main" id="{6883717C-D82E-497D-AB66-B37E74EBAFF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88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7" name="Google Shape;47;p19">
            <a:extLst xmlns:a="http://schemas.openxmlformats.org/drawingml/2006/main">
              <a:ext uri="{FF2B5EF4-FFF2-40B4-BE49-F238E27FC236}">
                <a16:creationId xmlns:a16="http://schemas.microsoft.com/office/drawing/2014/main" id="{AC6A0DAB-2ED6-4BCF-BA8E-2498F4716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8" name="Google Shape;48;p19">
            <a:extLst xmlns:a="http://schemas.openxmlformats.org/drawingml/2006/main">
              <a:ext uri="{FF2B5EF4-FFF2-40B4-BE49-F238E27FC236}">
                <a16:creationId xmlns:a16="http://schemas.microsoft.com/office/drawing/2014/main" id="{3EEB9320-E616-4A17-831F-6520853B3B3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9" name="Google Shape;49;p19">
            <a:extLst xmlns:a="http://schemas.openxmlformats.org/drawingml/2006/main">
              <a:ext uri="{FF2B5EF4-FFF2-40B4-BE49-F238E27FC236}">
                <a16:creationId xmlns:a16="http://schemas.microsoft.com/office/drawing/2014/main" id="{2D735A49-0D2A-44E2-9D36-016A86CA34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Google Shape;51;p20">
            <a:extLst xmlns:a="http://schemas.openxmlformats.org/drawingml/2006/main">
              <a:ext uri="{FF2B5EF4-FFF2-40B4-BE49-F238E27FC236}">
                <a16:creationId xmlns:a16="http://schemas.microsoft.com/office/drawing/2014/main" id="{CB22EAF9-F46E-4F78-BC9A-833724C494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2" name="Google Shape;52;p20">
            <a:extLst xmlns:a="http://schemas.openxmlformats.org/drawingml/2006/main">
              <a:ext uri="{FF2B5EF4-FFF2-40B4-BE49-F238E27FC236}">
                <a16:creationId xmlns:a16="http://schemas.microsoft.com/office/drawing/2014/main" id="{9114CF3F-627E-4D20-9242-A0A7A884CC3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3" name="Google Shape;53;p20">
            <a:extLst xmlns:a="http://schemas.openxmlformats.org/drawingml/2006/main">
              <a:ext uri="{FF2B5EF4-FFF2-40B4-BE49-F238E27FC236}">
                <a16:creationId xmlns:a16="http://schemas.microsoft.com/office/drawing/2014/main" id="{214DE86D-BF0F-45E5-943F-1F03FB10D6A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4" name="Google Shape;54;p20">
            <a:extLst xmlns:a="http://schemas.openxmlformats.org/drawingml/2006/main">
              <a:ext uri="{FF2B5EF4-FFF2-40B4-BE49-F238E27FC236}">
                <a16:creationId xmlns:a16="http://schemas.microsoft.com/office/drawing/2014/main" id="{44771E20-B886-49DA-B9A7-23D3E2BC18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Google Shape;56;p21">
            <a:extLst xmlns:a="http://schemas.openxmlformats.org/drawingml/2006/main">
              <a:ext uri="{FF2B5EF4-FFF2-40B4-BE49-F238E27FC236}">
                <a16:creationId xmlns:a16="http://schemas.microsoft.com/office/drawing/2014/main" id="{F78942A6-082B-42FD-A633-4ADB6C74B1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7" name="Google Shape;57;p21">
            <a:extLst xmlns:a="http://schemas.openxmlformats.org/drawingml/2006/main">
              <a:ext uri="{FF2B5EF4-FFF2-40B4-BE49-F238E27FC236}">
                <a16:creationId xmlns:a16="http://schemas.microsoft.com/office/drawing/2014/main" id="{5D0105D5-9D22-4252-860D-7A82CE9178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8" name="Google Shape;58;p21">
            <a:extLst xmlns:a="http://schemas.openxmlformats.org/drawingml/2006/main">
              <a:ext uri="{FF2B5EF4-FFF2-40B4-BE49-F238E27FC236}">
                <a16:creationId xmlns:a16="http://schemas.microsoft.com/office/drawing/2014/main" id="{5F5E747A-C17C-492C-AAC9-AB9F6E9044A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22">
            <a:extLst xmlns:a="http://schemas.openxmlformats.org/drawingml/2006/main">
              <a:ext uri="{FF2B5EF4-FFF2-40B4-BE49-F238E27FC236}">
                <a16:creationId xmlns:a16="http://schemas.microsoft.com/office/drawing/2014/main" id="{C65A8DDC-5507-4F80-A3E5-A04684E886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1" name="Google Shape;61;p22">
            <a:extLst xmlns:a="http://schemas.openxmlformats.org/drawingml/2006/main">
              <a:ext uri="{FF2B5EF4-FFF2-40B4-BE49-F238E27FC236}">
                <a16:creationId xmlns:a16="http://schemas.microsoft.com/office/drawing/2014/main" id="{18B7ADC1-F126-4768-A2F8-B55A89658E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/>
        </p:txBody>
      </p:sp>
      <p:sp>
        <p:nvSpPr>
          <p:cNvPr id="62" name="Google Shape;62;p22">
            <a:extLst xmlns:a="http://schemas.openxmlformats.org/drawingml/2006/main">
              <a:ext uri="{FF2B5EF4-FFF2-40B4-BE49-F238E27FC236}">
                <a16:creationId xmlns:a16="http://schemas.microsoft.com/office/drawing/2014/main" id="{CF6596C2-CA3D-4BC0-9F93-DC16A768922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63" name="Google Shape;63;p22">
            <a:extLst xmlns:a="http://schemas.openxmlformats.org/drawingml/2006/main">
              <a:ext uri="{FF2B5EF4-FFF2-40B4-BE49-F238E27FC236}">
                <a16:creationId xmlns:a16="http://schemas.microsoft.com/office/drawing/2014/main" id="{4F27B369-12E0-4DF3-9ADD-8F5F80BBA85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4" name="Google Shape;64;p22">
            <a:extLst xmlns:a="http://schemas.openxmlformats.org/drawingml/2006/main">
              <a:ext uri="{FF2B5EF4-FFF2-40B4-BE49-F238E27FC236}">
                <a16:creationId xmlns:a16="http://schemas.microsoft.com/office/drawing/2014/main" id="{2B865159-D239-4455-908C-6C30B37A81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5" name="Google Shape;65;p22">
            <a:extLst xmlns:a="http://schemas.openxmlformats.org/drawingml/2006/main">
              <a:ext uri="{FF2B5EF4-FFF2-40B4-BE49-F238E27FC236}">
                <a16:creationId xmlns:a16="http://schemas.microsoft.com/office/drawing/2014/main" id="{AE9252D7-52BD-4DAD-9D92-7B83B34E4F2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23">
            <a:extLst xmlns:a="http://schemas.openxmlformats.org/drawingml/2006/main">
              <a:ext uri="{FF2B5EF4-FFF2-40B4-BE49-F238E27FC236}">
                <a16:creationId xmlns:a16="http://schemas.microsoft.com/office/drawing/2014/main" id="{03FF6EBE-24B4-4C16-B77D-AA06D650CC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8" name="Google Shape;68;p23">
            <a:extLst xmlns:a="http://schemas.openxmlformats.org/drawingml/2006/main">
              <a:ext uri="{FF2B5EF4-FFF2-40B4-BE49-F238E27FC236}">
                <a16:creationId xmlns:a16="http://schemas.microsoft.com/office/drawing/2014/main" id="{05515F04-5BB7-4B26-BE89-DCCFE83DAFDB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9" name="Google Shape;69;p23">
            <a:extLst xmlns:a="http://schemas.openxmlformats.org/drawingml/2006/main">
              <a:ext uri="{FF2B5EF4-FFF2-40B4-BE49-F238E27FC236}">
                <a16:creationId xmlns:a16="http://schemas.microsoft.com/office/drawing/2014/main" id="{1587BD89-0F50-4799-9A6D-A7A49E5F77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/>
        </p:txBody>
      </p:sp>
      <p:sp>
        <p:nvSpPr>
          <p:cNvPr id="70" name="Google Shape;70;p23">
            <a:extLst xmlns:a="http://schemas.openxmlformats.org/drawingml/2006/main">
              <a:ext uri="{FF2B5EF4-FFF2-40B4-BE49-F238E27FC236}">
                <a16:creationId xmlns:a16="http://schemas.microsoft.com/office/drawing/2014/main" id="{E78DE670-CDE3-4A30-86A5-CD829E58AC6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1" name="Google Shape;71;p23">
            <a:extLst xmlns:a="http://schemas.openxmlformats.org/drawingml/2006/main">
              <a:ext uri="{FF2B5EF4-FFF2-40B4-BE49-F238E27FC236}">
                <a16:creationId xmlns:a16="http://schemas.microsoft.com/office/drawing/2014/main" id="{40EBEE91-A41B-41DA-9FA5-DC02108E43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2" name="Google Shape;72;p23">
            <a:extLst xmlns:a="http://schemas.openxmlformats.org/drawingml/2006/main">
              <a:ext uri="{FF2B5EF4-FFF2-40B4-BE49-F238E27FC236}">
                <a16:creationId xmlns:a16="http://schemas.microsoft.com/office/drawing/2014/main" id="{FCCF0362-0052-403F-B89D-6308240D9D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Google Shape;74;p24">
            <a:extLst xmlns:a="http://schemas.openxmlformats.org/drawingml/2006/main">
              <a:ext uri="{FF2B5EF4-FFF2-40B4-BE49-F238E27FC236}">
                <a16:creationId xmlns:a16="http://schemas.microsoft.com/office/drawing/2014/main" id="{8A71C720-D91F-49A8-B30D-8165E7D0D8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5" name="Google Shape;75;p24">
            <a:extLst xmlns:a="http://schemas.openxmlformats.org/drawingml/2006/main">
              <a:ext uri="{FF2B5EF4-FFF2-40B4-BE49-F238E27FC236}">
                <a16:creationId xmlns:a16="http://schemas.microsoft.com/office/drawing/2014/main" id="{E16971DF-69B0-47EF-89C2-F4FB6A11A7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331" y="-1256506"/>
            <a:ext cx="4351338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76" name="Google Shape;76;p24">
            <a:extLst xmlns:a="http://schemas.openxmlformats.org/drawingml/2006/main">
              <a:ext uri="{FF2B5EF4-FFF2-40B4-BE49-F238E27FC236}">
                <a16:creationId xmlns:a16="http://schemas.microsoft.com/office/drawing/2014/main" id="{491B781F-BE2E-4910-8668-020FCCD5325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7" name="Google Shape;77;p24">
            <a:extLst xmlns:a="http://schemas.openxmlformats.org/drawingml/2006/main">
              <a:ext uri="{FF2B5EF4-FFF2-40B4-BE49-F238E27FC236}">
                <a16:creationId xmlns:a16="http://schemas.microsoft.com/office/drawing/2014/main" id="{199CBF57-839F-4393-AB2B-6027262713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8" name="Google Shape;78;p24">
            <a:extLst xmlns:a="http://schemas.openxmlformats.org/drawingml/2006/main">
              <a:ext uri="{FF2B5EF4-FFF2-40B4-BE49-F238E27FC236}">
                <a16:creationId xmlns:a16="http://schemas.microsoft.com/office/drawing/2014/main" id="{C845FA66-A957-44E7-BFE5-7457905E44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Google Shape;80;p25">
            <a:extLst xmlns:a="http://schemas.openxmlformats.org/drawingml/2006/main">
              <a:ext uri="{FF2B5EF4-FFF2-40B4-BE49-F238E27FC236}">
                <a16:creationId xmlns:a16="http://schemas.microsoft.com/office/drawing/2014/main" id="{E78CAE61-5022-4DA4-81F4-2A8AD06E1E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31" y="1956594"/>
            <a:ext cx="5811838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81" name="Google Shape;81;p25">
            <a:extLst xmlns:a="http://schemas.openxmlformats.org/drawingml/2006/main">
              <a:ext uri="{FF2B5EF4-FFF2-40B4-BE49-F238E27FC236}">
                <a16:creationId xmlns:a16="http://schemas.microsoft.com/office/drawing/2014/main" id="{A651BC78-5F19-44C2-B4F8-3BCF0A703A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31" y="-596106"/>
            <a:ext cx="5811838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82" name="Google Shape;82;p25">
            <a:extLst xmlns:a="http://schemas.openxmlformats.org/drawingml/2006/main">
              <a:ext uri="{FF2B5EF4-FFF2-40B4-BE49-F238E27FC236}">
                <a16:creationId xmlns:a16="http://schemas.microsoft.com/office/drawing/2014/main" id="{4958E559-BAC7-4A7F-98BF-4D978CB5E4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83" name="Google Shape;83;p25">
            <a:extLst xmlns:a="http://schemas.openxmlformats.org/drawingml/2006/main">
              <a:ext uri="{FF2B5EF4-FFF2-40B4-BE49-F238E27FC236}">
                <a16:creationId xmlns:a16="http://schemas.microsoft.com/office/drawing/2014/main" id="{12A709D5-1788-4B18-922D-06D9D45688C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84" name="Google Shape;84;p25">
            <a:extLst xmlns:a="http://schemas.openxmlformats.org/drawingml/2006/main">
              <a:ext uri="{FF2B5EF4-FFF2-40B4-BE49-F238E27FC236}">
                <a16:creationId xmlns:a16="http://schemas.microsoft.com/office/drawing/2014/main" id="{DC179C9B-2048-4F87-886F-00595BF60D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44a37312e74d0f" /><Relationship Type="http://schemas.openxmlformats.org/officeDocument/2006/relationships/slideLayout" Target="/ppt/slideLayouts/slideLayout1.xml" Id="R91fd58ae6bed456e" /><Relationship Type="http://schemas.openxmlformats.org/officeDocument/2006/relationships/slideLayout" Target="/ppt/slideLayouts/slideLayout2.xml" Id="R34669c183a2b4f57" /><Relationship Type="http://schemas.openxmlformats.org/officeDocument/2006/relationships/slideLayout" Target="/ppt/slideLayouts/slideLayout3.xml" Id="Rc87b540fae5a4598" /><Relationship Type="http://schemas.openxmlformats.org/officeDocument/2006/relationships/slideLayout" Target="/ppt/slideLayouts/slideLayout4.xml" Id="R9b7e1199d5364790" /><Relationship Type="http://schemas.openxmlformats.org/officeDocument/2006/relationships/slideLayout" Target="/ppt/slideLayouts/slideLayout5.xml" Id="R786bea8737d4468d" /><Relationship Type="http://schemas.openxmlformats.org/officeDocument/2006/relationships/slideLayout" Target="/ppt/slideLayouts/slideLayout6.xml" Id="Rf94301ea366f4a01" /><Relationship Type="http://schemas.openxmlformats.org/officeDocument/2006/relationships/slideLayout" Target="/ppt/slideLayouts/slideLayout7.xml" Id="Rb4f75e1278c64a0a" /><Relationship Type="http://schemas.openxmlformats.org/officeDocument/2006/relationships/slideLayout" Target="/ppt/slideLayouts/slideLayout8.xml" Id="R6e6dbc1891b7410d" /><Relationship Type="http://schemas.openxmlformats.org/officeDocument/2006/relationships/slideLayout" Target="/ppt/slideLayouts/slideLayout9.xml" Id="Rb3ab104384044dfe" /><Relationship Type="http://schemas.openxmlformats.org/officeDocument/2006/relationships/slideLayout" Target="/ppt/slideLayouts/slideLayout10.xml" Id="R1ceeedf640414902" /><Relationship Type="http://schemas.openxmlformats.org/officeDocument/2006/relationships/slideLayout" Target="/ppt/slideLayouts/slideLayout11.xml" Id="Re293db9f739243d8" /><Relationship Type="http://schemas.openxmlformats.org/officeDocument/2006/relationships/slideLayout" Target="/ppt/slideLayouts/slideLayout12.xml" Id="R45ee125d300a460e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13">
            <a:extLst xmlns:a="http://schemas.openxmlformats.org/drawingml/2006/main">
              <a:ext uri="{FF2B5EF4-FFF2-40B4-BE49-F238E27FC236}">
                <a16:creationId xmlns:a16="http://schemas.microsoft.com/office/drawing/2014/main" id="{3EACF781-D955-47B2-90A9-E463A6EF2A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 xmlns:a="http://schemas.openxmlformats.org/drawingml/2006/main"/>
        </p:txBody>
      </p:sp>
      <p:sp>
        <p:nvSpPr>
          <p:cNvPr id="11" name="Google Shape;11;p13">
            <a:extLst xmlns:a="http://schemas.openxmlformats.org/drawingml/2006/main">
              <a:ext uri="{FF2B5EF4-FFF2-40B4-BE49-F238E27FC236}">
                <a16:creationId xmlns:a16="http://schemas.microsoft.com/office/drawing/2014/main" id="{1FC941B5-BA0D-4740-949E-A953C84811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/>
        </p:txBody>
      </p:sp>
      <p:sp>
        <p:nvSpPr>
          <p:cNvPr id="12" name="Google Shape;12;p13">
            <a:extLst xmlns:a="http://schemas.openxmlformats.org/drawingml/2006/main">
              <a:ext uri="{FF2B5EF4-FFF2-40B4-BE49-F238E27FC236}">
                <a16:creationId xmlns:a16="http://schemas.microsoft.com/office/drawing/2014/main" id="{F9F5D3E5-F34C-4714-939A-9C91951552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/>
        </p:txBody>
      </p:sp>
      <p:sp>
        <p:nvSpPr>
          <p:cNvPr id="13" name="Google Shape;13;p13">
            <a:extLst xmlns:a="http://schemas.openxmlformats.org/drawingml/2006/main">
              <a:ext uri="{FF2B5EF4-FFF2-40B4-BE49-F238E27FC236}">
                <a16:creationId xmlns:a16="http://schemas.microsoft.com/office/drawing/2014/main" id="{425F991D-EC8D-4B5E-BA53-05CADAB4D9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/>
        </p:txBody>
      </p:sp>
      <p:sp>
        <p:nvSpPr>
          <p:cNvPr id="14" name="Google Shape;14;p13">
            <a:extLst xmlns:a="http://schemas.openxmlformats.org/drawingml/2006/main">
              <a:ext uri="{FF2B5EF4-FFF2-40B4-BE49-F238E27FC236}">
                <a16:creationId xmlns:a16="http://schemas.microsoft.com/office/drawing/2014/main" id="{3293C919-617A-4953-8954-25D0506470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fd58ae6bed456e"/>
    <p:sldLayoutId xmlns:r="http://schemas.openxmlformats.org/officeDocument/2006/relationships" id="2147483650" r:id="R34669c183a2b4f57"/>
    <p:sldLayoutId xmlns:r="http://schemas.openxmlformats.org/officeDocument/2006/relationships" id="2147483651" r:id="Rc87b540fae5a4598"/>
    <p:sldLayoutId xmlns:r="http://schemas.openxmlformats.org/officeDocument/2006/relationships" id="2147483652" r:id="R9b7e1199d5364790"/>
    <p:sldLayoutId xmlns:r="http://schemas.openxmlformats.org/officeDocument/2006/relationships" id="2147483653" r:id="R786bea8737d4468d"/>
    <p:sldLayoutId xmlns:r="http://schemas.openxmlformats.org/officeDocument/2006/relationships" id="2147483654" r:id="Rf94301ea366f4a01"/>
    <p:sldLayoutId xmlns:r="http://schemas.openxmlformats.org/officeDocument/2006/relationships" id="2147483655" r:id="Rb4f75e1278c64a0a"/>
    <p:sldLayoutId xmlns:r="http://schemas.openxmlformats.org/officeDocument/2006/relationships" id="2147483656" r:id="R6e6dbc1891b7410d"/>
    <p:sldLayoutId xmlns:r="http://schemas.openxmlformats.org/officeDocument/2006/relationships" id="2147483657" r:id="Rb3ab104384044dfe"/>
    <p:sldLayoutId xmlns:r="http://schemas.openxmlformats.org/officeDocument/2006/relationships" id="2147483658" r:id="R1ceeedf640414902"/>
    <p:sldLayoutId xmlns:r="http://schemas.openxmlformats.org/officeDocument/2006/relationships" id="2147483659" r:id="Re293db9f739243d8"/>
    <p:sldLayoutId xmlns:r="http://schemas.openxmlformats.org/officeDocument/2006/relationships" id="2147483660" r:id="R45ee125d300a460e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4ee2f3cc4f43dc" /><Relationship Type="http://schemas.openxmlformats.org/officeDocument/2006/relationships/image" Target="/ppt/media/image.png" Id="R2e6640a829964485" /><Relationship Type="http://schemas.openxmlformats.org/officeDocument/2006/relationships/hyperlink" Target="https://github.com/krizz711/CodeDoctor-Agentic-Semantic-and-Structural-Intelligence-for-Code-Repositories" TargetMode="External" Id="Rde4dfb3ae74148e8" /><Relationship Type="http://schemas.openxmlformats.org/officeDocument/2006/relationships/notesSlide" Target="/ppt/notesSlides/notesSlide1.xml" Id="Rbdcf50da774543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8913842b374f4b" /><Relationship Type="http://schemas.openxmlformats.org/officeDocument/2006/relationships/notesSlide" Target="/ppt/notesSlides/notesSlide2.xml" Id="R4c86ac11343f47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bbd9d206034059" /><Relationship Type="http://schemas.openxmlformats.org/officeDocument/2006/relationships/notesSlide" Target="/ppt/notesSlides/notesSlide3.xml" Id="R5689a70c274d474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d924adaa724fd1" /><Relationship Type="http://schemas.openxmlformats.org/officeDocument/2006/relationships/notesSlide" Target="/ppt/notesSlides/notesSlide4.xml" Id="Ra47ea9483c90421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2f0e1cfd0b4cd5" /><Relationship Type="http://schemas.openxmlformats.org/officeDocument/2006/relationships/notesSlide" Target="/ppt/notesSlides/notesSlide5.xml" Id="R3ece3643e5ce486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af6a16f21e4f24" /><Relationship Type="http://schemas.openxmlformats.org/officeDocument/2006/relationships/notesSlide" Target="/ppt/notesSlides/notesSlide6.xml" Id="R2c562fcb4b9149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ee8795169646ca" /><Relationship Type="http://schemas.openxmlformats.org/officeDocument/2006/relationships/notesSlide" Target="/ppt/notesSlides/notesSlide7.xml" Id="R260edd5a41984db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89278b3e9e4ec4" /><Relationship Type="http://schemas.openxmlformats.org/officeDocument/2006/relationships/notesSlide" Target="/ppt/notesSlides/notesSlide8.xml" Id="R5b95b3d258704f5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4e71687a9f4028" /><Relationship Type="http://schemas.openxmlformats.org/officeDocument/2006/relationships/notesSlide" Target="/ppt/notesSlides/notesSlide9.xml" Id="R818cac02fa684ff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e02d66e7d944ad" /><Relationship Type="http://schemas.openxmlformats.org/officeDocument/2006/relationships/notesSlide" Target="/ppt/notesSlides/notesSlide10.xml" Id="R2561073516c74b2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c8b63e4399403a" /><Relationship Type="http://schemas.openxmlformats.org/officeDocument/2006/relationships/notesSlide" Target="/ppt/notesSlides/notesSlide11.xml" Id="R8debb7bcba8448f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2373886b2044cd" /><Relationship Type="http://schemas.openxmlformats.org/officeDocument/2006/relationships/notesSlide" Target="/ppt/notesSlides/notesSlide12.xml" Id="R111440da08c3428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0" name="Google Shape;90;p1">
            <a:extLst xmlns:a="http://schemas.openxmlformats.org/drawingml/2006/main">
              <a:ext uri="{FF2B5EF4-FFF2-40B4-BE49-F238E27FC236}">
                <a16:creationId xmlns:a16="http://schemas.microsoft.com/office/drawing/2014/main" id="{A687C5F4-535E-4CA7-B08A-57A6F923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76656"/>
            <a:ext cx="2423160" cy="34747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D9D3F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>
            <a:extLst xmlns:a="http://schemas.openxmlformats.org/drawingml/2006/main">
              <a:ext uri="{FF2B5EF4-FFF2-40B4-BE49-F238E27FC236}">
                <a16:creationId xmlns:a16="http://schemas.microsoft.com/office/drawing/2014/main" id="{39FC2766-6EC0-4320-98A8-8889F470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76656"/>
            <a:ext cx="242316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6D28D9"/>
                </a:solidFill>
                <a:latin typeface="Arial"/>
                <a:ea typeface="Arial"/>
                <a:cs typeface="Arial"/>
              </a:rPr>
              <a:t>SAMSUNG PRISM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2" name="Google Shape;92;p1">
            <a:extLst xmlns:a="http://schemas.openxmlformats.org/drawingml/2006/main">
              <a:ext uri="{FF2B5EF4-FFF2-40B4-BE49-F238E27FC236}">
                <a16:creationId xmlns:a16="http://schemas.microsoft.com/office/drawing/2014/main" id="{25F4E2FF-6711-4543-B588-F1D0E28A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207008"/>
            <a:ext cx="612648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sz="5000" b="1" i="0" u="none" cap="none">
                <a:solidFill>
                  <a:srgbClr val="14142B"/>
                </a:solidFill>
                <a:latin typeface="Arial"/>
                <a:ea typeface="Arial"/>
                <a:cs typeface="Arial"/>
              </a:rPr>
              <a:t>Generative AI</a:t>
            </a:r>
            <a:endParaRPr sz="5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3" name="Google Shape;93;p1">
            <a:extLst xmlns:a="http://schemas.openxmlformats.org/drawingml/2006/main">
              <a:ext uri="{FF2B5EF4-FFF2-40B4-BE49-F238E27FC236}">
                <a16:creationId xmlns:a16="http://schemas.microsoft.com/office/drawing/2014/main" id="{AB1A8317-3FCD-4B36-ABBE-4C1C4009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01952"/>
            <a:ext cx="612648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sz="5000" b="1" i="0" u="none" cap="none">
                <a:solidFill>
                  <a:srgbClr val="6D28D9"/>
                </a:solidFill>
                <a:latin typeface="Arial"/>
                <a:ea typeface="Arial"/>
                <a:cs typeface="Arial"/>
              </a:rPr>
              <a:t>Hackathon</a:t>
            </a:r>
            <a:endParaRPr sz="5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4" name="Google Shape;94;p1">
            <a:extLst xmlns:a="http://schemas.openxmlformats.org/drawingml/2006/main">
              <a:ext uri="{FF2B5EF4-FFF2-40B4-BE49-F238E27FC236}">
                <a16:creationId xmlns:a16="http://schemas.microsoft.com/office/drawing/2014/main" id="{66F6D078-9F79-4EE1-A1CD-09281691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24912"/>
            <a:ext cx="612648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sz="2500" b="1" i="0" u="none" cap="none">
                <a:solidFill>
                  <a:srgbClr val="14142B"/>
                </a:solidFill>
                <a:latin typeface="Arial"/>
                <a:ea typeface="Arial"/>
                <a:cs typeface="Arial"/>
              </a:rPr>
              <a:t>3rd Edition</a:t>
            </a:r>
            <a:r>
              <a:rPr sz="20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   2026 – 27</a:t>
            </a:r>
            <a:endParaRPr sz="25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">
            <a:extLst xmlns:a="http://schemas.openxmlformats.org/drawingml/2006/main">
              <a:ext uri="{FF2B5EF4-FFF2-40B4-BE49-F238E27FC236}">
                <a16:creationId xmlns:a16="http://schemas.microsoft.com/office/drawing/2014/main" id="{6438AEC7-4C3E-4D05-902B-6E903CF26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286125"/>
            <a:ext cx="60007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177800" marR="0" lvl="0" indent="-17780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  <a:defRPr sz="13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 i="0" u="none" cap="none">
                <a:solidFill>
                  <a:srgbClr val="302C3C"/>
                </a:solidFill>
                <a:latin typeface="Arial"/>
                <a:ea typeface="Arial"/>
                <a:cs typeface="Arial"/>
              </a:rPr>
              <a:t>Theme ID - Theme 01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  <a:defRPr sz="13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 i="0" u="none" cap="none">
                <a:solidFill>
                  <a:srgbClr val="302C3C"/>
                </a:solidFill>
                <a:latin typeface="Arial"/>
                <a:ea typeface="Arial"/>
                <a:cs typeface="Arial"/>
              </a:rPr>
              <a:t>Team Name - Doctors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  <a:defRPr sz="13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 i="0" u="none" cap="none">
                <a:solidFill>
                  <a:srgbClr val="302C3C"/>
                </a:solidFill>
                <a:latin typeface="Arial"/>
                <a:ea typeface="Arial"/>
                <a:cs typeface="Arial"/>
              </a:rPr>
              <a:t>College Name - VIT Vellore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  <a:defRPr sz="13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 i="0" u="none" cap="none">
                <a:solidFill>
                  <a:srgbClr val="302C3C"/>
                </a:solidFill>
                <a:latin typeface="Arial"/>
                <a:ea typeface="Arial"/>
                <a:cs typeface="Arial"/>
              </a:rPr>
              <a:t>Manish H. · manish.h2024@vitstudent.ac.in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  <a:defRPr sz="13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 i="0" u="none" cap="none">
                <a:solidFill>
                  <a:srgbClr val="302C3C"/>
                </a:solidFill>
                <a:latin typeface="Arial"/>
                <a:ea typeface="Arial"/>
                <a:cs typeface="Arial"/>
              </a:rPr>
              <a:t>Aryan Sinha · aryan.sinha2024@vitstudent.ac.in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  <a:defRPr sz="13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 i="0" u="none" cap="none">
                <a:solidFill>
                  <a:srgbClr val="302C3C"/>
                </a:solidFill>
                <a:latin typeface="Arial"/>
                <a:ea typeface="Arial"/>
                <a:cs typeface="Arial"/>
              </a:rPr>
              <a:t>Munal Singh · munal.singh2024@vitstudent.ac.in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  <a:defRPr sz="13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 i="0" u="none" cap="none">
                <a:solidFill>
                  <a:srgbClr val="302C3C"/>
                </a:solidFill>
                <a:latin typeface="Arial"/>
                <a:ea typeface="Arial"/>
                <a:cs typeface="Arial"/>
              </a:rPr>
              <a:t>Anshul Singh · anshul.singh2024@vitstudent.ac.in</a:t>
            </a:r>
            <a:endParaRPr/>
          </a:p>
        </p:txBody>
      </p:sp>
      <p:pic>
        <p:nvPicPr>
          <p:cNvPr id="104" name="Google Shape;96;p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e6640a82996448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059168" y="1051560"/>
            <a:ext cx="4572000" cy="457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B4837BB-7C06-4ECC-B829-EF46D1D9B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7692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u="sng">
                <a:solidFill>
                  <a:srgbClr val="70509B"/>
                </a:solidFill>
                <a:hlinkClick xmlns:r="http://schemas.openxmlformats.org/officeDocument/2006/relationships" r:id="Rde4dfb3ae74148e8"/>
              </a:rPr>
              <a:t>Submission GitHub: CodeDoctor repository</a:t>
            </a:r>
          </a:p>
        </p:txBody>
      </p:sp>
    </p:spTree>
    <p:extLst>
      <p:ext uri="{BB962C8B-B14F-4D97-AF65-F5344CB8AC3E}">
        <p14:creationId xmlns:p14="http://schemas.microsoft.com/office/powerpoint/2010/main" val="123715533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Google Shape;101;p2">
            <a:extLst xmlns:a="http://schemas.openxmlformats.org/drawingml/2006/main">
              <a:ext uri="{FF2B5EF4-FFF2-40B4-BE49-F238E27FC236}">
                <a16:creationId xmlns:a16="http://schemas.microsoft.com/office/drawing/2014/main" id="{AE1CBB07-D549-497C-83CF-1A8D621F5D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Theme</a:t>
            </a:r>
            <a:endParaRPr/>
          </a:p>
        </p:txBody>
      </p:sp>
      <p:sp>
        <p:nvSpPr>
          <p:cNvPr id="102" name="Google Shape;102;p2">
            <a:extLst xmlns:a="http://schemas.openxmlformats.org/drawingml/2006/main">
              <a:ext uri="{FF2B5EF4-FFF2-40B4-BE49-F238E27FC236}">
                <a16:creationId xmlns:a16="http://schemas.microsoft.com/office/drawing/2014/main" id="{A5C825E2-F0F0-47A9-B08B-662ADCED63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Theme 01: Agentic Code Intelligence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Natural-language code retrieval across complex codebases requires semantic understanding and exact structural evidence.</a:t>
            </a:r>
          </a:p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Judge Mandate: Pre/Post-Processing Focus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Evaluated on pre/post-processing innovation with strict CPU-only retrieval (minimal GPU, no external query APIs).</a:t>
            </a:r>
          </a:p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Core Objective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Return ranked, checkable code spans with file/line evidence rather than opaque, unverified generated answers.</a:t>
            </a:r>
          </a:p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Three-Tier Evaluation Goals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P0: CoIR AppsRetrieval benchmark (3,765 test queries / 8,765 docs); P1: Sub-second CPU incremental re-indexing; Bonus: Cross-version variant selection.</a:t>
            </a:r>
          </a:p>
        </p:txBody>
      </p:sp>
    </p:spTree>
    <p:extLst>
      <p:ext uri="{BB962C8B-B14F-4D97-AF65-F5344CB8AC3E}">
        <p14:creationId xmlns:p14="http://schemas.microsoft.com/office/powerpoint/2010/main" val="168361495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7" name="Google Shape;107;p3">
            <a:extLst xmlns:a="http://schemas.openxmlformats.org/drawingml/2006/main">
              <a:ext uri="{FF2B5EF4-FFF2-40B4-BE49-F238E27FC236}">
                <a16:creationId xmlns:a16="http://schemas.microsoft.com/office/drawing/2014/main" id="{DB76C5CF-FE09-4B26-965F-A8FF6F46F8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Existing Solutions &amp; Gaps</a:t>
            </a:r>
            <a:endParaRPr/>
          </a:p>
        </p:txBody>
      </p:sp>
      <p:sp>
        <p:nvSpPr>
          <p:cNvPr id="108" name="Google Shape;108;p3">
            <a:extLst xmlns:a="http://schemas.openxmlformats.org/drawingml/2006/main">
              <a:ext uri="{FF2B5EF4-FFF2-40B4-BE49-F238E27FC236}">
                <a16:creationId xmlns:a16="http://schemas.microsoft.com/office/drawing/2014/main" id="{CEA9213F-0718-40F1-853C-F5DCD1C41E2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Lexical vs. Semantic Tradeoff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Keywords (BM25) miss conceptual intent; dense models capture semantics but miss exact identifiers and incur high CPU latency.</a:t>
            </a:r>
          </a:p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Dense CPU Latency Bottleneck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Encoding every query on CPU takes 2-8 seconds; invoking large models or cloud APIs on every query violates hackathon efficiency goals.</a:t>
            </a:r>
          </a:p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Re-Indexing Redundancy in CI/CD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Standard code search engines re-embed full files or the whole repository on every commit, wasting compute on unchanged code.</a:t>
            </a:r>
          </a:p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Context Leakage &amp; Unverified Code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Cross-commit search risks silent fallback to HEAD; text embeddings rank buggy near-misses above working fixes in 67-78% of queries.</a:t>
            </a:r>
          </a:p>
        </p:txBody>
      </p:sp>
    </p:spTree>
    <p:extLst>
      <p:ext uri="{BB962C8B-B14F-4D97-AF65-F5344CB8AC3E}">
        <p14:creationId xmlns:p14="http://schemas.microsoft.com/office/powerpoint/2010/main" val="1245628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3" name="Google Shape;113;p4">
            <a:extLst xmlns:a="http://schemas.openxmlformats.org/drawingml/2006/main">
              <a:ext uri="{FF2B5EF4-FFF2-40B4-BE49-F238E27FC236}">
                <a16:creationId xmlns:a16="http://schemas.microsoft.com/office/drawing/2014/main" id="{D80DAD8B-9C79-4411-98BE-78BDC14F99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09917" y="266513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Our Solutions &amp; Architecture Diagram</a:t>
            </a:r>
            <a:endParaRPr/>
          </a:p>
        </p:txBody>
      </p:sp>
      <p:sp>
        <p:nvSpPr>
          <p:cNvPr id="114" name="Google Shape;114;p4">
            <a:extLst xmlns:a="http://schemas.openxmlformats.org/drawingml/2006/main">
              <a:ext uri="{FF2B5EF4-FFF2-40B4-BE49-F238E27FC236}">
                <a16:creationId xmlns:a16="http://schemas.microsoft.com/office/drawing/2014/main" id="{47B7F118-EA6C-4F6A-8600-FF3DDBD9E9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lvl="0" indent="-50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87EB4BAB-9DA1-461D-8159-553D585D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38300"/>
            <a:ext cx="1051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70509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70509B"/>
                </a:solidFill>
                <a:latin typeface="Arial"/>
                <a:ea typeface="Arial"/>
                <a:cs typeface="Arial"/>
              </a:rPr>
              <a:t>Our Pre/Post-Processing Architecture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880EE39A-E794-4CD3-B39C-B6E918993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47900"/>
            <a:ext cx="3143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FA"/>
          </a:solidFill>
          <a:ln xmlns:a="http://schemas.openxmlformats.org/drawingml/2006/main" w="14288">
            <a:solidFill>
              <a:srgbClr val="70509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30166880-C1F7-4647-B10D-31BF45F3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0509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70509B"/>
                </a:solidFill>
                <a:latin typeface="Arial"/>
                <a:ea typeface="Arial"/>
                <a:cs typeface="Arial"/>
              </a:rPr>
              <a:t>1. PREPROCESS (Offline)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0CA17A13-FAC1-4E1A-B2CC-43E92D16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19400"/>
            <a:ext cx="28765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Exact CoIR / repo normalization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Tree-sitter AST statement chunking*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Content-addressed vector cache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Invariant recipe keys (SHA-256)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Incremental diff vector reuse*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80FD6EB-4A0C-447C-BBCD-C584B100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3143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FA"/>
          </a:solidFill>
          <a:ln xmlns:a="http://schemas.openxmlformats.org/drawingml/2006/main" w="14288">
            <a:solidFill>
              <a:srgbClr val="70509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1B2EFAA0-EB78-45D2-9920-29E3AFF91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003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0509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70509B"/>
                </a:solidFill>
                <a:latin typeface="Arial"/>
                <a:ea typeface="Arial"/>
                <a:cs typeface="Arial"/>
              </a:rPr>
              <a:t>2. RETRIEVE (CPU-Only)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7DD9E239-A9EE-45B3-9796-168CD63E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19400"/>
            <a:ext cx="28765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Evidence-gated router (0.4 ms free passes)*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Pinned open-weights F2LLM-v2-1.7B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Top-20 cosine candidate generation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Additive Reciprocal Rank Fusion (k=60)*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Zero-vector attention cap on &gt;6k chars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FCBC6A3-22A0-45AB-8586-70ACCDECE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3143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FA"/>
          </a:solidFill>
          <a:ln xmlns:a="http://schemas.openxmlformats.org/drawingml/2006/main" w="14288">
            <a:solidFill>
              <a:srgbClr val="70509B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6359722-46CC-43D3-ADCE-1C1F561B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003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70509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70509B"/>
                </a:solidFill>
                <a:latin typeface="Arial"/>
                <a:ea typeface="Arial"/>
                <a:cs typeface="Arial"/>
              </a:rPr>
              <a:t>3. POSTPROCESS (Dynamic)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C7FB3521-9126-4CC6-9A05-B5ECF6A3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19400"/>
            <a:ext cx="28765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Multi-layout worked-example parser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Defensive subprocess sandbox (2s timeout)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Behavioral reranking (1e-06 tolerance)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+0.02802 NDCG@10 ablation lift</a:t>
            </a:r>
          </a:p>
          <a:p xmlns:a="http://schemas.openxmlformats.org/drawingml/2006/main">
            <a:pPr>
              <a:defRPr sz="135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• Lineage variant selection (100% vs 8.3%)*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865C3370-D206-4C43-83BE-D9E0B357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33750"/>
            <a:ext cx="3238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0509B"/>
          </a:solidFill>
          <a:ln xmlns:a="http://schemas.openxmlformats.org/drawingml/2006/main" w="0">
            <a:noFill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DECCB9ED-D437-4DC3-9777-E8B07160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333750"/>
            <a:ext cx="3238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0509B"/>
          </a:solidFill>
          <a:ln xmlns:a="http://schemas.openxmlformats.org/drawingml/2006/main" w="0">
            <a:noFill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7A78FC5C-73B9-412A-BCEB-50FADC30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10515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02C3C"/>
                </a:solidFill>
                <a:latin typeface="Arial"/>
                <a:ea typeface="Arial"/>
                <a:cs typeface="Arial"/>
              </a:rPr>
              <a:t>* Active in local repository workbench &amp; multi-version intelligence. P0 benchmark executes corpus vectors + behavioral execution reranking. Complies with Samsung CPU-only retrieval &amp; permissible open-weights model guidelines.</a:t>
            </a:r>
          </a:p>
        </p:txBody>
      </p:sp>
    </p:spTree>
    <p:extLst>
      <p:ext uri="{BB962C8B-B14F-4D97-AF65-F5344CB8AC3E}">
        <p14:creationId xmlns:p14="http://schemas.microsoft.com/office/powerpoint/2010/main" val="46193431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Google Shape;119;p5">
            <a:extLst xmlns:a="http://schemas.openxmlformats.org/drawingml/2006/main">
              <a:ext uri="{FF2B5EF4-FFF2-40B4-BE49-F238E27FC236}">
                <a16:creationId xmlns:a16="http://schemas.microsoft.com/office/drawing/2014/main" id="{9E485903-BFFE-48B2-951B-894C89A754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>
            <a:extLst xmlns:a="http://schemas.openxmlformats.org/drawingml/2006/main">
              <a:ext uri="{FF2B5EF4-FFF2-40B4-BE49-F238E27FC236}">
                <a16:creationId xmlns:a16="http://schemas.microsoft.com/office/drawing/2014/main" id="{5C18146A-7F54-4F28-BFF5-35B09F57A1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11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1. Open &amp; Auto-Index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Open any repository in CodeDoctor workbench; Tree-sitter parses AST chunks and builds the content-addressed index in the background.</a:t>
            </a:r>
          </a:p>
          <a:p xmlns:a="http://schemas.openxmlformats.org/drawingml/2006/main">
            <a:pPr>
              <a:spcAft>
                <a:spcPts val="11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2. Multi-Signal Query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Router runs cheap lexical passes first; symbol queries resolve in 0.4 ms, while prose queries escalate to dense semantic retrieval.</a:t>
            </a:r>
          </a:p>
          <a:p xmlns:a="http://schemas.openxmlformats.org/drawingml/2006/main">
            <a:pPr>
              <a:spcAft>
                <a:spcPts val="11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3. Edit &amp; Rebuild (P1)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Content-addressed cache re-embeds only modified functions, reusing unchanged vectors in 1.51 s (~68x CPU speedup).</a:t>
            </a:r>
          </a:p>
          <a:p xmlns:a="http://schemas.openxmlformats.org/drawingml/2006/main">
            <a:pPr>
              <a:spcAft>
                <a:spcPts val="11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4. Version Verification (Bonus)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Execution sandbox runs candidate variants across git history against worked examples, selecting the working variant with 100% accuracy.</a:t>
            </a:r>
          </a:p>
          <a:p xmlns:a="http://schemas.openxmlformats.org/drawingml/2006/main">
            <a:pPr>
              <a:spcAft>
                <a:spcPts val="11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Measured Latencies &amp; Demo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Symbol lookup ≈ 0.4 ms · Cold build ≈ 5.6 s · Incremental update ≈ 1.51 s (Kaggle Xeon). Demo video: [5-Min Walkthrough Link].</a:t>
            </a:r>
          </a:p>
        </p:txBody>
      </p:sp>
    </p:spTree>
    <p:extLst>
      <p:ext uri="{BB962C8B-B14F-4D97-AF65-F5344CB8AC3E}">
        <p14:creationId xmlns:p14="http://schemas.microsoft.com/office/powerpoint/2010/main" val="107830302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Google Shape;125;p6">
            <a:extLst xmlns:a="http://schemas.openxmlformats.org/drawingml/2006/main">
              <a:ext uri="{FF2B5EF4-FFF2-40B4-BE49-F238E27FC236}">
                <a16:creationId xmlns:a16="http://schemas.microsoft.com/office/drawing/2014/main" id="{2F2B4BC6-CFD7-4B8B-9C9B-D07EC01F80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>
            <a:extLst xmlns:a="http://schemas.openxmlformats.org/drawingml/2006/main">
              <a:ext uri="{FF2B5EF4-FFF2-40B4-BE49-F238E27FC236}">
                <a16:creationId xmlns:a16="http://schemas.microsoft.com/office/drawing/2014/main" id="{1E04681B-1B32-449F-87A5-59ECC13F59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11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Language &amp; Core Engine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Python 3.11+, C++17 core engine (libcodedoctor) for native symbol indexing and graph traversal.</a:t>
            </a:r>
          </a:p>
          <a:p xmlns:a="http://schemas.openxmlformats.org/drawingml/2006/main">
            <a:pPr>
              <a:spcAft>
                <a:spcPts val="11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AST &amp; Static Analysis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Tree-sitter (python, javascript, typescript); statement-boundary splitter for functions &gt;80 lines; structural edge extractor.</a:t>
            </a:r>
          </a:p>
          <a:p xmlns:a="http://schemas.openxmlformats.org/drawingml/2006/main">
            <a:pPr>
              <a:spcAft>
                <a:spcPts val="11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Retrieval &amp; Fusion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BM25, exact symbol table, dense cosine similarity, Reciprocal Rank Fusion (k=60) with additive component transparency.</a:t>
            </a:r>
          </a:p>
          <a:p xmlns:a="http://schemas.openxmlformats.org/drawingml/2006/main">
            <a:pPr>
              <a:spcAft>
                <a:spcPts val="11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Encoders &amp; Vector Cache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codefuse-ai/F2LLM-v2-1.7B (accuracy tier), 0.6B (interactive tier); SQLite content-addressed EmbeddingCache (SHA-256).</a:t>
            </a:r>
          </a:p>
          <a:p xmlns:a="http://schemas.openxmlformats.org/drawingml/2006/main">
            <a:pPr>
              <a:spcAft>
                <a:spcPts val="11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Evaluation &amp; Testing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Official MTEB 2.21.0 (cache=None), FastAPI + Uvicorn, 571 automated pytest tests, multi-platform GitHub Actions CI.</a:t>
            </a:r>
          </a:p>
        </p:txBody>
      </p:sp>
    </p:spTree>
    <p:extLst>
      <p:ext uri="{BB962C8B-B14F-4D97-AF65-F5344CB8AC3E}">
        <p14:creationId xmlns:p14="http://schemas.microsoft.com/office/powerpoint/2010/main" val="18634244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7">
            <a:extLst xmlns:a="http://schemas.openxmlformats.org/drawingml/2006/main">
              <a:ext uri="{FF2B5EF4-FFF2-40B4-BE49-F238E27FC236}">
                <a16:creationId xmlns:a16="http://schemas.microsoft.com/office/drawing/2014/main" id="{2B29D9B0-44C8-4483-8F46-6E3577C71A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>
            <a:extLst xmlns:a="http://schemas.openxmlformats.org/drawingml/2006/main">
              <a:ext uri="{FF2B5EF4-FFF2-40B4-BE49-F238E27FC236}">
                <a16:creationId xmlns:a16="http://schemas.microsoft.com/office/drawing/2014/main" id="{F4A71B46-A4B6-43C1-9363-2F746E12474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Zero-Context Developer Onboarding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Maps high-level natural-language questions to exact implementation functions and structural call graphs.</a:t>
            </a:r>
          </a:p>
          <a:p xmlns:a="http://schemas.openxmlformats.org/drawingml/2006/main">
            <a:pPr>
              <a:spcAft>
                <a:spcPts val="12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Behavior-Guided Bug &amp; Regression Triage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Worked examples in issue tickets verify whether candidate functions produce expected outputs before code review.</a:t>
            </a:r>
          </a:p>
          <a:p xmlns:a="http://schemas.openxmlformats.org/drawingml/2006/main">
            <a:pPr>
              <a:spcAft>
                <a:spcPts val="12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Real-Time CI/CD Incremental Re-Indexing (P1)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Re-embeds only changed AST chunks on pull requests, updating semantic search in ~1.5 s without blocking workflows.</a:t>
            </a:r>
          </a:p>
          <a:p xmlns:a="http://schemas.openxmlformats.org/drawingml/2006/main">
            <a:pPr>
              <a:spcAft>
                <a:spcPts val="12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Contamination-Free Code Archaeology (Bonus)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Retrieves historical functions from specific git commits without cross-version context leakage or silent fallback to HEAD.</a:t>
            </a:r>
          </a:p>
          <a:p xmlns:a="http://schemas.openxmlformats.org/drawingml/2006/main">
            <a:pPr>
              <a:spcAft>
                <a:spcPts val="1200"/>
              </a:spcAft>
              <a:defRPr sz="172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Trustworthy Developer Tooling  </a:t>
            </a:r>
            <a:r>
              <a:rPr sz="1725">
                <a:solidFill>
                  <a:srgbClr val="302C3C"/>
                </a:solidFill>
                <a:latin typeface="Arial"/>
                <a:ea typeface="Arial"/>
                <a:cs typeface="Arial"/>
              </a:rPr>
              <a:t>Returns verifiable source code spans with exact file/line evidence rather than uncheckable generative model text.</a:t>
            </a:r>
          </a:p>
        </p:txBody>
      </p:sp>
    </p:spTree>
    <p:extLst>
      <p:ext uri="{BB962C8B-B14F-4D97-AF65-F5344CB8AC3E}">
        <p14:creationId xmlns:p14="http://schemas.microsoft.com/office/powerpoint/2010/main" val="1590354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8">
            <a:extLst xmlns:a="http://schemas.openxmlformats.org/drawingml/2006/main">
              <a:ext uri="{FF2B5EF4-FFF2-40B4-BE49-F238E27FC236}">
                <a16:creationId xmlns:a16="http://schemas.microsoft.com/office/drawing/2014/main" id="{6F2D642D-00E2-476B-82DD-F76F46E596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Innovation highlights, results and limitations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38" name="Google Shape;138;p8">
            <a:extLst xmlns:a="http://schemas.openxmlformats.org/drawingml/2006/main">
              <a:ext uri="{FF2B5EF4-FFF2-40B4-BE49-F238E27FC236}">
                <a16:creationId xmlns:a16="http://schemas.microsoft.com/office/drawing/2014/main" id="{156F1700-34B0-49FD-9FED-57DF4B1CBD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1100"/>
              </a:spcAft>
              <a:defRPr sz="157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P0 Retrieval Accuracy (CoIR AppsRetrieval Benchmark)  </a:t>
            </a:r>
            <a:r>
              <a:rPr sz="1575">
                <a:solidFill>
                  <a:srgbClr val="302C3C"/>
                </a:solidFill>
                <a:latin typeface="Arial"/>
                <a:ea typeface="Arial"/>
                <a:cs typeface="Arial"/>
              </a:rPr>
              <a:t>NDCG@10: 0.96558 · MRR@10: 0.95857 · Recall@10: 0.98619. Dense baseline: 0.93756; behavioral execution delivers +0.02802 lift (removes 44.9% of residual error).</a:t>
            </a:r>
          </a:p>
          <a:p xmlns:a="http://schemas.openxmlformats.org/drawingml/2006/main">
            <a:pPr>
              <a:spcAft>
                <a:spcPts val="1100"/>
              </a:spcAft>
              <a:defRPr sz="157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P1 Incremental Indexing (Kaggle 4-vCPU Intel Xeon)  </a:t>
            </a:r>
            <a:r>
              <a:rPr sz="1575">
                <a:solidFill>
                  <a:srgbClr val="302C3C"/>
                </a:solidFill>
                <a:latin typeface="Arial"/>
                <a:ea typeface="Arial"/>
                <a:cs typeface="Arial"/>
              </a:rPr>
              <a:t>Full rebuild: 103.4 s (50 chunks) vs. Unchanged update: 1.51 s (50 reused) → ~68x speedup (100% equivalence, min cosine 1.0).</a:t>
            </a:r>
          </a:p>
          <a:p xmlns:a="http://schemas.openxmlformats.org/drawingml/2006/main">
            <a:pPr>
              <a:spcAft>
                <a:spcPts val="1100"/>
              </a:spcAft>
              <a:defRPr sz="157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Bonus Cross-Version Selection (12 Lineages across 3 Versions)  </a:t>
            </a:r>
            <a:r>
              <a:rPr sz="1575">
                <a:solidFill>
                  <a:srgbClr val="302C3C"/>
                </a:solidFill>
                <a:latin typeface="Arial"/>
                <a:ea typeface="Arial"/>
                <a:cs typeface="Arial"/>
              </a:rPr>
              <a:t>100% correct variant selection (1.0) with execution verification vs. 8.33% (0.0833) for raw semantic retrieval (~12x accuracy gain).</a:t>
            </a:r>
          </a:p>
          <a:p xmlns:a="http://schemas.openxmlformats.org/drawingml/2006/main">
            <a:pPr>
              <a:spcAft>
                <a:spcPts val="1100"/>
              </a:spcAft>
              <a:defRPr sz="1575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Honest Limitations (Academic Integrity)  </a:t>
            </a:r>
            <a:r>
              <a:rPr sz="1575">
                <a:solidFill>
                  <a:srgbClr val="302C3C"/>
                </a:solidFill>
                <a:latin typeface="Arial"/>
                <a:ea typeface="Arial"/>
                <a:cs typeface="Arial"/>
              </a:rPr>
              <a:t>Passing visible test cases does not prove formal correctness; subprocess limits, not OS hypervisor; APPS pre-training exposure transparently documented.</a:t>
            </a:r>
          </a:p>
        </p:txBody>
      </p:sp>
    </p:spTree>
    <p:extLst>
      <p:ext uri="{BB962C8B-B14F-4D97-AF65-F5344CB8AC3E}">
        <p14:creationId xmlns:p14="http://schemas.microsoft.com/office/powerpoint/2010/main" val="167735062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9">
            <a:extLst xmlns:a="http://schemas.openxmlformats.org/drawingml/2006/main">
              <a:ext uri="{FF2B5EF4-FFF2-40B4-BE49-F238E27FC236}">
                <a16:creationId xmlns:a16="http://schemas.microsoft.com/office/drawing/2014/main" id="{FA1D2602-12B0-4810-A19A-77C4FF0EBC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What’s next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44" name="Google Shape;144;p9">
            <a:extLst xmlns:a="http://schemas.openxmlformats.org/drawingml/2006/main">
              <a:ext uri="{FF2B5EF4-FFF2-40B4-BE49-F238E27FC236}">
                <a16:creationId xmlns:a16="http://schemas.microsoft.com/office/drawing/2014/main" id="{F3A6F19E-6C32-476B-9397-44CB0AE4C0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Unseen Python Evaluation Readiness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Generalize execution verification to arbitrary test runners (pytest, unittest) for the judges' unreleased dataset.</a:t>
            </a:r>
          </a:p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Sub-200ms CPU Retrieval (INT8 / ONNX)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Implement static integer quantization and ONNX Runtime CPU execution to eliminate dense latency with zero GPU dependence.</a:t>
            </a:r>
          </a:p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MicroVM Execution Sandboxing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Migrate from OS-level subprocess limits to Firecracker / gVisor microVMs for secure, multi-tenant repository code execution.</a:t>
            </a:r>
          </a:p>
          <a:p xmlns:a="http://schemas.openxmlformats.org/drawingml/2006/main">
            <a:pPr>
              <a:spcAft>
                <a:spcPts val="1400"/>
              </a:spcAft>
              <a:defRPr sz="180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Cross-File Structural Call Graphs  </a:t>
            </a:r>
            <a:r>
              <a:rPr sz="1800">
                <a:solidFill>
                  <a:srgbClr val="302C3C"/>
                </a:solidFill>
                <a:latin typeface="Arial"/>
                <a:ea typeface="Arial"/>
                <a:cs typeface="Arial"/>
              </a:rPr>
              <a:t>Deepen static analysis with whole-repository points-to analysis and cross-module import tracking across monorepos.</a:t>
            </a:r>
          </a:p>
        </p:txBody>
      </p:sp>
    </p:spTree>
    <p:extLst>
      <p:ext uri="{BB962C8B-B14F-4D97-AF65-F5344CB8AC3E}">
        <p14:creationId xmlns:p14="http://schemas.microsoft.com/office/powerpoint/2010/main" val="134920021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10">
            <a:extLst xmlns:a="http://schemas.openxmlformats.org/drawingml/2006/main">
              <a:ext uri="{FF2B5EF4-FFF2-40B4-BE49-F238E27FC236}">
                <a16:creationId xmlns:a16="http://schemas.microsoft.com/office/drawing/2014/main" id="{9B39EC1D-000E-4C9A-BD4C-3D976E6705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Brownie points slide( differentiation)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50" name="Google Shape;150;p10">
            <a:extLst xmlns:a="http://schemas.openxmlformats.org/drawingml/2006/main">
              <a:ext uri="{FF2B5EF4-FFF2-40B4-BE49-F238E27FC236}">
                <a16:creationId xmlns:a16="http://schemas.microsoft.com/office/drawing/2014/main" id="{D4F42633-11D4-416B-A3B6-7AB3F8F192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1100"/>
              </a:spcAft>
              <a:defRPr sz="16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Agentic Multi-Signal Routing  </a:t>
            </a:r>
            <a:r>
              <a:rPr sz="1650">
                <a:solidFill>
                  <a:srgbClr val="302C3C"/>
                </a:solidFill>
                <a:latin typeface="Arial"/>
                <a:ea typeface="Arial"/>
                <a:cs typeface="Arial"/>
              </a:rPr>
              <a:t>Cheap lexical and symbol passes resolve simple queries in 0.4 ms; expensive dense inference is invoked only when semantic reasoning is required.</a:t>
            </a:r>
          </a:p>
          <a:p xmlns:a="http://schemas.openxmlformats.org/drawingml/2006/main">
            <a:pPr>
              <a:spcAft>
                <a:spcPts val="1100"/>
              </a:spcAft>
              <a:defRPr sz="16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Behavioral Post-Processing Verification  </a:t>
            </a:r>
            <a:r>
              <a:rPr sz="1650">
                <a:solidFill>
                  <a:srgbClr val="302C3C"/>
                </a:solidFill>
                <a:latin typeface="Arial"/>
                <a:ea typeface="Arial"/>
                <a:cs typeface="Arial"/>
              </a:rPr>
              <a:t>Validates candidate code semantics via executable test cases, solving near-miss ranking where text embeddings fail.</a:t>
            </a:r>
          </a:p>
          <a:p xmlns:a="http://schemas.openxmlformats.org/drawingml/2006/main">
            <a:pPr>
              <a:spcAft>
                <a:spcPts val="1100"/>
              </a:spcAft>
              <a:defRPr sz="16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Content-Addressed Vector Cache  </a:t>
            </a:r>
            <a:r>
              <a:rPr sz="1650">
                <a:solidFill>
                  <a:srgbClr val="302C3C"/>
                </a:solidFill>
                <a:latin typeface="Arial"/>
                <a:ea typeface="Arial"/>
                <a:cs typeface="Arial"/>
              </a:rPr>
              <a:t>Vectors are keyed on chunk hash and encoder recipe—immune to file renames, line shifts, and directory reorganization.</a:t>
            </a:r>
          </a:p>
          <a:p xmlns:a="http://schemas.openxmlformats.org/drawingml/2006/main">
            <a:pPr>
              <a:spcAft>
                <a:spcPts val="1100"/>
              </a:spcAft>
              <a:defRPr sz="16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Strict Version Provenance &amp; Lineage  </a:t>
            </a:r>
            <a:r>
              <a:rPr sz="1650">
                <a:solidFill>
                  <a:srgbClr val="302C3C"/>
                </a:solidFill>
                <a:latin typeface="Arial"/>
                <a:ea typeface="Arial"/>
                <a:cs typeface="Arial"/>
              </a:rPr>
              <a:t>Groups evolving snippets using 5-shingles and Jaccard clustering, ranking working variants first across Git history.</a:t>
            </a:r>
          </a:p>
          <a:p xmlns:a="http://schemas.openxmlformats.org/drawingml/2006/main">
            <a:pPr>
              <a:spcAft>
                <a:spcPts val="1100"/>
              </a:spcAft>
              <a:defRPr sz="16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Academic Research Integrity  </a:t>
            </a:r>
            <a:r>
              <a:rPr sz="1650">
                <a:solidFill>
                  <a:srgbClr val="302C3C"/>
                </a:solidFill>
                <a:latin typeface="Arial"/>
                <a:ea typeface="Arial"/>
                <a:cs typeface="Arial"/>
              </a:rPr>
              <a:t>Preserved negative results (learned reranker failed bootstrap gate, so it was rejected); enforced cache=None in official MTEB runs.</a:t>
            </a:r>
          </a:p>
        </p:txBody>
      </p:sp>
    </p:spTree>
    <p:extLst>
      <p:ext uri="{BB962C8B-B14F-4D97-AF65-F5344CB8AC3E}">
        <p14:creationId xmlns:p14="http://schemas.microsoft.com/office/powerpoint/2010/main" val="89620030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5" name="Google Shape;155;p11">
            <a:extLst xmlns:a="http://schemas.openxmlformats.org/drawingml/2006/main">
              <a:ext uri="{FF2B5EF4-FFF2-40B4-BE49-F238E27FC236}">
                <a16:creationId xmlns:a16="http://schemas.microsoft.com/office/drawing/2014/main" id="{11EB2487-5AA5-4171-A44D-E590D1F0C6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Checklist - Submission materials</a:t>
            </a:r>
            <a:endParaRPr/>
          </a:p>
        </p:txBody>
      </p:sp>
      <p:sp>
        <p:nvSpPr>
          <p:cNvPr id="156" name="Google Shape;156;p11">
            <a:extLst xmlns:a="http://schemas.openxmlformats.org/drawingml/2006/main">
              <a:ext uri="{FF2B5EF4-FFF2-40B4-BE49-F238E27FC236}">
                <a16:creationId xmlns:a16="http://schemas.microsoft.com/office/drawing/2014/main" id="{2595E60F-FD95-446F-B908-33EDE80F7A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1100"/>
              </a:spcAft>
              <a:defRPr sz="16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[x] Working Prototype Source Code  </a:t>
            </a:r>
            <a:r>
              <a:rPr sz="1650">
                <a:solidFill>
                  <a:srgbClr val="302C3C"/>
                </a:solidFill>
                <a:latin typeface="Arial"/>
                <a:ea typeface="Arial"/>
                <a:cs typeface="Arial"/>
              </a:rPr>
              <a:t>Full source code merged on main (commit 2024ca1) with reproducible setup instructions and 571 passing tests.</a:t>
            </a:r>
          </a:p>
          <a:p xmlns:a="http://schemas.openxmlformats.org/drawingml/2006/main">
            <a:pPr>
              <a:spcAft>
                <a:spcPts val="1100"/>
              </a:spcAft>
              <a:defRPr sz="16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[x] Requirements Files  </a:t>
            </a:r>
            <a:r>
              <a:rPr sz="1650">
                <a:solidFill>
                  <a:srgbClr val="302C3C"/>
                </a:solidFill>
                <a:latin typeface="Arial"/>
                <a:ea typeface="Arial"/>
                <a:cs typeface="Arial"/>
              </a:rPr>
              <a:t>Both requirement.txt (singular, checklist compliant) and requirements-submission.txt pinned and verified.</a:t>
            </a:r>
          </a:p>
          <a:p xmlns:a="http://schemas.openxmlformats.org/drawingml/2006/main">
            <a:pPr>
              <a:spcAft>
                <a:spcPts val="1100"/>
              </a:spcAft>
              <a:defRPr sz="16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[x] Presentation Deck &amp; PDF  </a:t>
            </a:r>
            <a:r>
              <a:rPr sz="1650">
                <a:solidFill>
                  <a:srgbClr val="302C3C"/>
                </a:solidFill>
                <a:latin typeface="Arial"/>
                <a:ea typeface="Arial"/>
                <a:cs typeface="Arial"/>
              </a:rPr>
              <a:t>Completed 12-slide presentation (VITV_Doctors_Submission.pptx) and matching PDF (VITV_Doctors_Submission.pdf).</a:t>
            </a:r>
          </a:p>
          <a:p xmlns:a="http://schemas.openxmlformats.org/drawingml/2006/main">
            <a:pPr>
              <a:spcAft>
                <a:spcPts val="1100"/>
              </a:spcAft>
              <a:defRPr sz="16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[x] AI Disclosure &amp; Official Release Tag  </a:t>
            </a:r>
            <a:r>
              <a:rPr sz="1650">
                <a:solidFill>
                  <a:srgbClr val="302C3C"/>
                </a:solidFill>
                <a:latin typeface="Arial"/>
                <a:ea typeface="Arial"/>
                <a:cs typeface="Arial"/>
              </a:rPr>
              <a:t>Official LangAI3.0_AI_Disclosure.docx completed; released under tag PRISM_GENAI_HACKATHON_Y2026 with MTEB results.</a:t>
            </a:r>
          </a:p>
          <a:p xmlns:a="http://schemas.openxmlformats.org/drawingml/2006/main">
            <a:pPr>
              <a:spcAft>
                <a:spcPts val="1100"/>
              </a:spcAft>
              <a:defRPr sz="1650">
                <a:solidFill>
                  <a:srgbClr val="302C3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02C3C"/>
                </a:solidFill>
                <a:latin typeface="Arial"/>
                <a:ea typeface="Arial"/>
                <a:cs typeface="Arial"/>
              </a:rPr>
              <a:t>[x] Product Demo Video  </a:t>
            </a:r>
            <a:r>
              <a:rPr sz="1650">
                <a:solidFill>
                  <a:srgbClr val="302C3C"/>
                </a:solidFill>
                <a:latin typeface="Arial"/>
                <a:ea typeface="Arial"/>
                <a:cs typeface="Arial"/>
              </a:rPr>
              <a:t>5-minute product walkthrough video recorded and linked in README.md and release assets.</a:t>
            </a:r>
          </a:p>
        </p:txBody>
      </p:sp>
    </p:spTree>
    <p:extLst>
      <p:ext uri="{BB962C8B-B14F-4D97-AF65-F5344CB8AC3E}">
        <p14:creationId xmlns:p14="http://schemas.microsoft.com/office/powerpoint/2010/main" val="182024369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2" name="Google Shape;162;p12">
            <a:extLst xmlns:a="http://schemas.openxmlformats.org/drawingml/2006/main">
              <a:ext uri="{FF2B5EF4-FFF2-40B4-BE49-F238E27FC236}">
                <a16:creationId xmlns:a16="http://schemas.microsoft.com/office/drawing/2014/main" id="{58914F63-036C-448A-9FB2-235297CE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181" y="3730214"/>
            <a:ext cx="6766560" cy="868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sz="4600" b="1" i="0" u="none" cap="none">
                <a:solidFill>
                  <a:srgbClr val="14142B"/>
                </a:solidFill>
                <a:latin typeface="Arial"/>
                <a:ea typeface="Arial"/>
                <a:cs typeface="Arial"/>
              </a:rPr>
              <a:t>Thank you</a:t>
            </a:r>
            <a:endParaRPr sz="4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3" name="Google Shape;163;p12">
            <a:extLst xmlns:a="http://schemas.openxmlformats.org/drawingml/2006/main">
              <a:ext uri="{FF2B5EF4-FFF2-40B4-BE49-F238E27FC236}">
                <a16:creationId xmlns:a16="http://schemas.microsoft.com/office/drawing/2014/main" id="{86DBC99A-BC40-4550-A0AC-B2329893E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897880"/>
            <a:ext cx="1060704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sz="11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Organised by the Language AI Team and the PRISM Team, Samsung R&amp;D Institute India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92286B5D-113F-4BD4-8E02-E32006DD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14875"/>
            <a:ext cx="904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0509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70509B"/>
                </a:solidFill>
                <a:latin typeface="Arial"/>
                <a:ea typeface="Arial"/>
                <a:cs typeface="Arial"/>
              </a:rPr>
              <a:t>CodeDoctor  /  VITV  /  Doctors</a:t>
            </a:r>
          </a:p>
        </p:txBody>
      </p:sp>
    </p:spTree>
    <p:extLst>
      <p:ext uri="{BB962C8B-B14F-4D97-AF65-F5344CB8AC3E}">
        <p14:creationId xmlns:p14="http://schemas.microsoft.com/office/powerpoint/2010/main" val="64814249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2026-09-30T15:51:12.8840000Z</dcterms:created>
  <dcterms:modified xsi:type="dcterms:W3CDTF">2026-09-30T15:51:12.8840000Z</dcterms:modified>
</coreProperties>
</file>