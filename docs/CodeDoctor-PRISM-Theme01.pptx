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304F"/>
                </a:solidFill>
                <a:latin typeface="Calibri"/>
              </a:defRPr>
            </a:pPr>
            <a:r>
              <a:rPr sz="1200" b="0" i="0" u="none" strike="noStrike">
                <a:solidFill>
                  <a:srgbClr val="22304F"/>
                </a:solidFill>
                <a:latin typeface="Calibri"/>
              </a:rPr>
              <a:t>Query-family mix, from query text alone (%)</a:t>
            </a:r>
          </a:p>
        </c:rich>
      </c:tx>
      <c:layout/>
      <c:overlay val="0"/>
    </c:title>
    <c:autoTitleDeleted val="0"/>
    <c:plotArea>
      <c:layout/>
      <c:barChart>
        <c:barDir val="col"/>
        <c:grouping val="clustered"/>
        <c:varyColors val="0"/>
        <c:ser>
          <c:idx val="0"/>
          <c:order val="0"/>
          <c:tx>
            <c:strRef>
              <c:f>Sheet1!$B$1</c:f>
              <c:strCache>
                <c:ptCount val="1"/>
                <c:pt idx="0">
                  <c:v>train (5,000)</c:v>
                </c:pt>
              </c:strCache>
            </c:strRef>
          </c:tx>
          <c:spPr>
            <a:solidFill>
              <a:srgbClr val="9FB2CE"/>
            </a:solidFill>
            <a:effectLst/>
          </c:spPr>
          <c:invertIfNegative val="0"/>
          <c:dLbls>
            <c:numFmt formatCode="0.0" sourceLinked="0"/>
            <c:txPr>
              <a:bodyPr/>
              <a:lstStyle/>
              <a:p>
                <a:pPr>
                  <a:defRPr b="0" i="0" strike="noStrike" sz="900" u="none">
                    <a:solidFill>
                      <a:srgbClr val="39435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competitive-stdin</c:v>
                  </c:pt>
                  <c:pt idx="1">
                    <c:v>kata</c:v>
                  </c:pt>
                  <c:pt idx="2">
                    <c:v>leetcode</c:v>
                  </c:pt>
                  <c:pt idx="3">
                    <c:v>unknown</c:v>
                  </c:pt>
                </c:lvl>
              </c:multiLvlStrCache>
            </c:multiLvlStrRef>
          </c:cat>
          <c:val>
            <c:numRef>
              <c:f>Sheet1!$B$2:$B$5</c:f>
              <c:numCache>
                <c:formatCode>General</c:formatCode>
                <c:ptCount val="4"/>
                <c:pt idx="0">
                  <c:v>34.1</c:v>
                </c:pt>
                <c:pt idx="1">
                  <c:v>43</c:v>
                </c:pt>
                <c:pt idx="2">
                  <c:v>14.6</c:v>
                </c:pt>
                <c:pt idx="3">
                  <c:v>8.2</c:v>
                </c:pt>
              </c:numCache>
            </c:numRef>
          </c:val>
        </c:ser>
        <c:ser>
          <c:idx val="1"/>
          <c:order val="1"/>
          <c:tx>
            <c:strRef>
              <c:f>Sheet1!$C$1</c:f>
              <c:strCache>
                <c:ptCount val="1"/>
                <c:pt idx="0">
                  <c:v>test (3,765)</c:v>
                </c:pt>
              </c:strCache>
            </c:strRef>
          </c:tx>
          <c:spPr>
            <a:solidFill>
              <a:srgbClr val="0F9B82"/>
            </a:solidFill>
            <a:effectLst/>
          </c:spPr>
          <c:invertIfNegative val="0"/>
          <c:dLbls>
            <c:numFmt formatCode="0.0" sourceLinked="0"/>
            <c:txPr>
              <a:bodyPr/>
              <a:lstStyle/>
              <a:p>
                <a:pPr>
                  <a:defRPr b="0" i="0" strike="noStrike" sz="900" u="none">
                    <a:solidFill>
                      <a:srgbClr val="39435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competitive-stdin</c:v>
                  </c:pt>
                  <c:pt idx="1">
                    <c:v>kata</c:v>
                  </c:pt>
                  <c:pt idx="2">
                    <c:v>leetcode</c:v>
                  </c:pt>
                  <c:pt idx="3">
                    <c:v>unknown</c:v>
                  </c:pt>
                </c:lvl>
              </c:multiLvlStrCache>
            </c:multiLvlStrRef>
          </c:cat>
          <c:val>
            <c:numRef>
              <c:f>Sheet1!$C$2:$C$5</c:f>
              <c:numCache>
                <c:formatCode>General</c:formatCode>
                <c:ptCount val="4"/>
                <c:pt idx="0">
                  <c:v>98.4</c:v>
                </c:pt>
                <c:pt idx="1">
                  <c:v>0.1</c:v>
                </c:pt>
                <c:pt idx="2">
                  <c:v>0.8</c:v>
                </c:pt>
                <c:pt idx="3">
                  <c:v>0.8</c:v>
                </c:pt>
              </c:numCache>
            </c:numRef>
          </c:val>
        </c:ser>
        <c:dLbls>
          <c:numFmt formatCode="0.0" sourceLinked="0"/>
          <c:txPr>
            <a:bodyPr/>
            <a:lstStyle/>
            <a:p>
              <a:pPr>
                <a:defRPr b="0" i="0" strike="noStrike" sz="900" u="none">
                  <a:solidFill>
                    <a:srgbClr val="39435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39435A"/>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12700" cap="flat">
              <a:solidFill>
                <a:srgbClr val="E6EB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C879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39435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0.96558 NDCG@10 on the CoIR AppsRetrieval test split, against 0.93756 for the frozen encoder alone. The encoder reproduces its published score, so everything above that line is this project's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Lexical retrieval is close to useless on this corpus — that is a measured property, not an assumption, and it is why there is no BM25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highest-value change in the project, and it is not an algorithm. Worth saying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finding reshaped the whole evaluation setup. Without it, every dev number we produced would have been measuring the wrong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rejected reranker is on this slide deliberately. A gate that never rejects anything is not a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A2E"/>
        </a:solidFill>
      </p:bgPr>
    </p:bg>
    <p:spTree>
      <p:nvGrpSpPr>
        <p:cNvPr id="1" name=""/>
        <p:cNvGrpSpPr/>
        <p:nvPr/>
      </p:nvGrpSpPr>
      <p:grpSpPr>
        <a:xfrm>
          <a:off x="0" y="0"/>
          <a:ext cx="0" cy="0"/>
          <a:chOff x="0" y="0"/>
          <a:chExt cx="0" cy="0"/>
        </a:xfrm>
      </p:grpSpPr>
      <p:sp>
        <p:nvSpPr>
          <p:cNvPr id="2" name="Text 0"/>
          <p:cNvSpPr txBox="1"/>
          <p:nvPr/>
        </p:nvSpPr>
        <p:spPr>
          <a:xfrm>
            <a:off x="566928" y="1051560"/>
            <a:ext cx="7863840" cy="1005840"/>
          </a:xfrm>
          <a:prstGeom prst="rect">
            <a:avLst/>
          </a:prstGeom>
          <a:noFill/>
          <a:ln/>
        </p:spPr>
        <p:txBody>
          <a:bodyPr wrap="square" lIns="0" tIns="0" rIns="0" bIns="0" rtlCol="0" anchor="ctr"/>
          <a:lstStyle/>
          <a:p>
            <a:pPr indent="0" marL="0">
              <a:buNone/>
            </a:pPr>
            <a:r>
              <a:rPr lang="en-US" sz="5800" b="1" dirty="0">
                <a:solidFill>
                  <a:srgbClr val="FFFFFF"/>
                </a:solidFill>
                <a:latin typeface="Calibri" pitchFamily="34" charset="0"/>
                <a:ea typeface="Calibri" pitchFamily="34" charset="-122"/>
                <a:cs typeface="Calibri" pitchFamily="34" charset="-120"/>
              </a:rPr>
              <a:t>CodeDoctor</a:t>
            </a:r>
            <a:endParaRPr lang="en-US" sz="5800" dirty="0"/>
          </a:p>
        </p:txBody>
      </p:sp>
      <p:sp>
        <p:nvSpPr>
          <p:cNvPr id="3" name="Text 1"/>
          <p:cNvSpPr txBox="1"/>
          <p:nvPr/>
        </p:nvSpPr>
        <p:spPr>
          <a:xfrm>
            <a:off x="566928" y="2029968"/>
            <a:ext cx="8046720" cy="457200"/>
          </a:xfrm>
          <a:prstGeom prst="rect">
            <a:avLst/>
          </a:prstGeom>
          <a:noFill/>
          <a:ln/>
        </p:spPr>
        <p:txBody>
          <a:bodyPr wrap="square" lIns="0" tIns="0" rIns="0" bIns="0" rtlCol="0" anchor="ctr"/>
          <a:lstStyle/>
          <a:p>
            <a:pPr indent="0" marL="0">
              <a:buNone/>
            </a:pPr>
            <a:r>
              <a:rPr lang="en-US" sz="1900" dirty="0">
                <a:solidFill>
                  <a:srgbClr val="BFD2EE"/>
                </a:solidFill>
                <a:latin typeface="Calibri" pitchFamily="34" charset="0"/>
                <a:ea typeface="Calibri" pitchFamily="34" charset="-122"/>
                <a:cs typeface="Calibri" pitchFamily="34" charset="-120"/>
              </a:rPr>
              <a:t>Semantic and structural intelligence for code repositories</a:t>
            </a:r>
            <a:endParaRPr lang="en-US" sz="1900" dirty="0"/>
          </a:p>
        </p:txBody>
      </p:sp>
      <p:sp>
        <p:nvSpPr>
          <p:cNvPr id="4" name="Shape 2"/>
          <p:cNvSpPr/>
          <p:nvPr/>
        </p:nvSpPr>
        <p:spPr>
          <a:xfrm>
            <a:off x="566928" y="3063240"/>
            <a:ext cx="4846320" cy="1691640"/>
          </a:xfrm>
          <a:prstGeom prst="roundRect">
            <a:avLst>
              <a:gd name="adj" fmla="val 3784"/>
            </a:avLst>
          </a:prstGeom>
          <a:solidFill>
            <a:srgbClr val="1C2949"/>
          </a:solidFill>
          <a:ln/>
        </p:spPr>
      </p:sp>
      <p:sp>
        <p:nvSpPr>
          <p:cNvPr id="5" name="Text 3"/>
          <p:cNvSpPr txBox="1"/>
          <p:nvPr/>
        </p:nvSpPr>
        <p:spPr>
          <a:xfrm>
            <a:off x="886968" y="3200400"/>
            <a:ext cx="4206240" cy="868680"/>
          </a:xfrm>
          <a:prstGeom prst="rect">
            <a:avLst/>
          </a:prstGeom>
          <a:noFill/>
          <a:ln/>
        </p:spPr>
        <p:txBody>
          <a:bodyPr wrap="square" lIns="0" tIns="0" rIns="0" bIns="0" rtlCol="0" anchor="ctr"/>
          <a:lstStyle/>
          <a:p>
            <a:pPr indent="0" marL="0">
              <a:buNone/>
            </a:pPr>
            <a:r>
              <a:rPr lang="en-US" sz="5400" b="1" dirty="0">
                <a:solidFill>
                  <a:srgbClr val="0F9B82"/>
                </a:solidFill>
                <a:latin typeface="Calibri" pitchFamily="34" charset="0"/>
                <a:ea typeface="Calibri" pitchFamily="34" charset="-122"/>
                <a:cs typeface="Calibri" pitchFamily="34" charset="-120"/>
              </a:rPr>
              <a:t>0.96558</a:t>
            </a:r>
            <a:endParaRPr lang="en-US" sz="5400" dirty="0"/>
          </a:p>
        </p:txBody>
      </p:sp>
      <p:sp>
        <p:nvSpPr>
          <p:cNvPr id="6" name="Text 4"/>
          <p:cNvSpPr txBox="1"/>
          <p:nvPr/>
        </p:nvSpPr>
        <p:spPr>
          <a:xfrm>
            <a:off x="905256" y="4096512"/>
            <a:ext cx="4480560" cy="457200"/>
          </a:xfrm>
          <a:prstGeom prst="rect">
            <a:avLst/>
          </a:prstGeom>
          <a:noFill/>
          <a:ln/>
        </p:spPr>
        <p:txBody>
          <a:bodyPr wrap="square" lIns="0" tIns="0" rIns="0" bIns="0" rtlCol="0" anchor="ctr"/>
          <a:lstStyle/>
          <a:p>
            <a:pPr indent="0" marL="0">
              <a:buNone/>
            </a:pPr>
            <a:r>
              <a:rPr lang="en-US" sz="1100" dirty="0">
                <a:solidFill>
                  <a:srgbClr val="BFD2EE"/>
                </a:solidFill>
                <a:latin typeface="Calibri" pitchFamily="34" charset="0"/>
                <a:ea typeface="Calibri" pitchFamily="34" charset="-122"/>
                <a:cs typeface="Calibri" pitchFamily="34" charset="-120"/>
              </a:rPr>
              <a:t>NDCG@10  ·  CoIR AppsRetrieval test split  ·  MTEB 2.21.0</a:t>
            </a:r>
            <a:endParaRPr lang="en-US" sz="1100" dirty="0"/>
          </a:p>
        </p:txBody>
      </p:sp>
      <p:sp>
        <p:nvSpPr>
          <p:cNvPr id="7" name="Text 5"/>
          <p:cNvSpPr txBox="1"/>
          <p:nvPr/>
        </p:nvSpPr>
        <p:spPr>
          <a:xfrm>
            <a:off x="5916168" y="3310128"/>
            <a:ext cx="2743200" cy="548640"/>
          </a:xfrm>
          <a:prstGeom prst="rect">
            <a:avLst/>
          </a:prstGeom>
          <a:noFill/>
          <a:ln/>
        </p:spPr>
        <p:txBody>
          <a:bodyPr wrap="square" lIns="0" tIns="0" rIns="0" bIns="0" rtlCol="0" anchor="ctr"/>
          <a:lstStyle/>
          <a:p>
            <a:pPr indent="0" marL="0">
              <a:buNone/>
            </a:pPr>
            <a:r>
              <a:rPr lang="en-US" sz="3000" b="1" dirty="0">
                <a:solidFill>
                  <a:srgbClr val="8FA2C4"/>
                </a:solidFill>
                <a:latin typeface="Calibri" pitchFamily="34" charset="0"/>
                <a:ea typeface="Calibri" pitchFamily="34" charset="-122"/>
                <a:cs typeface="Calibri" pitchFamily="34" charset="-120"/>
              </a:rPr>
              <a:t>0.93756</a:t>
            </a:r>
            <a:endParaRPr lang="en-US" sz="3000" dirty="0"/>
          </a:p>
        </p:txBody>
      </p:sp>
      <p:sp>
        <p:nvSpPr>
          <p:cNvPr id="8" name="Text 6"/>
          <p:cNvSpPr txBox="1"/>
          <p:nvPr/>
        </p:nvSpPr>
        <p:spPr>
          <a:xfrm>
            <a:off x="5934456" y="3877056"/>
            <a:ext cx="2926080" cy="548640"/>
          </a:xfrm>
          <a:prstGeom prst="rect">
            <a:avLst/>
          </a:prstGeom>
          <a:noFill/>
          <a:ln/>
        </p:spPr>
        <p:txBody>
          <a:bodyPr wrap="square" lIns="0" tIns="0" rIns="0" bIns="0" rtlCol="0" anchor="ctr"/>
          <a:lstStyle/>
          <a:p>
            <a:pPr indent="0" marL="0">
              <a:lnSpc>
                <a:spcPct val="110000"/>
              </a:lnSpc>
              <a:buNone/>
            </a:pPr>
            <a:r>
              <a:rPr lang="en-US" sz="1100" dirty="0">
                <a:solidFill>
                  <a:srgbClr val="7C879B"/>
                </a:solidFill>
                <a:latin typeface="Calibri" pitchFamily="34" charset="0"/>
                <a:ea typeface="Calibri" pitchFamily="34" charset="-122"/>
                <a:cs typeface="Calibri" pitchFamily="34" charset="-120"/>
              </a:rPr>
              <a:t>frozen encoder alone</a:t>
            </a:r>
            <a:endParaRPr lang="en-US" sz="1100" dirty="0"/>
          </a:p>
          <a:p>
            <a:pPr indent="0" marL="0">
              <a:lnSpc>
                <a:spcPct val="110000"/>
              </a:lnSpc>
              <a:buNone/>
            </a:pPr>
            <a:r>
              <a:rPr lang="en-US" sz="1100" dirty="0">
                <a:solidFill>
                  <a:srgbClr val="7C879B"/>
                </a:solidFill>
                <a:latin typeface="Calibri" pitchFamily="34" charset="0"/>
                <a:ea typeface="Calibri" pitchFamily="34" charset="-122"/>
                <a:cs typeface="Calibri" pitchFamily="34" charset="-120"/>
              </a:rPr>
              <a:t>(published: 0.93690)</a:t>
            </a:r>
            <a:endParaRPr lang="en-US" sz="1100" dirty="0"/>
          </a:p>
        </p:txBody>
      </p:sp>
      <p:sp>
        <p:nvSpPr>
          <p:cNvPr id="9" name="Text 7"/>
          <p:cNvSpPr txBox="1"/>
          <p:nvPr/>
        </p:nvSpPr>
        <p:spPr>
          <a:xfrm>
            <a:off x="566928" y="5074920"/>
            <a:ext cx="8595360" cy="640080"/>
          </a:xfrm>
          <a:prstGeom prst="rect">
            <a:avLst/>
          </a:prstGeom>
          <a:noFill/>
          <a:ln/>
        </p:spPr>
        <p:txBody>
          <a:bodyPr wrap="square" lIns="0" tIns="0" rIns="0" bIns="0" rtlCol="0" anchor="ctr"/>
          <a:lstStyle/>
          <a:p>
            <a:pPr indent="0" marL="0">
              <a:lnSpc>
                <a:spcPct val="120000"/>
              </a:lnSpc>
              <a:buNone/>
            </a:pPr>
            <a:r>
              <a:rPr lang="en-US" sz="1300" dirty="0">
                <a:solidFill>
                  <a:srgbClr val="A9B7D0"/>
                </a:solidFill>
                <a:latin typeface="Calibri" pitchFamily="34" charset="0"/>
                <a:ea typeface="Calibri" pitchFamily="34" charset="-122"/>
                <a:cs typeface="Calibri" pitchFamily="34" charset="-120"/>
              </a:rPr>
              <a:t>Three passes over one frozen CPU encoder — and an honest account of</a:t>
            </a:r>
            <a:endParaRPr lang="en-US" sz="1300" dirty="0"/>
          </a:p>
          <a:p>
            <a:pPr indent="0" marL="0">
              <a:lnSpc>
                <a:spcPct val="120000"/>
              </a:lnSpc>
              <a:buNone/>
            </a:pPr>
            <a:r>
              <a:rPr lang="en-US" sz="1300" dirty="0">
                <a:solidFill>
                  <a:srgbClr val="A9B7D0"/>
                </a:solidFill>
                <a:latin typeface="Calibri" pitchFamily="34" charset="0"/>
                <a:ea typeface="Calibri" pitchFamily="34" charset="-122"/>
                <a:cs typeface="Calibri" pitchFamily="34" charset="-120"/>
              </a:rPr>
              <a:t>what each pass bought, including the two that bought nothing.</a:t>
            </a:r>
            <a:endParaRPr lang="en-US" sz="1300" dirty="0"/>
          </a:p>
        </p:txBody>
      </p:sp>
      <p:sp>
        <p:nvSpPr>
          <p:cNvPr id="10" name="Text 8"/>
          <p:cNvSpPr txBox="1"/>
          <p:nvPr/>
        </p:nvSpPr>
        <p:spPr>
          <a:xfrm>
            <a:off x="566928" y="5989320"/>
            <a:ext cx="7315200" cy="548640"/>
          </a:xfrm>
          <a:prstGeom prst="rect">
            <a:avLst/>
          </a:prstGeom>
          <a:noFill/>
          <a:ln/>
        </p:spPr>
        <p:txBody>
          <a:bodyPr wrap="square" lIns="0" tIns="0" rIns="0" bIns="0" rtlCol="0" anchor="ctr"/>
          <a:lstStyle/>
          <a:p>
            <a:pPr indent="0" marL="0">
              <a:lnSpc>
                <a:spcPct val="115000"/>
              </a:lnSpc>
              <a:buNone/>
            </a:pPr>
            <a:r>
              <a:rPr lang="en-US" sz="1100" b="1" dirty="0">
                <a:solidFill>
                  <a:srgbClr val="7C879B"/>
                </a:solidFill>
                <a:latin typeface="Calibri" pitchFamily="34" charset="0"/>
                <a:ea typeface="Calibri" pitchFamily="34" charset="-122"/>
                <a:cs typeface="Calibri" pitchFamily="34" charset="-120"/>
              </a:rPr>
              <a:t>Samsung PRISM GenAI Hackathon 2026</a:t>
            </a:r>
            <a:endParaRPr lang="en-US" sz="1100" dirty="0"/>
          </a:p>
          <a:p>
            <a:pPr indent="0" marL="0">
              <a:lnSpc>
                <a:spcPct val="115000"/>
              </a:lnSpc>
              <a:buNone/>
            </a:pPr>
            <a:r>
              <a:rPr lang="en-US" sz="1100" b="1" dirty="0">
                <a:solidFill>
                  <a:srgbClr val="7C879B"/>
                </a:solidFill>
                <a:latin typeface="Calibri" pitchFamily="34" charset="0"/>
                <a:ea typeface="Calibri" pitchFamily="34" charset="-122"/>
                <a:cs typeface="Calibri" pitchFamily="34" charset="-120"/>
              </a:rPr>
              <a:t>Theme 01 — Agentic Code Intelligence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27664" cy="237744"/>
          </a:xfrm>
          <a:prstGeom prst="rect">
            <a:avLst/>
          </a:prstGeom>
          <a:noFill/>
          <a:ln/>
        </p:spPr>
        <p:txBody>
          <a:bodyPr wrap="square" lIns="0" tIns="0" rIns="0" bIns="0" rtlCol="0" anchor="ctr"/>
          <a:lstStyle/>
          <a:p>
            <a:pPr indent="0" marL="0">
              <a:buNone/>
            </a:pPr>
            <a:r>
              <a:rPr lang="en-US" sz="1100" b="1" spc="160" kern="0" dirty="0">
                <a:solidFill>
                  <a:srgbClr val="0F9B82"/>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66928" y="566928"/>
            <a:ext cx="11027664" cy="731520"/>
          </a:xfrm>
          <a:prstGeom prst="rect">
            <a:avLst/>
          </a:prstGeom>
          <a:noFill/>
          <a:ln/>
        </p:spPr>
        <p:txBody>
          <a:bodyPr wrap="square" lIns="0" tIns="0" rIns="0" bIns="0" rtlCol="0" anchor="ctr"/>
          <a:lstStyle/>
          <a:p>
            <a:pPr indent="0" marL="0">
              <a:buNone/>
            </a:pPr>
            <a:r>
              <a:rPr lang="en-US" sz="3400" b="1" dirty="0">
                <a:solidFill>
                  <a:srgbClr val="22304F"/>
                </a:solidFill>
                <a:latin typeface="Calibri" pitchFamily="34" charset="0"/>
                <a:ea typeface="Calibri" pitchFamily="34" charset="-122"/>
                <a:cs typeface="Calibri" pitchFamily="34" charset="-120"/>
              </a:rPr>
              <a:t>Rank code by what a sentence means</a:t>
            </a:r>
            <a:endParaRPr lang="en-US" sz="3400" dirty="0"/>
          </a:p>
        </p:txBody>
      </p:sp>
      <p:sp>
        <p:nvSpPr>
          <p:cNvPr id="4" name="Text 2"/>
          <p:cNvSpPr txBox="1"/>
          <p:nvPr/>
        </p:nvSpPr>
        <p:spPr>
          <a:xfrm>
            <a:off x="566928" y="1481328"/>
            <a:ext cx="11027664" cy="365760"/>
          </a:xfrm>
          <a:prstGeom prst="rect">
            <a:avLst/>
          </a:prstGeom>
          <a:noFill/>
          <a:ln/>
        </p:spPr>
        <p:txBody>
          <a:bodyPr wrap="square" lIns="0" tIns="0" rIns="0" bIns="0" rtlCol="0" anchor="t"/>
          <a:lstStyle/>
          <a:p>
            <a:pPr algn="l" indent="0" marL="0">
              <a:lnSpc>
                <a:spcPct val="112000"/>
              </a:lnSpc>
              <a:buNone/>
            </a:pPr>
            <a:r>
              <a:rPr lang="en-US" sz="1700" dirty="0">
                <a:solidFill>
                  <a:srgbClr val="22304F"/>
                </a:solidFill>
                <a:latin typeface="Calibri" pitchFamily="34" charset="0"/>
                <a:ea typeface="Calibri" pitchFamily="34" charset="-122"/>
                <a:cs typeface="Calibri" pitchFamily="34" charset="-120"/>
              </a:rPr>
              <a:t>Given a library of code and a natural-language query, rank the snippets by relevance.</a:t>
            </a:r>
            <a:endParaRPr lang="en-US" sz="1700" dirty="0"/>
          </a:p>
        </p:txBody>
      </p:sp>
      <p:sp>
        <p:nvSpPr>
          <p:cNvPr id="5" name="Shape 3"/>
          <p:cNvSpPr/>
          <p:nvPr/>
        </p:nvSpPr>
        <p:spPr>
          <a:xfrm>
            <a:off x="566928" y="2148840"/>
            <a:ext cx="2578608" cy="1508760"/>
          </a:xfrm>
          <a:prstGeom prst="roundRect">
            <a:avLst>
              <a:gd name="adj" fmla="val 4242"/>
            </a:avLst>
          </a:prstGeom>
          <a:solidFill>
            <a:srgbClr val="EEF2F8"/>
          </a:solidFill>
          <a:ln/>
        </p:spPr>
      </p:sp>
      <p:sp>
        <p:nvSpPr>
          <p:cNvPr id="6" name="Text 4"/>
          <p:cNvSpPr txBox="1"/>
          <p:nvPr/>
        </p:nvSpPr>
        <p:spPr>
          <a:xfrm>
            <a:off x="786384" y="2359152"/>
            <a:ext cx="2139696" cy="384048"/>
          </a:xfrm>
          <a:prstGeom prst="rect">
            <a:avLst/>
          </a:prstGeom>
          <a:noFill/>
          <a:ln/>
        </p:spPr>
        <p:txBody>
          <a:bodyPr wrap="square" lIns="0" tIns="0" rIns="0" bIns="0" rtlCol="0" anchor="t"/>
          <a:lstStyle/>
          <a:p>
            <a:pPr algn="l" indent="0" marL="0">
              <a:lnSpc>
                <a:spcPct val="112000"/>
              </a:lnSpc>
              <a:buNone/>
            </a:pPr>
            <a:r>
              <a:rPr lang="en-US" sz="1900" b="1" dirty="0">
                <a:solidFill>
                  <a:srgbClr val="0F9B82"/>
                </a:solidFill>
                <a:latin typeface="Calibri" pitchFamily="34" charset="0"/>
                <a:ea typeface="Calibri" pitchFamily="34" charset="-122"/>
                <a:cs typeface="Calibri" pitchFamily="34" charset="-120"/>
              </a:rPr>
              <a:t>Thousands</a:t>
            </a:r>
            <a:endParaRPr lang="en-US" sz="1900" dirty="0"/>
          </a:p>
        </p:txBody>
      </p:sp>
      <p:sp>
        <p:nvSpPr>
          <p:cNvPr id="7" name="Text 5"/>
          <p:cNvSpPr txBox="1"/>
          <p:nvPr/>
        </p:nvSpPr>
        <p:spPr>
          <a:xfrm>
            <a:off x="786384" y="2779776"/>
            <a:ext cx="2139696" cy="77724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of snippets in the corpus</a:t>
            </a:r>
            <a:endParaRPr lang="en-US" sz="1200" dirty="0"/>
          </a:p>
        </p:txBody>
      </p:sp>
      <p:sp>
        <p:nvSpPr>
          <p:cNvPr id="8" name="Shape 6"/>
          <p:cNvSpPr/>
          <p:nvPr/>
        </p:nvSpPr>
        <p:spPr>
          <a:xfrm>
            <a:off x="3383280" y="2148840"/>
            <a:ext cx="2578608" cy="1508760"/>
          </a:xfrm>
          <a:prstGeom prst="roundRect">
            <a:avLst>
              <a:gd name="adj" fmla="val 4242"/>
            </a:avLst>
          </a:prstGeom>
          <a:solidFill>
            <a:srgbClr val="EEF2F8"/>
          </a:solidFill>
          <a:ln/>
        </p:spPr>
      </p:sp>
      <p:sp>
        <p:nvSpPr>
          <p:cNvPr id="9" name="Text 7"/>
          <p:cNvSpPr txBox="1"/>
          <p:nvPr/>
        </p:nvSpPr>
        <p:spPr>
          <a:xfrm>
            <a:off x="3602736" y="2359152"/>
            <a:ext cx="2139696" cy="384048"/>
          </a:xfrm>
          <a:prstGeom prst="rect">
            <a:avLst/>
          </a:prstGeom>
          <a:noFill/>
          <a:ln/>
        </p:spPr>
        <p:txBody>
          <a:bodyPr wrap="square" lIns="0" tIns="0" rIns="0" bIns="0" rtlCol="0" anchor="t"/>
          <a:lstStyle/>
          <a:p>
            <a:pPr algn="l" indent="0" marL="0">
              <a:lnSpc>
                <a:spcPct val="112000"/>
              </a:lnSpc>
              <a:buNone/>
            </a:pPr>
            <a:r>
              <a:rPr lang="en-US" sz="1900" b="1" dirty="0">
                <a:solidFill>
                  <a:srgbClr val="0F9B82"/>
                </a:solidFill>
                <a:latin typeface="Calibri" pitchFamily="34" charset="0"/>
                <a:ea typeface="Calibri" pitchFamily="34" charset="-122"/>
                <a:cs typeface="Calibri" pitchFamily="34" charset="-120"/>
              </a:rPr>
              <a:t>Arbitrary</a:t>
            </a:r>
            <a:endParaRPr lang="en-US" sz="1900" dirty="0"/>
          </a:p>
        </p:txBody>
      </p:sp>
      <p:sp>
        <p:nvSpPr>
          <p:cNvPr id="10" name="Text 8"/>
          <p:cNvSpPr txBox="1"/>
          <p:nvPr/>
        </p:nvSpPr>
        <p:spPr>
          <a:xfrm>
            <a:off x="3602736" y="2779776"/>
            <a:ext cx="2139696" cy="77724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snippet length — 225 tokens on average, 289,002 at the tail</a:t>
            </a:r>
            <a:endParaRPr lang="en-US" sz="1200" dirty="0"/>
          </a:p>
        </p:txBody>
      </p:sp>
      <p:sp>
        <p:nvSpPr>
          <p:cNvPr id="11" name="Shape 9"/>
          <p:cNvSpPr/>
          <p:nvPr/>
        </p:nvSpPr>
        <p:spPr>
          <a:xfrm>
            <a:off x="6199632" y="2148840"/>
            <a:ext cx="2578608" cy="1508760"/>
          </a:xfrm>
          <a:prstGeom prst="roundRect">
            <a:avLst>
              <a:gd name="adj" fmla="val 4242"/>
            </a:avLst>
          </a:prstGeom>
          <a:solidFill>
            <a:srgbClr val="EEF2F8"/>
          </a:solidFill>
          <a:ln/>
        </p:spPr>
      </p:sp>
      <p:sp>
        <p:nvSpPr>
          <p:cNvPr id="12" name="Text 10"/>
          <p:cNvSpPr txBox="1"/>
          <p:nvPr/>
        </p:nvSpPr>
        <p:spPr>
          <a:xfrm>
            <a:off x="6419088" y="2359152"/>
            <a:ext cx="2139696" cy="384048"/>
          </a:xfrm>
          <a:prstGeom prst="rect">
            <a:avLst/>
          </a:prstGeom>
          <a:noFill/>
          <a:ln/>
        </p:spPr>
        <p:txBody>
          <a:bodyPr wrap="square" lIns="0" tIns="0" rIns="0" bIns="0" rtlCol="0" anchor="t"/>
          <a:lstStyle/>
          <a:p>
            <a:pPr algn="l" indent="0" marL="0">
              <a:lnSpc>
                <a:spcPct val="112000"/>
              </a:lnSpc>
              <a:buNone/>
            </a:pPr>
            <a:r>
              <a:rPr lang="en-US" sz="1900" b="1" dirty="0">
                <a:solidFill>
                  <a:srgbClr val="0F9B82"/>
                </a:solidFill>
                <a:latin typeface="Calibri" pitchFamily="34" charset="0"/>
                <a:ea typeface="Calibri" pitchFamily="34" charset="-122"/>
                <a:cs typeface="Calibri" pitchFamily="34" charset="-120"/>
              </a:rPr>
              <a:t>CPU only</a:t>
            </a:r>
            <a:endParaRPr lang="en-US" sz="1900" dirty="0"/>
          </a:p>
        </p:txBody>
      </p:sp>
      <p:sp>
        <p:nvSpPr>
          <p:cNvPr id="13" name="Text 11"/>
          <p:cNvSpPr txBox="1"/>
          <p:nvPr/>
        </p:nvSpPr>
        <p:spPr>
          <a:xfrm>
            <a:off x="6419088" y="2779776"/>
            <a:ext cx="2139696" cy="77724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no GPU at query time</a:t>
            </a:r>
            <a:endParaRPr lang="en-US" sz="1200" dirty="0"/>
          </a:p>
        </p:txBody>
      </p:sp>
      <p:sp>
        <p:nvSpPr>
          <p:cNvPr id="14" name="Shape 12"/>
          <p:cNvSpPr/>
          <p:nvPr/>
        </p:nvSpPr>
        <p:spPr>
          <a:xfrm>
            <a:off x="9015984" y="2148840"/>
            <a:ext cx="2578608" cy="1508760"/>
          </a:xfrm>
          <a:prstGeom prst="roundRect">
            <a:avLst>
              <a:gd name="adj" fmla="val 4242"/>
            </a:avLst>
          </a:prstGeom>
          <a:solidFill>
            <a:srgbClr val="EEF2F8"/>
          </a:solidFill>
          <a:ln/>
        </p:spPr>
      </p:sp>
      <p:sp>
        <p:nvSpPr>
          <p:cNvPr id="15" name="Text 13"/>
          <p:cNvSpPr txBox="1"/>
          <p:nvPr/>
        </p:nvSpPr>
        <p:spPr>
          <a:xfrm>
            <a:off x="9235440" y="2359152"/>
            <a:ext cx="2139696" cy="384048"/>
          </a:xfrm>
          <a:prstGeom prst="rect">
            <a:avLst/>
          </a:prstGeom>
          <a:noFill/>
          <a:ln/>
        </p:spPr>
        <p:txBody>
          <a:bodyPr wrap="square" lIns="0" tIns="0" rIns="0" bIns="0" rtlCol="0" anchor="t"/>
          <a:lstStyle/>
          <a:p>
            <a:pPr algn="l" indent="0" marL="0">
              <a:lnSpc>
                <a:spcPct val="112000"/>
              </a:lnSpc>
              <a:buNone/>
            </a:pPr>
            <a:r>
              <a:rPr lang="en-US" sz="1900" b="1" dirty="0">
                <a:solidFill>
                  <a:srgbClr val="0F9B82"/>
                </a:solidFill>
                <a:latin typeface="Calibri" pitchFamily="34" charset="0"/>
                <a:ea typeface="Calibri" pitchFamily="34" charset="-122"/>
                <a:cs typeface="Calibri" pitchFamily="34" charset="-120"/>
              </a:rPr>
              <a:t>Sub-second</a:t>
            </a:r>
            <a:endParaRPr lang="en-US" sz="1900" dirty="0"/>
          </a:p>
        </p:txBody>
      </p:sp>
      <p:sp>
        <p:nvSpPr>
          <p:cNvPr id="16" name="Text 14"/>
          <p:cNvSpPr txBox="1"/>
          <p:nvPr/>
        </p:nvSpPr>
        <p:spPr>
          <a:xfrm>
            <a:off x="9235440" y="2779776"/>
            <a:ext cx="2139696" cy="77724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retrieval is the first step, so it cannot be the slow one</a:t>
            </a:r>
            <a:endParaRPr lang="en-US" sz="1200" dirty="0"/>
          </a:p>
        </p:txBody>
      </p:sp>
      <p:sp>
        <p:nvSpPr>
          <p:cNvPr id="17" name="Shape 15"/>
          <p:cNvSpPr/>
          <p:nvPr/>
        </p:nvSpPr>
        <p:spPr>
          <a:xfrm>
            <a:off x="566928" y="3977640"/>
            <a:ext cx="11027664" cy="777240"/>
          </a:xfrm>
          <a:prstGeom prst="roundRect">
            <a:avLst>
              <a:gd name="adj" fmla="val 8235"/>
            </a:avLst>
          </a:prstGeom>
          <a:solidFill>
            <a:srgbClr val="F7F3EF"/>
          </a:solidFill>
          <a:ln/>
        </p:spPr>
      </p:sp>
      <p:sp>
        <p:nvSpPr>
          <p:cNvPr id="18" name="Text 16"/>
          <p:cNvSpPr txBox="1"/>
          <p:nvPr/>
        </p:nvSpPr>
        <p:spPr>
          <a:xfrm>
            <a:off x="841248" y="4142232"/>
            <a:ext cx="1828800" cy="274320"/>
          </a:xfrm>
          <a:prstGeom prst="rect">
            <a:avLst/>
          </a:prstGeom>
          <a:noFill/>
          <a:ln/>
        </p:spPr>
        <p:txBody>
          <a:bodyPr wrap="square" lIns="0" tIns="0" rIns="0" bIns="0" rtlCol="0" anchor="t"/>
          <a:lstStyle/>
          <a:p>
            <a:pPr algn="l" indent="0" marL="0">
              <a:lnSpc>
                <a:spcPct val="112000"/>
              </a:lnSpc>
              <a:buNone/>
            </a:pPr>
            <a:r>
              <a:rPr lang="en-US" sz="1200" b="1" dirty="0">
                <a:solidFill>
                  <a:srgbClr val="C65B3F"/>
                </a:solidFill>
                <a:latin typeface="Calibri" pitchFamily="34" charset="0"/>
                <a:ea typeface="Calibri" pitchFamily="34" charset="-122"/>
                <a:cs typeface="Calibri" pitchFamily="34" charset="-120"/>
              </a:rPr>
              <a:t>Not in scope</a:t>
            </a:r>
            <a:endParaRPr lang="en-US" sz="1200" dirty="0"/>
          </a:p>
        </p:txBody>
      </p:sp>
      <p:sp>
        <p:nvSpPr>
          <p:cNvPr id="19" name="Text 17"/>
          <p:cNvSpPr txBox="1"/>
          <p:nvPr/>
        </p:nvSpPr>
        <p:spPr>
          <a:xfrm>
            <a:off x="2487168" y="4142232"/>
            <a:ext cx="8833104" cy="365760"/>
          </a:xfrm>
          <a:prstGeom prst="rect">
            <a:avLst/>
          </a:prstGeom>
          <a:noFill/>
          <a:ln/>
        </p:spPr>
        <p:txBody>
          <a:bodyPr wrap="square" lIns="0" tIns="0" rIns="0" bIns="0" rtlCol="0" anchor="t"/>
          <a:lstStyle/>
          <a:p>
            <a:pPr algn="l" indent="0" marL="0">
              <a:lnSpc>
                <a:spcPct val="112000"/>
              </a:lnSpc>
              <a:buNone/>
            </a:pPr>
            <a:r>
              <a:rPr lang="en-US" sz="1300" dirty="0">
                <a:solidFill>
                  <a:srgbClr val="39435A"/>
                </a:solidFill>
                <a:latin typeface="Calibri" pitchFamily="34" charset="0"/>
                <a:ea typeface="Calibri" pitchFamily="34" charset="-122"/>
                <a:cs typeface="Calibri" pitchFamily="34" charset="-120"/>
              </a:rPr>
              <a:t>Generating an answer.  Explaining the results.  This is the retrieval stage only.</a:t>
            </a:r>
            <a:endParaRPr lang="en-US" sz="1300" dirty="0"/>
          </a:p>
        </p:txBody>
      </p:sp>
      <p:sp>
        <p:nvSpPr>
          <p:cNvPr id="20" name="Text 18"/>
          <p:cNvSpPr txBox="1"/>
          <p:nvPr/>
        </p:nvSpPr>
        <p:spPr>
          <a:xfrm>
            <a:off x="566928" y="5029200"/>
            <a:ext cx="11027664" cy="1005840"/>
          </a:xfrm>
          <a:prstGeom prst="rect">
            <a:avLst/>
          </a:prstGeom>
          <a:noFill/>
          <a:ln/>
        </p:spPr>
        <p:txBody>
          <a:bodyPr wrap="square" lIns="0" tIns="0" rIns="0" bIns="0" rtlCol="0" anchor="t"/>
          <a:lstStyle/>
          <a:p>
            <a:pPr algn="l" indent="0" marL="0">
              <a:lnSpc>
                <a:spcPct val="112000"/>
              </a:lnSpc>
              <a:buNone/>
            </a:pPr>
            <a:r>
              <a:rPr lang="en-US" sz="1300" dirty="0">
                <a:solidFill>
                  <a:srgbClr val="7C879B"/>
                </a:solidFill>
                <a:latin typeface="Calibri" pitchFamily="34" charset="0"/>
                <a:ea typeface="Calibri" pitchFamily="34" charset="-122"/>
                <a:cs typeface="Calibri" pitchFamily="34" charset="-120"/>
              </a:rPr>
              <a:t>The corpus is competitive-programming Python: problem statements as queries, the programs that solve them as documents. A statement says “find the last two digits of 5^n”; the answer is a loop over int(input()). Query and document share almost no vocabulary, which is why there is no lexical pass in this system.</a:t>
            </a:r>
            <a:endParaRPr lang="en-US" sz="1300" dirty="0"/>
          </a:p>
        </p:txBody>
      </p:sp>
      <p:sp>
        <p:nvSpPr>
          <p:cNvPr id="21" name="Text 19"/>
          <p:cNvSpPr txBox="1"/>
          <p:nvPr/>
        </p:nvSpPr>
        <p:spPr>
          <a:xfrm>
            <a:off x="566928" y="6327648"/>
            <a:ext cx="10479024" cy="274320"/>
          </a:xfrm>
          <a:prstGeom prst="rect">
            <a:avLst/>
          </a:prstGeom>
          <a:noFill/>
          <a:ln/>
        </p:spPr>
        <p:txBody>
          <a:bodyPr wrap="square" lIns="0" tIns="0" rIns="0" bIns="0" rtlCol="0" anchor="ctr"/>
          <a:lstStyle/>
          <a:p>
            <a:pPr indent="0" marL="0">
              <a:buNone/>
            </a:pPr>
            <a:r>
              <a:rPr lang="en-US" sz="900" dirty="0">
                <a:solidFill>
                  <a:srgbClr val="7C879B"/>
                </a:solidFill>
                <a:latin typeface="Calibri" pitchFamily="34" charset="0"/>
                <a:ea typeface="Calibri" pitchFamily="34" charset="-122"/>
                <a:cs typeface="Calibri" pitchFamily="34" charset="-120"/>
              </a:rPr>
              <a:t>CodeDoctor  ·  Samsung PRISM GenAI Hackathon 2026  ·  Theme 01</a:t>
            </a:r>
            <a:endParaRPr lang="en-US" sz="900" dirty="0"/>
          </a:p>
        </p:txBody>
      </p:sp>
      <p:sp>
        <p:nvSpPr>
          <p:cNvPr id="22" name="Text 20"/>
          <p:cNvSpPr txBox="1"/>
          <p:nvPr/>
        </p:nvSpPr>
        <p:spPr>
          <a:xfrm>
            <a:off x="11045952" y="6327648"/>
            <a:ext cx="548640" cy="274320"/>
          </a:xfrm>
          <a:prstGeom prst="rect">
            <a:avLst/>
          </a:prstGeom>
          <a:noFill/>
          <a:ln/>
        </p:spPr>
        <p:txBody>
          <a:bodyPr wrap="square" lIns="0" tIns="0" rIns="0" bIns="0" rtlCol="0" anchor="ctr"/>
          <a:lstStyle/>
          <a:p>
            <a:pPr algn="r" indent="0" marL="0">
              <a:buNone/>
            </a:pPr>
            <a:r>
              <a:rPr lang="en-US" sz="900" dirty="0">
                <a:solidFill>
                  <a:srgbClr val="7C879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27664" cy="237744"/>
          </a:xfrm>
          <a:prstGeom prst="rect">
            <a:avLst/>
          </a:prstGeom>
          <a:noFill/>
          <a:ln/>
        </p:spPr>
        <p:txBody>
          <a:bodyPr wrap="square" lIns="0" tIns="0" rIns="0" bIns="0" rtlCol="0" anchor="ctr"/>
          <a:lstStyle/>
          <a:p>
            <a:pPr indent="0" marL="0">
              <a:buNone/>
            </a:pPr>
            <a:r>
              <a:rPr lang="en-US" sz="1100" b="1" spc="160" kern="0" dirty="0">
                <a:solidFill>
                  <a:srgbClr val="0F9B82"/>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566928" y="566928"/>
            <a:ext cx="11027664" cy="731520"/>
          </a:xfrm>
          <a:prstGeom prst="rect">
            <a:avLst/>
          </a:prstGeom>
          <a:noFill/>
          <a:ln/>
        </p:spPr>
        <p:txBody>
          <a:bodyPr wrap="square" lIns="0" tIns="0" rIns="0" bIns="0" rtlCol="0" anchor="ctr"/>
          <a:lstStyle/>
          <a:p>
            <a:pPr indent="0" marL="0">
              <a:buNone/>
            </a:pPr>
            <a:r>
              <a:rPr lang="en-US" sz="3400" b="1" dirty="0">
                <a:solidFill>
                  <a:srgbClr val="22304F"/>
                </a:solidFill>
                <a:latin typeface="Calibri" pitchFamily="34" charset="0"/>
                <a:ea typeface="Calibri" pitchFamily="34" charset="-122"/>
                <a:cs typeface="Calibri" pitchFamily="34" charset="-120"/>
              </a:rPr>
              <a:t>One frozen encoder, two passes on top</a:t>
            </a:r>
            <a:endParaRPr lang="en-US" sz="3400" dirty="0"/>
          </a:p>
        </p:txBody>
      </p:sp>
      <p:sp>
        <p:nvSpPr>
          <p:cNvPr id="4" name="Shape 2"/>
          <p:cNvSpPr/>
          <p:nvPr/>
        </p:nvSpPr>
        <p:spPr>
          <a:xfrm>
            <a:off x="1024128" y="1481328"/>
            <a:ext cx="3749040" cy="676656"/>
          </a:xfrm>
          <a:prstGeom prst="roundRect">
            <a:avLst>
              <a:gd name="adj" fmla="val 9459"/>
            </a:avLst>
          </a:prstGeom>
          <a:solidFill>
            <a:srgbClr val="EEF2F8"/>
          </a:solidFill>
          <a:ln/>
        </p:spPr>
      </p:sp>
      <p:sp>
        <p:nvSpPr>
          <p:cNvPr id="5" name="Text 3"/>
          <p:cNvSpPr txBox="1"/>
          <p:nvPr/>
        </p:nvSpPr>
        <p:spPr>
          <a:xfrm>
            <a:off x="1207008" y="1600200"/>
            <a:ext cx="3383280" cy="256032"/>
          </a:xfrm>
          <a:prstGeom prst="rect">
            <a:avLst/>
          </a:prstGeom>
          <a:noFill/>
          <a:ln/>
        </p:spPr>
        <p:txBody>
          <a:bodyPr wrap="square" lIns="0" tIns="0" rIns="0" bIns="0" rtlCol="0" anchor="t"/>
          <a:lstStyle/>
          <a:p>
            <a:pPr algn="l" indent="0" marL="0">
              <a:lnSpc>
                <a:spcPct val="112000"/>
              </a:lnSpc>
              <a:buNone/>
            </a:pPr>
            <a:r>
              <a:rPr lang="en-US" sz="1300" b="1" dirty="0">
                <a:solidFill>
                  <a:srgbClr val="22304F"/>
                </a:solidFill>
                <a:latin typeface="Calibri" pitchFamily="34" charset="0"/>
                <a:ea typeface="Calibri" pitchFamily="34" charset="-122"/>
                <a:cs typeface="Calibri" pitchFamily="34" charset="-120"/>
              </a:rPr>
              <a:t>Categorize the query</a:t>
            </a:r>
            <a:endParaRPr lang="en-US" sz="1300" dirty="0"/>
          </a:p>
        </p:txBody>
      </p:sp>
      <p:sp>
        <p:nvSpPr>
          <p:cNvPr id="6" name="Text 4"/>
          <p:cNvSpPr txBox="1"/>
          <p:nvPr/>
        </p:nvSpPr>
        <p:spPr>
          <a:xfrm>
            <a:off x="1207008" y="1865376"/>
            <a:ext cx="3383280" cy="237744"/>
          </a:xfrm>
          <a:prstGeom prst="rect">
            <a:avLst/>
          </a:prstGeom>
          <a:noFill/>
          <a:ln/>
        </p:spPr>
        <p:txBody>
          <a:bodyPr wrap="square" lIns="0" tIns="0" rIns="0" bIns="0" rtlCol="0" anchor="t"/>
          <a:lstStyle/>
          <a:p>
            <a:pPr algn="l" indent="0" marL="0">
              <a:lnSpc>
                <a:spcPct val="112000"/>
              </a:lnSpc>
              <a:buNone/>
            </a:pPr>
            <a:r>
              <a:rPr lang="en-US" sz="1100" dirty="0">
                <a:solidFill>
                  <a:srgbClr val="7C879B"/>
                </a:solidFill>
                <a:latin typeface="Calibri" pitchFamily="34" charset="0"/>
                <a:ea typeface="Calibri" pitchFamily="34" charset="-122"/>
                <a:cs typeface="Calibri" pitchFamily="34" charset="-120"/>
              </a:rPr>
              <a:t>family · identifiers · literals</a:t>
            </a:r>
            <a:endParaRPr lang="en-US" sz="1100" dirty="0"/>
          </a:p>
        </p:txBody>
      </p:sp>
      <p:sp>
        <p:nvSpPr>
          <p:cNvPr id="7" name="Shape 5"/>
          <p:cNvSpPr/>
          <p:nvPr/>
        </p:nvSpPr>
        <p:spPr>
          <a:xfrm>
            <a:off x="7388352" y="1481328"/>
            <a:ext cx="3749040" cy="676656"/>
          </a:xfrm>
          <a:prstGeom prst="roundRect">
            <a:avLst>
              <a:gd name="adj" fmla="val 9459"/>
            </a:avLst>
          </a:prstGeom>
          <a:solidFill>
            <a:srgbClr val="EEF2F8"/>
          </a:solidFill>
          <a:ln/>
        </p:spPr>
      </p:sp>
      <p:sp>
        <p:nvSpPr>
          <p:cNvPr id="8" name="Text 6"/>
          <p:cNvSpPr txBox="1"/>
          <p:nvPr/>
        </p:nvSpPr>
        <p:spPr>
          <a:xfrm>
            <a:off x="7571232" y="1600200"/>
            <a:ext cx="3383280" cy="256032"/>
          </a:xfrm>
          <a:prstGeom prst="rect">
            <a:avLst/>
          </a:prstGeom>
          <a:noFill/>
          <a:ln/>
        </p:spPr>
        <p:txBody>
          <a:bodyPr wrap="square" lIns="0" tIns="0" rIns="0" bIns="0" rtlCol="0" anchor="t"/>
          <a:lstStyle/>
          <a:p>
            <a:pPr algn="l" indent="0" marL="0">
              <a:lnSpc>
                <a:spcPct val="112000"/>
              </a:lnSpc>
              <a:buNone/>
            </a:pPr>
            <a:r>
              <a:rPr lang="en-US" sz="1300" b="1" dirty="0">
                <a:solidFill>
                  <a:srgbClr val="22304F"/>
                </a:solidFill>
                <a:latin typeface="Calibri" pitchFamily="34" charset="0"/>
                <a:ea typeface="Calibri" pitchFamily="34" charset="-122"/>
                <a:cs typeface="Calibri" pitchFamily="34" charset="-120"/>
              </a:rPr>
              <a:t>Categorize the corpus</a:t>
            </a:r>
            <a:endParaRPr lang="en-US" sz="1300" dirty="0"/>
          </a:p>
        </p:txBody>
      </p:sp>
      <p:sp>
        <p:nvSpPr>
          <p:cNvPr id="9" name="Text 7"/>
          <p:cNvSpPr txBox="1"/>
          <p:nvPr/>
        </p:nvSpPr>
        <p:spPr>
          <a:xfrm>
            <a:off x="7571232" y="1865376"/>
            <a:ext cx="3383280" cy="237744"/>
          </a:xfrm>
          <a:prstGeom prst="rect">
            <a:avLst/>
          </a:prstGeom>
          <a:noFill/>
          <a:ln/>
        </p:spPr>
        <p:txBody>
          <a:bodyPr wrap="square" lIns="0" tIns="0" rIns="0" bIns="0" rtlCol="0" anchor="t"/>
          <a:lstStyle/>
          <a:p>
            <a:pPr algn="l" indent="0" marL="0">
              <a:lnSpc>
                <a:spcPct val="112000"/>
              </a:lnSpc>
              <a:buNone/>
            </a:pPr>
            <a:r>
              <a:rPr lang="en-US" sz="1100" dirty="0">
                <a:solidFill>
                  <a:srgbClr val="7C879B"/>
                </a:solidFill>
                <a:latin typeface="Calibri" pitchFamily="34" charset="0"/>
                <a:ea typeface="Calibri" pitchFamily="34" charset="-122"/>
                <a:cs typeface="Calibri" pitchFamily="34" charset="-120"/>
              </a:rPr>
              <a:t>AST facts · answer shape</a:t>
            </a:r>
            <a:endParaRPr lang="en-US" sz="1100" dirty="0"/>
          </a:p>
        </p:txBody>
      </p:sp>
      <p:sp>
        <p:nvSpPr>
          <p:cNvPr id="10" name="Shape 8"/>
          <p:cNvSpPr/>
          <p:nvPr/>
        </p:nvSpPr>
        <p:spPr>
          <a:xfrm>
            <a:off x="1984248" y="2487168"/>
            <a:ext cx="8193024" cy="749808"/>
          </a:xfrm>
          <a:prstGeom prst="roundRect">
            <a:avLst>
              <a:gd name="adj" fmla="val 8537"/>
            </a:avLst>
          </a:prstGeom>
          <a:solidFill>
            <a:srgbClr val="22304F"/>
          </a:solidFill>
          <a:ln/>
        </p:spPr>
      </p:sp>
      <p:sp>
        <p:nvSpPr>
          <p:cNvPr id="11" name="Text 9"/>
          <p:cNvSpPr txBox="1"/>
          <p:nvPr/>
        </p:nvSpPr>
        <p:spPr>
          <a:xfrm>
            <a:off x="2167128" y="2679192"/>
            <a:ext cx="7827264" cy="365760"/>
          </a:xfrm>
          <a:prstGeom prst="rect">
            <a:avLst/>
          </a:prstGeom>
          <a:noFill/>
          <a:ln/>
        </p:spPr>
        <p:txBody>
          <a:bodyPr wrap="square" lIns="0" tIns="0" rIns="0" bIns="0" rtlCol="0" anchor="t"/>
          <a:lstStyle/>
          <a:p>
            <a:pPr algn="ctr" indent="0" marL="0">
              <a:lnSpc>
                <a:spcPct val="112000"/>
              </a:lnSpc>
              <a:buNone/>
            </a:pPr>
            <a:r>
              <a:rPr lang="en-US" sz="1400" b="1" dirty="0">
                <a:solidFill>
                  <a:srgbClr val="FFFFFF"/>
                </a:solidFill>
                <a:latin typeface="Calibri" pitchFamily="34" charset="0"/>
                <a:ea typeface="Calibri" pitchFamily="34" charset="-122"/>
                <a:cs typeface="Calibri" pitchFamily="34" charset="-120"/>
              </a:rPr>
              <a:t>Frozen dense encoder — F2LLM-v2, CPU, published recipe pinned by test</a:t>
            </a:r>
            <a:endParaRPr lang="en-US" sz="1400" dirty="0"/>
          </a:p>
        </p:txBody>
      </p:sp>
      <p:sp>
        <p:nvSpPr>
          <p:cNvPr id="12" name="Text 10"/>
          <p:cNvSpPr txBox="1"/>
          <p:nvPr/>
        </p:nvSpPr>
        <p:spPr>
          <a:xfrm>
            <a:off x="1984248" y="3291840"/>
            <a:ext cx="8193024" cy="237744"/>
          </a:xfrm>
          <a:prstGeom prst="rect">
            <a:avLst/>
          </a:prstGeom>
          <a:noFill/>
          <a:ln/>
        </p:spPr>
        <p:txBody>
          <a:bodyPr wrap="square" lIns="0" tIns="0" rIns="0" bIns="0" rtlCol="0" anchor="t"/>
          <a:lstStyle/>
          <a:p>
            <a:pPr algn="ctr" indent="0" marL="0">
              <a:lnSpc>
                <a:spcPct val="112000"/>
              </a:lnSpc>
              <a:buNone/>
            </a:pPr>
            <a:r>
              <a:rPr lang="en-US" sz="1050" dirty="0">
                <a:solidFill>
                  <a:srgbClr val="7C879B"/>
                </a:solidFill>
                <a:latin typeface="Calibri" pitchFamily="34" charset="0"/>
                <a:ea typeface="Calibri" pitchFamily="34" charset="-122"/>
                <a:cs typeface="Calibri" pitchFamily="34" charset="-120"/>
              </a:rPr>
              <a:t>top-50 candidate pool</a:t>
            </a:r>
            <a:endParaRPr lang="en-US" sz="1050" dirty="0"/>
          </a:p>
        </p:txBody>
      </p:sp>
      <p:sp>
        <p:nvSpPr>
          <p:cNvPr id="13" name="Shape 11"/>
          <p:cNvSpPr/>
          <p:nvPr/>
        </p:nvSpPr>
        <p:spPr>
          <a:xfrm>
            <a:off x="1984248" y="3584448"/>
            <a:ext cx="8193024" cy="749808"/>
          </a:xfrm>
          <a:prstGeom prst="roundRect">
            <a:avLst>
              <a:gd name="adj" fmla="val 8537"/>
            </a:avLst>
          </a:prstGeom>
          <a:solidFill>
            <a:srgbClr val="EEF2F8"/>
          </a:solidFill>
          <a:ln/>
        </p:spPr>
      </p:sp>
      <p:sp>
        <p:nvSpPr>
          <p:cNvPr id="14" name="Text 12"/>
          <p:cNvSpPr txBox="1"/>
          <p:nvPr/>
        </p:nvSpPr>
        <p:spPr>
          <a:xfrm>
            <a:off x="2212848" y="3785616"/>
            <a:ext cx="5815584" cy="365760"/>
          </a:xfrm>
          <a:prstGeom prst="rect">
            <a:avLst/>
          </a:prstGeom>
          <a:noFill/>
          <a:ln/>
        </p:spPr>
        <p:txBody>
          <a:bodyPr wrap="square" lIns="0" tIns="0" rIns="0" bIns="0" rtlCol="0" anchor="t"/>
          <a:lstStyle/>
          <a:p>
            <a:pPr algn="l" indent="0" marL="0">
              <a:lnSpc>
                <a:spcPct val="112000"/>
              </a:lnSpc>
              <a:buNone/>
            </a:pPr>
            <a:r>
              <a:rPr lang="en-US" sz="1400" b="1" dirty="0">
                <a:solidFill>
                  <a:srgbClr val="22304F"/>
                </a:solidFill>
                <a:latin typeface="Calibri" pitchFamily="34" charset="0"/>
                <a:ea typeface="Calibri" pitchFamily="34" charset="-122"/>
                <a:cs typeface="Calibri" pitchFamily="34" charset="-120"/>
              </a:rPr>
              <a:t>Pass 2 — nine-feature linear reranker</a:t>
            </a:r>
            <a:endParaRPr lang="en-US" sz="1400" dirty="0"/>
          </a:p>
        </p:txBody>
      </p:sp>
      <p:sp>
        <p:nvSpPr>
          <p:cNvPr id="15" name="Shape 13"/>
          <p:cNvSpPr/>
          <p:nvPr/>
        </p:nvSpPr>
        <p:spPr>
          <a:xfrm>
            <a:off x="8257032" y="3813048"/>
            <a:ext cx="1691640" cy="292608"/>
          </a:xfrm>
          <a:prstGeom prst="roundRect">
            <a:avLst>
              <a:gd name="adj" fmla="val 50000"/>
            </a:avLst>
          </a:prstGeom>
          <a:solidFill>
            <a:srgbClr val="C65B3F"/>
          </a:solidFill>
          <a:ln/>
        </p:spPr>
      </p:sp>
      <p:sp>
        <p:nvSpPr>
          <p:cNvPr id="16" name="Text 14"/>
          <p:cNvSpPr txBox="1"/>
          <p:nvPr/>
        </p:nvSpPr>
        <p:spPr>
          <a:xfrm>
            <a:off x="8257032" y="3813048"/>
            <a:ext cx="169164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DID NOT CLEAR</a:t>
            </a:r>
            <a:endParaRPr lang="en-US" sz="1000" dirty="0"/>
          </a:p>
        </p:txBody>
      </p:sp>
      <p:sp>
        <p:nvSpPr>
          <p:cNvPr id="17" name="Shape 15"/>
          <p:cNvSpPr/>
          <p:nvPr/>
        </p:nvSpPr>
        <p:spPr>
          <a:xfrm>
            <a:off x="1984248" y="4590288"/>
            <a:ext cx="8193024" cy="749808"/>
          </a:xfrm>
          <a:prstGeom prst="roundRect">
            <a:avLst>
              <a:gd name="adj" fmla="val 8537"/>
            </a:avLst>
          </a:prstGeom>
          <a:solidFill>
            <a:srgbClr val="EEF2F8"/>
          </a:solidFill>
          <a:ln/>
        </p:spPr>
      </p:sp>
      <p:sp>
        <p:nvSpPr>
          <p:cNvPr id="18" name="Text 16"/>
          <p:cNvSpPr txBox="1"/>
          <p:nvPr/>
        </p:nvSpPr>
        <p:spPr>
          <a:xfrm>
            <a:off x="2212848" y="4791456"/>
            <a:ext cx="5815584" cy="365760"/>
          </a:xfrm>
          <a:prstGeom prst="rect">
            <a:avLst/>
          </a:prstGeom>
          <a:noFill/>
          <a:ln/>
        </p:spPr>
        <p:txBody>
          <a:bodyPr wrap="square" lIns="0" tIns="0" rIns="0" bIns="0" rtlCol="0" anchor="t"/>
          <a:lstStyle/>
          <a:p>
            <a:pPr algn="l" indent="0" marL="0">
              <a:lnSpc>
                <a:spcPct val="112000"/>
              </a:lnSpc>
              <a:buNone/>
            </a:pPr>
            <a:r>
              <a:rPr lang="en-US" sz="1400" b="1" dirty="0">
                <a:solidFill>
                  <a:srgbClr val="22304F"/>
                </a:solidFill>
                <a:latin typeface="Calibri" pitchFamily="34" charset="0"/>
                <a:ea typeface="Calibri" pitchFamily="34" charset="-122"/>
                <a:cs typeface="Calibri" pitchFamily="34" charset="-120"/>
              </a:rPr>
              <a:t>Pass 3 — execution verification</a:t>
            </a:r>
            <a:endParaRPr lang="en-US" sz="1400" dirty="0"/>
          </a:p>
        </p:txBody>
      </p:sp>
      <p:sp>
        <p:nvSpPr>
          <p:cNvPr id="19" name="Shape 17"/>
          <p:cNvSpPr/>
          <p:nvPr/>
        </p:nvSpPr>
        <p:spPr>
          <a:xfrm>
            <a:off x="8257032" y="4818888"/>
            <a:ext cx="1691640" cy="292608"/>
          </a:xfrm>
          <a:prstGeom prst="roundRect">
            <a:avLst>
              <a:gd name="adj" fmla="val 50000"/>
            </a:avLst>
          </a:prstGeom>
          <a:solidFill>
            <a:srgbClr val="0F9B82"/>
          </a:solidFill>
          <a:ln/>
        </p:spPr>
      </p:sp>
      <p:sp>
        <p:nvSpPr>
          <p:cNvPr id="20" name="Text 18"/>
          <p:cNvSpPr txBox="1"/>
          <p:nvPr/>
        </p:nvSpPr>
        <p:spPr>
          <a:xfrm>
            <a:off x="8257032" y="4818888"/>
            <a:ext cx="169164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CLEARED THE GATE</a:t>
            </a:r>
            <a:endParaRPr lang="en-US" sz="1000" dirty="0"/>
          </a:p>
        </p:txBody>
      </p:sp>
      <p:sp>
        <p:nvSpPr>
          <p:cNvPr id="21" name="Text 19"/>
          <p:cNvSpPr txBox="1"/>
          <p:nvPr/>
        </p:nvSpPr>
        <p:spPr>
          <a:xfrm>
            <a:off x="1984248" y="5468112"/>
            <a:ext cx="8193024" cy="274320"/>
          </a:xfrm>
          <a:prstGeom prst="rect">
            <a:avLst/>
          </a:prstGeom>
          <a:noFill/>
          <a:ln/>
        </p:spPr>
        <p:txBody>
          <a:bodyPr wrap="square" lIns="0" tIns="0" rIns="0" bIns="0" rtlCol="0" anchor="t"/>
          <a:lstStyle/>
          <a:p>
            <a:pPr algn="ctr" indent="0" marL="0">
              <a:lnSpc>
                <a:spcPct val="112000"/>
              </a:lnSpc>
              <a:buNone/>
            </a:pPr>
            <a:r>
              <a:rPr lang="en-US" sz="1300" b="1" dirty="0">
                <a:solidFill>
                  <a:srgbClr val="0F9B82"/>
                </a:solidFill>
                <a:latin typeface="Calibri" pitchFamily="34" charset="0"/>
                <a:ea typeface="Calibri" pitchFamily="34" charset="-122"/>
                <a:cs typeface="Calibri" pitchFamily="34" charset="-120"/>
              </a:rPr>
              <a:t>ranked snippets</a:t>
            </a:r>
            <a:endParaRPr lang="en-US" sz="1300" dirty="0"/>
          </a:p>
        </p:txBody>
      </p:sp>
      <p:sp>
        <p:nvSpPr>
          <p:cNvPr id="22" name="Text 20"/>
          <p:cNvSpPr txBox="1"/>
          <p:nvPr/>
        </p:nvSpPr>
        <p:spPr>
          <a:xfrm>
            <a:off x="566928" y="5870448"/>
            <a:ext cx="11027664" cy="365760"/>
          </a:xfrm>
          <a:prstGeom prst="rect">
            <a:avLst/>
          </a:prstGeom>
          <a:noFill/>
          <a:ln/>
        </p:spPr>
        <p:txBody>
          <a:bodyPr wrap="square" lIns="0" tIns="0" rIns="0" bIns="0" rtlCol="0" anchor="t"/>
          <a:lstStyle/>
          <a:p>
            <a:pPr algn="l" indent="0" marL="0">
              <a:lnSpc>
                <a:spcPct val="112000"/>
              </a:lnSpc>
              <a:buNone/>
            </a:pPr>
            <a:r>
              <a:rPr lang="en-US" sz="1250" i="1" dirty="0">
                <a:solidFill>
                  <a:srgbClr val="7C879B"/>
                </a:solidFill>
                <a:latin typeface="Calibri" pitchFamily="34" charset="0"/>
                <a:ea typeface="Calibri" pitchFamily="34" charset="-122"/>
                <a:cs typeface="Calibri" pitchFamily="34" charset="-120"/>
              </a:rPr>
              <a:t>Every addition is measured against the pass below it on a held-out split, and only ships if the gain survives a paired bootstrap.</a:t>
            </a:r>
            <a:endParaRPr lang="en-US" sz="1250" dirty="0"/>
          </a:p>
        </p:txBody>
      </p:sp>
      <p:sp>
        <p:nvSpPr>
          <p:cNvPr id="23" name="Text 21"/>
          <p:cNvSpPr txBox="1"/>
          <p:nvPr/>
        </p:nvSpPr>
        <p:spPr>
          <a:xfrm>
            <a:off x="566928" y="6327648"/>
            <a:ext cx="10479024" cy="274320"/>
          </a:xfrm>
          <a:prstGeom prst="rect">
            <a:avLst/>
          </a:prstGeom>
          <a:noFill/>
          <a:ln/>
        </p:spPr>
        <p:txBody>
          <a:bodyPr wrap="square" lIns="0" tIns="0" rIns="0" bIns="0" rtlCol="0" anchor="ctr"/>
          <a:lstStyle/>
          <a:p>
            <a:pPr indent="0" marL="0">
              <a:buNone/>
            </a:pPr>
            <a:r>
              <a:rPr lang="en-US" sz="900" dirty="0">
                <a:solidFill>
                  <a:srgbClr val="7C879B"/>
                </a:solidFill>
                <a:latin typeface="Calibri" pitchFamily="34" charset="0"/>
                <a:ea typeface="Calibri" pitchFamily="34" charset="-122"/>
                <a:cs typeface="Calibri" pitchFamily="34" charset="-120"/>
              </a:rPr>
              <a:t>CodeDoctor  ·  Samsung PRISM GenAI Hackathon 2026  ·  Theme 01</a:t>
            </a:r>
            <a:endParaRPr lang="en-US" sz="900" dirty="0"/>
          </a:p>
        </p:txBody>
      </p:sp>
      <p:sp>
        <p:nvSpPr>
          <p:cNvPr id="24" name="Text 22"/>
          <p:cNvSpPr txBox="1"/>
          <p:nvPr/>
        </p:nvSpPr>
        <p:spPr>
          <a:xfrm>
            <a:off x="11045952" y="6327648"/>
            <a:ext cx="548640" cy="274320"/>
          </a:xfrm>
          <a:prstGeom prst="rect">
            <a:avLst/>
          </a:prstGeom>
          <a:noFill/>
          <a:ln/>
        </p:spPr>
        <p:txBody>
          <a:bodyPr wrap="square" lIns="0" tIns="0" rIns="0" bIns="0" rtlCol="0" anchor="ctr"/>
          <a:lstStyle/>
          <a:p>
            <a:pPr algn="r" indent="0" marL="0">
              <a:buNone/>
            </a:pPr>
            <a:r>
              <a:rPr lang="en-US" sz="900" dirty="0">
                <a:solidFill>
                  <a:srgbClr val="7C879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27664" cy="237744"/>
          </a:xfrm>
          <a:prstGeom prst="rect">
            <a:avLst/>
          </a:prstGeom>
          <a:noFill/>
          <a:ln/>
        </p:spPr>
        <p:txBody>
          <a:bodyPr wrap="square" lIns="0" tIns="0" rIns="0" bIns="0" rtlCol="0" anchor="ctr"/>
          <a:lstStyle/>
          <a:p>
            <a:pPr indent="0" marL="0">
              <a:buNone/>
            </a:pPr>
            <a:r>
              <a:rPr lang="en-US" sz="1100" b="1" spc="160" kern="0" dirty="0">
                <a:solidFill>
                  <a:srgbClr val="0F9B82"/>
                </a:solidFill>
                <a:latin typeface="Calibri" pitchFamily="34" charset="0"/>
                <a:ea typeface="Calibri" pitchFamily="34" charset="-122"/>
                <a:cs typeface="Calibri" pitchFamily="34" charset="-120"/>
              </a:rPr>
              <a:t>REPRODUCTION FIRST</a:t>
            </a:r>
            <a:endParaRPr lang="en-US" sz="1100" dirty="0"/>
          </a:p>
        </p:txBody>
      </p:sp>
      <p:sp>
        <p:nvSpPr>
          <p:cNvPr id="3" name="Text 1"/>
          <p:cNvSpPr txBox="1"/>
          <p:nvPr/>
        </p:nvSpPr>
        <p:spPr>
          <a:xfrm>
            <a:off x="566928" y="566928"/>
            <a:ext cx="11027664" cy="731520"/>
          </a:xfrm>
          <a:prstGeom prst="rect">
            <a:avLst/>
          </a:prstGeom>
          <a:noFill/>
          <a:ln/>
        </p:spPr>
        <p:txBody>
          <a:bodyPr wrap="square" lIns="0" tIns="0" rIns="0" bIns="0" rtlCol="0" anchor="ctr"/>
          <a:lstStyle/>
          <a:p>
            <a:pPr indent="0" marL="0">
              <a:buNone/>
            </a:pPr>
            <a:r>
              <a:rPr lang="en-US" sz="3400" b="1" dirty="0">
                <a:solidFill>
                  <a:srgbClr val="22304F"/>
                </a:solidFill>
                <a:latin typeface="Calibri" pitchFamily="34" charset="0"/>
                <a:ea typeface="Calibri" pitchFamily="34" charset="-122"/>
                <a:cs typeface="Calibri" pitchFamily="34" charset="-120"/>
              </a:rPr>
              <a:t>2.8 points were sitting on the floor</a:t>
            </a:r>
            <a:endParaRPr lang="en-US" sz="3400" dirty="0"/>
          </a:p>
        </p:txBody>
      </p:sp>
      <p:sp>
        <p:nvSpPr>
          <p:cNvPr id="4" name="Text 2"/>
          <p:cNvSpPr txBox="1"/>
          <p:nvPr/>
        </p:nvSpPr>
        <p:spPr>
          <a:xfrm>
            <a:off x="566928" y="1463040"/>
            <a:ext cx="3108960" cy="868680"/>
          </a:xfrm>
          <a:prstGeom prst="rect">
            <a:avLst/>
          </a:prstGeom>
          <a:noFill/>
          <a:ln/>
        </p:spPr>
        <p:txBody>
          <a:bodyPr wrap="square" lIns="0" tIns="0" rIns="0" bIns="0" rtlCol="0" anchor="ctr"/>
          <a:lstStyle/>
          <a:p>
            <a:pPr indent="0" marL="0">
              <a:buNone/>
            </a:pPr>
            <a:r>
              <a:rPr lang="en-US" sz="4000" b="1" dirty="0">
                <a:solidFill>
                  <a:srgbClr val="C65B3F"/>
                </a:solidFill>
                <a:latin typeface="Calibri" pitchFamily="34" charset="0"/>
                <a:ea typeface="Calibri" pitchFamily="34" charset="-122"/>
                <a:cs typeface="Calibri" pitchFamily="34" charset="-120"/>
              </a:rPr>
              <a:t>0.87603</a:t>
            </a:r>
            <a:endParaRPr lang="en-US" sz="4000" dirty="0"/>
          </a:p>
        </p:txBody>
      </p:sp>
      <p:sp>
        <p:nvSpPr>
          <p:cNvPr id="5" name="Text 3"/>
          <p:cNvSpPr txBox="1"/>
          <p:nvPr/>
        </p:nvSpPr>
        <p:spPr>
          <a:xfrm>
            <a:off x="566928" y="2249424"/>
            <a:ext cx="3108960" cy="457200"/>
          </a:xfrm>
          <a:prstGeom prst="rect">
            <a:avLst/>
          </a:prstGeom>
          <a:noFill/>
          <a:ln/>
        </p:spPr>
        <p:txBody>
          <a:bodyPr wrap="square" lIns="0" tIns="0" rIns="0" bIns="0" rtlCol="0" anchor="ctr"/>
          <a:lstStyle/>
          <a:p>
            <a:pPr indent="0" marL="0">
              <a:lnSpc>
                <a:spcPct val="105000"/>
              </a:lnSpc>
              <a:buNone/>
            </a:pPr>
            <a:r>
              <a:rPr lang="en-US" sz="1100" dirty="0">
                <a:solidFill>
                  <a:srgbClr val="7C879B"/>
                </a:solidFill>
                <a:latin typeface="Calibri" pitchFamily="34" charset="0"/>
                <a:ea typeface="Calibri" pitchFamily="34" charset="-122"/>
                <a:cs typeface="Calibri" pitchFamily="34" charset="-120"/>
              </a:rPr>
              <a:t>our earlier build</a:t>
            </a:r>
            <a:endParaRPr lang="en-US" sz="1100" dirty="0"/>
          </a:p>
        </p:txBody>
      </p:sp>
      <p:sp>
        <p:nvSpPr>
          <p:cNvPr id="6" name="Text 4"/>
          <p:cNvSpPr txBox="1"/>
          <p:nvPr/>
        </p:nvSpPr>
        <p:spPr>
          <a:xfrm>
            <a:off x="2487168" y="1517904"/>
            <a:ext cx="640080" cy="731520"/>
          </a:xfrm>
          <a:prstGeom prst="rect">
            <a:avLst/>
          </a:prstGeom>
          <a:noFill/>
          <a:ln/>
        </p:spPr>
        <p:txBody>
          <a:bodyPr wrap="square" lIns="0" tIns="0" rIns="0" bIns="0" rtlCol="0" anchor="ctr"/>
          <a:lstStyle/>
          <a:p>
            <a:pPr algn="ctr" indent="0" marL="0">
              <a:buNone/>
            </a:pPr>
            <a:r>
              <a:rPr lang="en-US" sz="3200" dirty="0">
                <a:solidFill>
                  <a:srgbClr val="7C879B"/>
                </a:solidFill>
                <a:latin typeface="Calibri" pitchFamily="34" charset="0"/>
                <a:ea typeface="Calibri" pitchFamily="34" charset="-122"/>
                <a:cs typeface="Calibri" pitchFamily="34" charset="-120"/>
              </a:rPr>
              <a:t>→</a:t>
            </a:r>
            <a:endParaRPr lang="en-US" sz="3200" dirty="0"/>
          </a:p>
        </p:txBody>
      </p:sp>
      <p:sp>
        <p:nvSpPr>
          <p:cNvPr id="7" name="Text 5"/>
          <p:cNvSpPr txBox="1"/>
          <p:nvPr/>
        </p:nvSpPr>
        <p:spPr>
          <a:xfrm>
            <a:off x="3172968" y="1463040"/>
            <a:ext cx="3108960" cy="868680"/>
          </a:xfrm>
          <a:prstGeom prst="rect">
            <a:avLst/>
          </a:prstGeom>
          <a:noFill/>
          <a:ln/>
        </p:spPr>
        <p:txBody>
          <a:bodyPr wrap="square" lIns="0" tIns="0" rIns="0" bIns="0" rtlCol="0" anchor="ctr"/>
          <a:lstStyle/>
          <a:p>
            <a:pPr indent="0" marL="0">
              <a:buNone/>
            </a:pPr>
            <a:r>
              <a:rPr lang="en-US" sz="4000" b="1" dirty="0">
                <a:solidFill>
                  <a:srgbClr val="0F9B82"/>
                </a:solidFill>
                <a:latin typeface="Calibri" pitchFamily="34" charset="0"/>
                <a:ea typeface="Calibri" pitchFamily="34" charset="-122"/>
                <a:cs typeface="Calibri" pitchFamily="34" charset="-120"/>
              </a:rPr>
              <a:t>0.90446</a:t>
            </a:r>
            <a:endParaRPr lang="en-US" sz="4000" dirty="0"/>
          </a:p>
        </p:txBody>
      </p:sp>
      <p:sp>
        <p:nvSpPr>
          <p:cNvPr id="8" name="Text 6"/>
          <p:cNvSpPr txBox="1"/>
          <p:nvPr/>
        </p:nvSpPr>
        <p:spPr>
          <a:xfrm>
            <a:off x="3172968" y="2249424"/>
            <a:ext cx="3108960" cy="457200"/>
          </a:xfrm>
          <a:prstGeom prst="rect">
            <a:avLst/>
          </a:prstGeom>
          <a:noFill/>
          <a:ln/>
        </p:spPr>
        <p:txBody>
          <a:bodyPr wrap="square" lIns="0" tIns="0" rIns="0" bIns="0" rtlCol="0" anchor="ctr"/>
          <a:lstStyle/>
          <a:p>
            <a:pPr indent="0" marL="0">
              <a:lnSpc>
                <a:spcPct val="105000"/>
              </a:lnSpc>
              <a:buNone/>
            </a:pPr>
            <a:r>
              <a:rPr lang="en-US" sz="1100" dirty="0">
                <a:solidFill>
                  <a:srgbClr val="7C879B"/>
                </a:solidFill>
                <a:latin typeface="Calibri" pitchFamily="34" charset="0"/>
                <a:ea typeface="Calibri" pitchFamily="34" charset="-122"/>
                <a:cs typeface="Calibri" pitchFamily="34" charset="-120"/>
              </a:rPr>
              <a:t>the same model's published score</a:t>
            </a:r>
            <a:endParaRPr lang="en-US" sz="1100" dirty="0"/>
          </a:p>
        </p:txBody>
      </p:sp>
      <p:sp>
        <p:nvSpPr>
          <p:cNvPr id="9" name="Text 7"/>
          <p:cNvSpPr txBox="1"/>
          <p:nvPr/>
        </p:nvSpPr>
        <p:spPr>
          <a:xfrm>
            <a:off x="566928" y="2697480"/>
            <a:ext cx="6035040" cy="320040"/>
          </a:xfrm>
          <a:prstGeom prst="rect">
            <a:avLst/>
          </a:prstGeom>
          <a:noFill/>
          <a:ln/>
        </p:spPr>
        <p:txBody>
          <a:bodyPr wrap="square" lIns="0" tIns="0" rIns="0" bIns="0" rtlCol="0" anchor="t"/>
          <a:lstStyle/>
          <a:p>
            <a:pPr algn="l" indent="0" marL="0">
              <a:lnSpc>
                <a:spcPct val="112000"/>
              </a:lnSpc>
              <a:buNone/>
            </a:pPr>
            <a:r>
              <a:rPr lang="en-US" sz="1350" b="1" dirty="0">
                <a:solidFill>
                  <a:srgbClr val="22304F"/>
                </a:solidFill>
                <a:latin typeface="Calibri" pitchFamily="34" charset="0"/>
                <a:ea typeface="Calibri" pitchFamily="34" charset="-122"/>
                <a:cs typeface="Calibri" pitchFamily="34" charset="-120"/>
              </a:rPr>
              <a:t>Same model. Same data. The gap was four configuration values.</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3127248"/>
          <a:ext cx="6720840" cy="914400"/>
        </p:xfrm>
        <a:graphic>
          <a:graphicData uri="http://schemas.openxmlformats.org/drawingml/2006/table">
            <a:tbl>
              <a:tblPr/>
              <a:tblGrid>
                <a:gridCol w="1783080"/>
                <a:gridCol w="1828800"/>
                <a:gridCol w="3108960"/>
              </a:tblGrid>
              <a:tr h="292608">
                <a:tc>
                  <a:txBody>
                    <a:bodyPr/>
                    <a:lstStyle/>
                    <a:p>
                      <a:pPr algn="l" indent="0" marL="0">
                        <a:buNone/>
                      </a:pPr>
                      <a:endParaRPr lang="en-US" sz="115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22304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earlier build</a:t>
                      </a:r>
                      <a:endParaRPr lang="en-US" sz="115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22304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published recipe</a:t>
                      </a:r>
                      <a:endParaRPr lang="en-US" sz="115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22304F"/>
                    </a:solidFill>
                  </a:tcPr>
                </a:tc>
              </a:tr>
              <a:tr h="292608">
                <a:tc>
                  <a:txBody>
                    <a:bodyPr/>
                    <a:lstStyle/>
                    <a:p>
                      <a:pPr algn="l" indent="0" marL="0">
                        <a:buNone/>
                      </a:pPr>
                      <a:r>
                        <a:rPr lang="en-US" sz="1100" dirty="0">
                          <a:solidFill>
                            <a:srgbClr val="39435A"/>
                          </a:solidFill>
                          <a:latin typeface="Calibri" pitchFamily="34" charset="0"/>
                          <a:ea typeface="Calibri" pitchFamily="34" charset="-122"/>
                          <a:cs typeface="Calibri" pitchFamily="34" charset="-120"/>
                        </a:rPr>
                        <a:t>query instruction</a:t>
                      </a:r>
                      <a:endParaRPr lang="en-US" sz="11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9435A"/>
                          </a:solidFill>
                          <a:latin typeface="Calibri" pitchFamily="34" charset="0"/>
                          <a:ea typeface="Calibri" pitchFamily="34" charset="-122"/>
                          <a:cs typeface="Calibri" pitchFamily="34" charset="-120"/>
                        </a:rPr>
                        <a:t>generic</a:t>
                      </a:r>
                      <a:endParaRPr lang="en-US" sz="11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9435A"/>
                          </a:solidFill>
                          <a:latin typeface="Calibri" pitchFamily="34" charset="0"/>
                          <a:ea typeface="Calibri" pitchFamily="34" charset="-122"/>
                          <a:cs typeface="Calibri" pitchFamily="34" charset="-120"/>
                        </a:rPr>
                        <a:t>Retrieve the most relevant code snippet…</a:t>
                      </a:r>
                      <a:endParaRPr lang="en-US" sz="11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39435A"/>
                          </a:solidFill>
                          <a:latin typeface="Calibri" pitchFamily="34" charset="0"/>
                          <a:ea typeface="Calibri" pitchFamily="34" charset="-122"/>
                          <a:cs typeface="Calibri" pitchFamily="34" charset="-120"/>
                        </a:rPr>
                        <a:t>document prefix</a:t>
                      </a:r>
                      <a:endParaRPr lang="en-US" sz="11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9435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9435A"/>
                          </a:solidFill>
                          <a:latin typeface="Calibri" pitchFamily="34" charset="0"/>
                          <a:ea typeface="Calibri" pitchFamily="34" charset="-122"/>
                          <a:cs typeface="Calibri" pitchFamily="34" charset="-120"/>
                        </a:rPr>
                        <a:t>none (correct)</a:t>
                      </a:r>
                      <a:endParaRPr lang="en-US" sz="11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39435A"/>
                          </a:solidFill>
                          <a:latin typeface="Calibri" pitchFamily="34" charset="0"/>
                          <a:ea typeface="Calibri" pitchFamily="34" charset="-122"/>
                          <a:cs typeface="Calibri" pitchFamily="34" charset="-120"/>
                        </a:rPr>
                        <a:t>add_eos_token</a:t>
                      </a:r>
                      <a:endParaRPr lang="en-US" sz="11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9435A"/>
                          </a:solidFill>
                          <a:latin typeface="Calibri" pitchFamily="34" charset="0"/>
                          <a:ea typeface="Calibri" pitchFamily="34" charset="-122"/>
                          <a:cs typeface="Calibri" pitchFamily="34" charset="-120"/>
                        </a:rPr>
                        <a:t>not set</a:t>
                      </a:r>
                      <a:endParaRPr lang="en-US" sz="11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9435A"/>
                          </a:solidFill>
                          <a:latin typeface="Calibri" pitchFamily="34" charset="0"/>
                          <a:ea typeface="Calibri" pitchFamily="34" charset="-122"/>
                          <a:cs typeface="Calibri" pitchFamily="34" charset="-120"/>
                        </a:rPr>
                        <a:t>true</a:t>
                      </a:r>
                      <a:endParaRPr lang="en-US" sz="11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39435A"/>
                          </a:solidFill>
                          <a:latin typeface="Calibri" pitchFamily="34" charset="0"/>
                          <a:ea typeface="Calibri" pitchFamily="34" charset="-122"/>
                          <a:cs typeface="Calibri" pitchFamily="34" charset="-120"/>
                        </a:rPr>
                        <a:t>max_seq_length</a:t>
                      </a:r>
                      <a:endParaRPr lang="en-US" sz="11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9435A"/>
                          </a:solidFill>
                          <a:latin typeface="Calibri" pitchFamily="34" charset="0"/>
                          <a:ea typeface="Calibri" pitchFamily="34" charset="-122"/>
                          <a:cs typeface="Calibri" pitchFamily="34" charset="-120"/>
                        </a:rPr>
                        <a:t>512 doc / 1024 query</a:t>
                      </a:r>
                      <a:endParaRPr lang="en-US" sz="11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9435A"/>
                          </a:solidFill>
                          <a:latin typeface="Calibri" pitchFamily="34" charset="0"/>
                          <a:ea typeface="Calibri" pitchFamily="34" charset="-122"/>
                          <a:cs typeface="Calibri" pitchFamily="34" charset="-120"/>
                        </a:rPr>
                        <a:t>8192</a:t>
                      </a:r>
                      <a:endParaRPr lang="en-US" sz="11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bl>
          </a:graphicData>
        </a:graphic>
      </p:graphicFrame>
      <p:sp>
        <p:nvSpPr>
          <p:cNvPr id="11" name="Shape 8"/>
          <p:cNvSpPr/>
          <p:nvPr/>
        </p:nvSpPr>
        <p:spPr>
          <a:xfrm>
            <a:off x="7607808" y="1463040"/>
            <a:ext cx="3986784" cy="3063240"/>
          </a:xfrm>
          <a:prstGeom prst="roundRect">
            <a:avLst>
              <a:gd name="adj" fmla="val 2090"/>
            </a:avLst>
          </a:prstGeom>
          <a:solidFill>
            <a:srgbClr val="FBF1ED"/>
          </a:solidFill>
          <a:ln/>
        </p:spPr>
      </p:sp>
      <p:sp>
        <p:nvSpPr>
          <p:cNvPr id="12" name="Text 9"/>
          <p:cNvSpPr txBox="1"/>
          <p:nvPr/>
        </p:nvSpPr>
        <p:spPr>
          <a:xfrm>
            <a:off x="7836408" y="1664208"/>
            <a:ext cx="3529584" cy="548640"/>
          </a:xfrm>
          <a:prstGeom prst="rect">
            <a:avLst/>
          </a:prstGeom>
          <a:noFill/>
          <a:ln/>
        </p:spPr>
        <p:txBody>
          <a:bodyPr wrap="square" lIns="0" tIns="0" rIns="0" bIns="0" rtlCol="0" anchor="t"/>
          <a:lstStyle/>
          <a:p>
            <a:pPr algn="l" indent="0" marL="0">
              <a:lnSpc>
                <a:spcPct val="112000"/>
              </a:lnSpc>
              <a:buNone/>
            </a:pPr>
            <a:r>
              <a:rPr lang="en-US" sz="1400" b="1" dirty="0">
                <a:solidFill>
                  <a:srgbClr val="C65B3F"/>
                </a:solidFill>
                <a:latin typeface="Calibri" pitchFamily="34" charset="0"/>
                <a:ea typeface="Calibri" pitchFamily="34" charset="-122"/>
                <a:cs typeface="Calibri" pitchFamily="34" charset="-120"/>
              </a:rPr>
              <a:t>Why it is a wrong vector, not a worse one</a:t>
            </a:r>
            <a:endParaRPr lang="en-US" sz="1400" dirty="0"/>
          </a:p>
        </p:txBody>
      </p:sp>
      <p:sp>
        <p:nvSpPr>
          <p:cNvPr id="13" name="Text 10"/>
          <p:cNvSpPr txBox="1"/>
          <p:nvPr/>
        </p:nvSpPr>
        <p:spPr>
          <a:xfrm>
            <a:off x="7836408" y="2286000"/>
            <a:ext cx="3529584" cy="2011680"/>
          </a:xfrm>
          <a:prstGeom prst="rect">
            <a:avLst/>
          </a:prstGeom>
          <a:noFill/>
          <a:ln/>
        </p:spPr>
        <p:txBody>
          <a:bodyPr wrap="square" lIns="0" tIns="0" rIns="0" bIns="0" rtlCol="0" anchor="t"/>
          <a:lstStyle/>
          <a:p>
            <a:pPr algn="l" indent="0" marL="0">
              <a:lnSpc>
                <a:spcPct val="118000"/>
              </a:lnSpc>
              <a:buNone/>
            </a:pPr>
            <a:r>
              <a:rPr lang="en-US" sz="1250" dirty="0">
                <a:solidFill>
                  <a:srgbClr val="39435A"/>
                </a:solidFill>
                <a:latin typeface="Calibri" pitchFamily="34" charset="0"/>
                <a:ea typeface="Calibri" pitchFamily="34" charset="-122"/>
                <a:cs typeface="Calibri" pitchFamily="34" charset="-120"/>
              </a:rPr>
              <a:t>F2LLM pools with last-token pooling. Truncation cuts the EOS, so the pooled vector becomes an arbitrary interior token.</a:t>
            </a:r>
            <a:endParaRPr lang="en-US" sz="1250" dirty="0"/>
          </a:p>
          <a:p>
            <a:pPr algn="l" indent="0" marL="0">
              <a:lnSpc>
                <a:spcPct val="118000"/>
              </a:lnSpc>
              <a:buNone/>
            </a:pPr>
            <a:endParaRPr lang="en-US" sz="1250" dirty="0"/>
          </a:p>
          <a:p>
            <a:pPr algn="l" indent="0" marL="0">
              <a:lnSpc>
                <a:spcPct val="118000"/>
              </a:lnSpc>
              <a:buNone/>
            </a:pPr>
            <a:r>
              <a:rPr lang="en-US" sz="1250" dirty="0">
                <a:solidFill>
                  <a:srgbClr val="39435A"/>
                </a:solidFill>
                <a:latin typeface="Calibri" pitchFamily="34" charset="0"/>
                <a:ea typeface="Calibri" pitchFamily="34" charset="-122"/>
                <a:cs typeface="Calibri" pitchFamily="34" charset="-120"/>
              </a:rPr>
              <a:t>4.58% of documents and 1.73% of queries were being silently corrupted — and the run still succeeded every time.</a:t>
            </a:r>
            <a:endParaRPr lang="en-US" sz="1250" dirty="0"/>
          </a:p>
        </p:txBody>
      </p:sp>
      <p:sp>
        <p:nvSpPr>
          <p:cNvPr id="14" name="Shape 11"/>
          <p:cNvSpPr/>
          <p:nvPr/>
        </p:nvSpPr>
        <p:spPr>
          <a:xfrm>
            <a:off x="566928" y="4864608"/>
            <a:ext cx="11027664" cy="914400"/>
          </a:xfrm>
          <a:prstGeom prst="roundRect">
            <a:avLst>
              <a:gd name="adj" fmla="val 7000"/>
            </a:avLst>
          </a:prstGeom>
          <a:solidFill>
            <a:srgbClr val="EEF2F8"/>
          </a:solidFill>
          <a:ln/>
        </p:spPr>
      </p:sp>
      <p:sp>
        <p:nvSpPr>
          <p:cNvPr id="15" name="Text 12"/>
          <p:cNvSpPr txBox="1"/>
          <p:nvPr/>
        </p:nvSpPr>
        <p:spPr>
          <a:xfrm>
            <a:off x="841248" y="5029200"/>
            <a:ext cx="10479024" cy="640080"/>
          </a:xfrm>
          <a:prstGeom prst="rect">
            <a:avLst/>
          </a:prstGeom>
          <a:noFill/>
          <a:ln/>
        </p:spPr>
        <p:txBody>
          <a:bodyPr wrap="square" lIns="0" tIns="0" rIns="0" bIns="0" rtlCol="0" anchor="t"/>
          <a:lstStyle/>
          <a:p>
            <a:pPr algn="l" indent="0" marL="0">
              <a:lnSpc>
                <a:spcPct val="112000"/>
              </a:lnSpc>
              <a:buNone/>
            </a:pPr>
            <a:r>
              <a:rPr lang="en-US" sz="1250" dirty="0">
                <a:solidFill>
                  <a:srgbClr val="22304F"/>
                </a:solidFill>
                <a:latin typeface="Calibri" pitchFamily="34" charset="0"/>
                <a:ea typeface="Calibri" pitchFamily="34" charset="-122"/>
                <a:cs typeface="Calibri" pitchFamily="34" charset="-120"/>
              </a:rPr>
              <a:t>tests/test_published_recipe.py pins all four values against MTEB's own model registry, and the encoder probes the loaded tokenizer at construction and refuses to run if the EOS is missing. This cannot regress silently.</a:t>
            </a:r>
            <a:endParaRPr lang="en-US" sz="1250" dirty="0"/>
          </a:p>
        </p:txBody>
      </p:sp>
      <p:sp>
        <p:nvSpPr>
          <p:cNvPr id="16" name="Text 13"/>
          <p:cNvSpPr txBox="1"/>
          <p:nvPr/>
        </p:nvSpPr>
        <p:spPr>
          <a:xfrm>
            <a:off x="566928" y="5897880"/>
            <a:ext cx="11027664" cy="320040"/>
          </a:xfrm>
          <a:prstGeom prst="rect">
            <a:avLst/>
          </a:prstGeom>
          <a:noFill/>
          <a:ln/>
        </p:spPr>
        <p:txBody>
          <a:bodyPr wrap="square" lIns="0" tIns="0" rIns="0" bIns="0" rtlCol="0" anchor="t"/>
          <a:lstStyle/>
          <a:p>
            <a:pPr algn="l" indent="0" marL="0">
              <a:lnSpc>
                <a:spcPct val="112000"/>
              </a:lnSpc>
              <a:buNone/>
            </a:pPr>
            <a:r>
              <a:rPr lang="en-US" sz="1250" i="1" dirty="0">
                <a:solidFill>
                  <a:srgbClr val="7C879B"/>
                </a:solidFill>
                <a:latin typeface="Calibri" pitchFamily="34" charset="0"/>
                <a:ea typeface="Calibri" pitchFamily="34" charset="-122"/>
                <a:cs typeface="Calibri" pitchFamily="34" charset="-120"/>
              </a:rPr>
              <a:t>On this benchmark, reproducing the recipe exactly was worth more than most algorithmic ideas we tried afterwards.</a:t>
            </a:r>
            <a:endParaRPr lang="en-US" sz="1250" dirty="0"/>
          </a:p>
        </p:txBody>
      </p:sp>
      <p:sp>
        <p:nvSpPr>
          <p:cNvPr id="17" name="Text 14"/>
          <p:cNvSpPr txBox="1"/>
          <p:nvPr/>
        </p:nvSpPr>
        <p:spPr>
          <a:xfrm>
            <a:off x="566928" y="6327648"/>
            <a:ext cx="10479024" cy="274320"/>
          </a:xfrm>
          <a:prstGeom prst="rect">
            <a:avLst/>
          </a:prstGeom>
          <a:noFill/>
          <a:ln/>
        </p:spPr>
        <p:txBody>
          <a:bodyPr wrap="square" lIns="0" tIns="0" rIns="0" bIns="0" rtlCol="0" anchor="ctr"/>
          <a:lstStyle/>
          <a:p>
            <a:pPr indent="0" marL="0">
              <a:buNone/>
            </a:pPr>
            <a:r>
              <a:rPr lang="en-US" sz="900" dirty="0">
                <a:solidFill>
                  <a:srgbClr val="7C879B"/>
                </a:solidFill>
                <a:latin typeface="Calibri" pitchFamily="34" charset="0"/>
                <a:ea typeface="Calibri" pitchFamily="34" charset="-122"/>
                <a:cs typeface="Calibri" pitchFamily="34" charset="-120"/>
              </a:rPr>
              <a:t>CodeDoctor  ·  Samsung PRISM GenAI Hackathon 2026  ·  Theme 01</a:t>
            </a:r>
            <a:endParaRPr lang="en-US" sz="900" dirty="0"/>
          </a:p>
        </p:txBody>
      </p:sp>
      <p:sp>
        <p:nvSpPr>
          <p:cNvPr id="18" name="Text 15"/>
          <p:cNvSpPr txBox="1"/>
          <p:nvPr/>
        </p:nvSpPr>
        <p:spPr>
          <a:xfrm>
            <a:off x="11045952" y="6327648"/>
            <a:ext cx="548640" cy="274320"/>
          </a:xfrm>
          <a:prstGeom prst="rect">
            <a:avLst/>
          </a:prstGeom>
          <a:noFill/>
          <a:ln/>
        </p:spPr>
        <p:txBody>
          <a:bodyPr wrap="square" lIns="0" tIns="0" rIns="0" bIns="0" rtlCol="0" anchor="ctr"/>
          <a:lstStyle/>
          <a:p>
            <a:pPr algn="r" indent="0" marL="0">
              <a:buNone/>
            </a:pPr>
            <a:r>
              <a:rPr lang="en-US" sz="900" dirty="0">
                <a:solidFill>
                  <a:srgbClr val="7C879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27664" cy="237744"/>
          </a:xfrm>
          <a:prstGeom prst="rect">
            <a:avLst/>
          </a:prstGeom>
          <a:noFill/>
          <a:ln/>
        </p:spPr>
        <p:txBody>
          <a:bodyPr wrap="square" lIns="0" tIns="0" rIns="0" bIns="0" rtlCol="0" anchor="ctr"/>
          <a:lstStyle/>
          <a:p>
            <a:pPr indent="0" marL="0">
              <a:buNone/>
            </a:pPr>
            <a:r>
              <a:rPr lang="en-US" sz="1100" b="1" spc="160" kern="0" dirty="0">
                <a:solidFill>
                  <a:srgbClr val="0F9B82"/>
                </a:solidFill>
                <a:latin typeface="Calibri" pitchFamily="34" charset="0"/>
                <a:ea typeface="Calibri" pitchFamily="34" charset="-122"/>
                <a:cs typeface="Calibri" pitchFamily="34" charset="-120"/>
              </a:rPr>
              <a:t>BRIEF AXES 1–4</a:t>
            </a:r>
            <a:endParaRPr lang="en-US" sz="1100" dirty="0"/>
          </a:p>
        </p:txBody>
      </p:sp>
      <p:sp>
        <p:nvSpPr>
          <p:cNvPr id="3" name="Text 1"/>
          <p:cNvSpPr txBox="1"/>
          <p:nvPr/>
        </p:nvSpPr>
        <p:spPr>
          <a:xfrm>
            <a:off x="566928" y="566928"/>
            <a:ext cx="11027664" cy="731520"/>
          </a:xfrm>
          <a:prstGeom prst="rect">
            <a:avLst/>
          </a:prstGeom>
          <a:noFill/>
          <a:ln/>
        </p:spPr>
        <p:txBody>
          <a:bodyPr wrap="square" lIns="0" tIns="0" rIns="0" bIns="0" rtlCol="0" anchor="ctr"/>
          <a:lstStyle/>
          <a:p>
            <a:pPr indent="0" marL="0">
              <a:buNone/>
            </a:pPr>
            <a:r>
              <a:rPr lang="en-US" sz="3400" b="1" dirty="0">
                <a:solidFill>
                  <a:srgbClr val="22304F"/>
                </a:solidFill>
                <a:latin typeface="Calibri" pitchFamily="34" charset="0"/>
                <a:ea typeface="Calibri" pitchFamily="34" charset="-122"/>
                <a:cs typeface="Calibri" pitchFamily="34" charset="-120"/>
              </a:rPr>
              <a:t>A query implies a shape of answer</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27664" cy="914400"/>
        </p:xfrm>
        <a:graphic>
          <a:graphicData uri="http://schemas.openxmlformats.org/drawingml/2006/table">
            <a:tbl>
              <a:tblPr/>
              <a:tblGrid>
                <a:gridCol w="2286000"/>
                <a:gridCol w="5120640"/>
                <a:gridCol w="3639312"/>
              </a:tblGrid>
              <a:tr h="34747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query family</a:t>
                      </a:r>
                      <a:endParaRPr lang="en-US" sz="115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22304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surface evidence</a:t>
                      </a:r>
                      <a:endParaRPr lang="en-US" sz="115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22304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implied answer</a:t>
                      </a:r>
                      <a:endParaRPr lang="en-US" sz="115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22304F"/>
                    </a:solidFill>
                  </a:tcPr>
                </a:tc>
              </a:tr>
              <a:tr h="347472">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competitive-stdin</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-----Input-----, $n$, “the first line contains”</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reads input(), prints</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leetcode-method</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Example 1:, Constraints:, nums</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class Solution:</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kata-function</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markdown fences, “write a function”</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a free-standing def</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r h="347472">
                <a:tc>
                  <a:txBody>
                    <a:bodyPr/>
                    <a:lstStyle/>
                    <a:p>
                      <a:pPr algn="l" indent="0" marL="0">
                        <a:buNone/>
                      </a:pPr>
                      <a:r>
                        <a:rPr lang="en-US" sz="1200" b="1" dirty="0">
                          <a:solidFill>
                            <a:srgbClr val="C65B3F"/>
                          </a:solidFill>
                          <a:latin typeface="Calibri" pitchFamily="34" charset="0"/>
                          <a:ea typeface="Calibri" pitchFamily="34" charset="-122"/>
                          <a:cs typeface="Calibri" pitchFamily="34" charset="-120"/>
                        </a:rPr>
                        <a:t>unknown</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C65B3F"/>
                          </a:solidFill>
                          <a:latin typeface="Calibri" pitchFamily="34" charset="0"/>
                          <a:ea typeface="Calibri" pitchFamily="34" charset="-122"/>
                          <a:cs typeface="Calibri" pitchFamily="34" charset="-120"/>
                        </a:rPr>
                        <a:t>no prior is applied</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3657600"/>
            <a:ext cx="5486400" cy="1051560"/>
          </a:xfrm>
          <a:prstGeom prst="roundRect">
            <a:avLst>
              <a:gd name="adj" fmla="val 6087"/>
            </a:avLst>
          </a:prstGeom>
          <a:solidFill>
            <a:srgbClr val="EEF2F8"/>
          </a:solidFill>
          <a:ln/>
        </p:spPr>
      </p:sp>
      <p:sp>
        <p:nvSpPr>
          <p:cNvPr id="6" name="Text 3"/>
          <p:cNvSpPr txBox="1"/>
          <p:nvPr/>
        </p:nvSpPr>
        <p:spPr>
          <a:xfrm>
            <a:off x="822960" y="3822192"/>
            <a:ext cx="4937760" cy="274320"/>
          </a:xfrm>
          <a:prstGeom prst="rect">
            <a:avLst/>
          </a:prstGeom>
          <a:noFill/>
          <a:ln/>
        </p:spPr>
        <p:txBody>
          <a:bodyPr wrap="square" lIns="0" tIns="0" rIns="0" bIns="0" rtlCol="0" anchor="t"/>
          <a:lstStyle/>
          <a:p>
            <a:pPr algn="l" indent="0" marL="0">
              <a:lnSpc>
                <a:spcPct val="112000"/>
              </a:lnSpc>
              <a:buNone/>
            </a:pPr>
            <a:r>
              <a:rPr lang="en-US" sz="1350" b="1" dirty="0">
                <a:solidFill>
                  <a:srgbClr val="22304F"/>
                </a:solidFill>
                <a:latin typeface="Calibri" pitchFamily="34" charset="0"/>
                <a:ea typeface="Calibri" pitchFamily="34" charset="-122"/>
                <a:cs typeface="Calibri" pitchFamily="34" charset="-120"/>
              </a:rPr>
              <a:t>UNKNOWN is a real outcome</a:t>
            </a:r>
            <a:endParaRPr lang="en-US" sz="1350" dirty="0"/>
          </a:p>
        </p:txBody>
      </p:sp>
      <p:sp>
        <p:nvSpPr>
          <p:cNvPr id="7" name="Text 4"/>
          <p:cNvSpPr txBox="1"/>
          <p:nvPr/>
        </p:nvSpPr>
        <p:spPr>
          <a:xfrm>
            <a:off x="822960" y="4114800"/>
            <a:ext cx="4983480" cy="54864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A family is asserted only on evidence that clears an absolute floor and leads the runner-up. Otherwise the query contributes nothing downstream — rather than a guess.</a:t>
            </a:r>
            <a:endParaRPr lang="en-US" sz="1200" dirty="0"/>
          </a:p>
        </p:txBody>
      </p:sp>
      <p:sp>
        <p:nvSpPr>
          <p:cNvPr id="8" name="Shape 5"/>
          <p:cNvSpPr/>
          <p:nvPr/>
        </p:nvSpPr>
        <p:spPr>
          <a:xfrm>
            <a:off x="6309360" y="3657600"/>
            <a:ext cx="5285232" cy="1051560"/>
          </a:xfrm>
          <a:prstGeom prst="roundRect">
            <a:avLst>
              <a:gd name="adj" fmla="val 6087"/>
            </a:avLst>
          </a:prstGeom>
          <a:solidFill>
            <a:srgbClr val="EEF2F8"/>
          </a:solidFill>
          <a:ln/>
        </p:spPr>
      </p:sp>
      <p:sp>
        <p:nvSpPr>
          <p:cNvPr id="9" name="Text 6"/>
          <p:cNvSpPr txBox="1"/>
          <p:nvPr/>
        </p:nvSpPr>
        <p:spPr>
          <a:xfrm>
            <a:off x="6565392" y="3822192"/>
            <a:ext cx="4937760" cy="274320"/>
          </a:xfrm>
          <a:prstGeom prst="rect">
            <a:avLst/>
          </a:prstGeom>
          <a:noFill/>
          <a:ln/>
        </p:spPr>
        <p:txBody>
          <a:bodyPr wrap="square" lIns="0" tIns="0" rIns="0" bIns="0" rtlCol="0" anchor="t"/>
          <a:lstStyle/>
          <a:p>
            <a:pPr algn="l" indent="0" marL="0">
              <a:lnSpc>
                <a:spcPct val="112000"/>
              </a:lnSpc>
              <a:buNone/>
            </a:pPr>
            <a:r>
              <a:rPr lang="en-US" sz="1350" b="1" dirty="0">
                <a:solidFill>
                  <a:srgbClr val="22304F"/>
                </a:solidFill>
                <a:latin typeface="Calibri" pitchFamily="34" charset="0"/>
                <a:ea typeface="Calibri" pitchFamily="34" charset="-122"/>
                <a:cs typeface="Calibri" pitchFamily="34" charset="-120"/>
              </a:rPr>
              <a:t>The fallback labels itself</a:t>
            </a:r>
            <a:endParaRPr lang="en-US" sz="1350" dirty="0"/>
          </a:p>
        </p:txBody>
      </p:sp>
      <p:sp>
        <p:nvSpPr>
          <p:cNvPr id="10" name="Text 7"/>
          <p:cNvSpPr txBox="1"/>
          <p:nvPr/>
        </p:nvSpPr>
        <p:spPr>
          <a:xfrm>
            <a:off x="6565392" y="4114800"/>
            <a:ext cx="4773168" cy="54864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ast.parse per snippet, with a regex fallback for the Python-2 and truncated fragments in the corpus. The fallback reports CANDIDATE, never VERIFIED.</a:t>
            </a:r>
            <a:endParaRPr lang="en-US" sz="1200" dirty="0"/>
          </a:p>
        </p:txBody>
      </p:sp>
      <p:sp>
        <p:nvSpPr>
          <p:cNvPr id="11" name="Text 8"/>
          <p:cNvSpPr txBox="1"/>
          <p:nvPr/>
        </p:nvSpPr>
        <p:spPr>
          <a:xfrm>
            <a:off x="566928" y="4983480"/>
            <a:ext cx="11027664" cy="365760"/>
          </a:xfrm>
          <a:prstGeom prst="rect">
            <a:avLst/>
          </a:prstGeom>
          <a:noFill/>
          <a:ln/>
        </p:spPr>
        <p:txBody>
          <a:bodyPr wrap="square" lIns="0" tIns="0" rIns="0" bIns="0" rtlCol="0" anchor="t"/>
          <a:lstStyle/>
          <a:p>
            <a:pPr algn="l" indent="0" marL="0">
              <a:lnSpc>
                <a:spcPct val="112000"/>
              </a:lnSpc>
              <a:buNone/>
            </a:pPr>
            <a:r>
              <a:rPr lang="en-US" sz="1300" i="1" dirty="0">
                <a:solidFill>
                  <a:srgbClr val="7C879B"/>
                </a:solidFill>
                <a:latin typeface="Calibri" pitchFamily="34" charset="0"/>
                <a:ea typeface="Calibri" pitchFamily="34" charset="-122"/>
                <a:cs typeface="Calibri" pitchFamily="34" charset="-120"/>
              </a:rPr>
              <a:t>Both sides of the pair are categorized before they are compared, and both are allowed to say they do not know.</a:t>
            </a:r>
            <a:endParaRPr lang="en-US" sz="1300" dirty="0"/>
          </a:p>
        </p:txBody>
      </p:sp>
      <p:sp>
        <p:nvSpPr>
          <p:cNvPr id="12" name="Text 9"/>
          <p:cNvSpPr txBox="1"/>
          <p:nvPr/>
        </p:nvSpPr>
        <p:spPr>
          <a:xfrm>
            <a:off x="566928" y="6327648"/>
            <a:ext cx="10479024" cy="274320"/>
          </a:xfrm>
          <a:prstGeom prst="rect">
            <a:avLst/>
          </a:prstGeom>
          <a:noFill/>
          <a:ln/>
        </p:spPr>
        <p:txBody>
          <a:bodyPr wrap="square" lIns="0" tIns="0" rIns="0" bIns="0" rtlCol="0" anchor="ctr"/>
          <a:lstStyle/>
          <a:p>
            <a:pPr indent="0" marL="0">
              <a:buNone/>
            </a:pPr>
            <a:r>
              <a:rPr lang="en-US" sz="900" dirty="0">
                <a:solidFill>
                  <a:srgbClr val="7C879B"/>
                </a:solidFill>
                <a:latin typeface="Calibri" pitchFamily="34" charset="0"/>
                <a:ea typeface="Calibri" pitchFamily="34" charset="-122"/>
                <a:cs typeface="Calibri" pitchFamily="34" charset="-120"/>
              </a:rPr>
              <a:t>CodeDoctor  ·  Samsung PRISM GenAI Hackathon 2026  ·  Theme 01</a:t>
            </a:r>
            <a:endParaRPr lang="en-US" sz="900" dirty="0"/>
          </a:p>
        </p:txBody>
      </p:sp>
      <p:sp>
        <p:nvSpPr>
          <p:cNvPr id="13" name="Text 10"/>
          <p:cNvSpPr txBox="1"/>
          <p:nvPr/>
        </p:nvSpPr>
        <p:spPr>
          <a:xfrm>
            <a:off x="11045952" y="6327648"/>
            <a:ext cx="548640" cy="274320"/>
          </a:xfrm>
          <a:prstGeom prst="rect">
            <a:avLst/>
          </a:prstGeom>
          <a:noFill/>
          <a:ln/>
        </p:spPr>
        <p:txBody>
          <a:bodyPr wrap="square" lIns="0" tIns="0" rIns="0" bIns="0" rtlCol="0" anchor="ctr"/>
          <a:lstStyle/>
          <a:p>
            <a:pPr algn="r" indent="0" marL="0">
              <a:buNone/>
            </a:pPr>
            <a:r>
              <a:rPr lang="en-US" sz="900" dirty="0">
                <a:solidFill>
                  <a:srgbClr val="7C879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27664" cy="237744"/>
          </a:xfrm>
          <a:prstGeom prst="rect">
            <a:avLst/>
          </a:prstGeom>
          <a:noFill/>
          <a:ln/>
        </p:spPr>
        <p:txBody>
          <a:bodyPr wrap="square" lIns="0" tIns="0" rIns="0" bIns="0" rtlCol="0" anchor="ctr"/>
          <a:lstStyle/>
          <a:p>
            <a:pPr indent="0" marL="0">
              <a:buNone/>
            </a:pPr>
            <a:r>
              <a:rPr lang="en-US" sz="1100" b="1" spc="160" kern="0" dirty="0">
                <a:solidFill>
                  <a:srgbClr val="0F9B82"/>
                </a:solidFill>
                <a:latin typeface="Calibri" pitchFamily="34" charset="0"/>
                <a:ea typeface="Calibri" pitchFamily="34" charset="-122"/>
                <a:cs typeface="Calibri" pitchFamily="34" charset="-120"/>
              </a:rPr>
              <a:t>BRIEF AXIS 5</a:t>
            </a:r>
            <a:endParaRPr lang="en-US" sz="1100" dirty="0"/>
          </a:p>
        </p:txBody>
      </p:sp>
      <p:sp>
        <p:nvSpPr>
          <p:cNvPr id="3" name="Text 1"/>
          <p:cNvSpPr txBox="1"/>
          <p:nvPr/>
        </p:nvSpPr>
        <p:spPr>
          <a:xfrm>
            <a:off x="566928" y="566928"/>
            <a:ext cx="11027664" cy="731520"/>
          </a:xfrm>
          <a:prstGeom prst="rect">
            <a:avLst/>
          </a:prstGeom>
          <a:noFill/>
          <a:ln/>
        </p:spPr>
        <p:txBody>
          <a:bodyPr wrap="square" lIns="0" tIns="0" rIns="0" bIns="0" rtlCol="0" anchor="ctr"/>
          <a:lstStyle/>
          <a:p>
            <a:pPr indent="0" marL="0">
              <a:buNone/>
            </a:pPr>
            <a:r>
              <a:rPr lang="en-US" sz="3400" b="1" dirty="0">
                <a:solidFill>
                  <a:srgbClr val="22304F"/>
                </a:solidFill>
                <a:latin typeface="Calibri" pitchFamily="34" charset="0"/>
                <a:ea typeface="Calibri" pitchFamily="34" charset="-122"/>
                <a:cs typeface="Calibri" pitchFamily="34" charset="-120"/>
              </a:rPr>
              <a:t>Nine features, linear, and printable</a:t>
            </a:r>
            <a:endParaRPr lang="en-US" sz="3400" dirty="0"/>
          </a:p>
        </p:txBody>
      </p:sp>
      <p:sp>
        <p:nvSpPr>
          <p:cNvPr id="4" name="Shape 2"/>
          <p:cNvSpPr/>
          <p:nvPr/>
        </p:nvSpPr>
        <p:spPr>
          <a:xfrm>
            <a:off x="566928" y="1481328"/>
            <a:ext cx="1051560" cy="347472"/>
          </a:xfrm>
          <a:prstGeom prst="roundRect">
            <a:avLst>
              <a:gd name="adj" fmla="val 50000"/>
            </a:avLst>
          </a:prstGeom>
          <a:solidFill>
            <a:srgbClr val="EEF2F8"/>
          </a:solidFill>
          <a:ln/>
        </p:spPr>
      </p:sp>
      <p:sp>
        <p:nvSpPr>
          <p:cNvPr id="5" name="Text 3"/>
          <p:cNvSpPr txBox="1"/>
          <p:nvPr/>
        </p:nvSpPr>
        <p:spPr>
          <a:xfrm>
            <a:off x="566928" y="1481328"/>
            <a:ext cx="1051560" cy="347472"/>
          </a:xfrm>
          <a:prstGeom prst="rect">
            <a:avLst/>
          </a:prstGeom>
          <a:noFill/>
          <a:ln/>
        </p:spPr>
        <p:txBody>
          <a:bodyPr wrap="square" lIns="0" tIns="0" rIns="0" bIns="0" rtlCol="0" anchor="ctr"/>
          <a:lstStyle/>
          <a:p>
            <a:pPr algn="ctr" indent="0" marL="0">
              <a:buNone/>
            </a:pPr>
            <a:r>
              <a:rPr lang="en-US" sz="1100" dirty="0">
                <a:solidFill>
                  <a:srgbClr val="22304F"/>
                </a:solidFill>
                <a:latin typeface="Courier New" pitchFamily="34" charset="0"/>
                <a:ea typeface="Courier New" pitchFamily="34" charset="-122"/>
                <a:cs typeface="Courier New" pitchFamily="34" charset="-120"/>
              </a:rPr>
              <a:t>dense</a:t>
            </a:r>
            <a:endParaRPr lang="en-US" sz="1100" dirty="0"/>
          </a:p>
        </p:txBody>
      </p:sp>
      <p:sp>
        <p:nvSpPr>
          <p:cNvPr id="6" name="Shape 4"/>
          <p:cNvSpPr/>
          <p:nvPr/>
        </p:nvSpPr>
        <p:spPr>
          <a:xfrm>
            <a:off x="1764792" y="1481328"/>
            <a:ext cx="1883664" cy="347472"/>
          </a:xfrm>
          <a:prstGeom prst="roundRect">
            <a:avLst>
              <a:gd name="adj" fmla="val 50000"/>
            </a:avLst>
          </a:prstGeom>
          <a:solidFill>
            <a:srgbClr val="EEF2F8"/>
          </a:solidFill>
          <a:ln/>
        </p:spPr>
      </p:sp>
      <p:sp>
        <p:nvSpPr>
          <p:cNvPr id="7" name="Text 5"/>
          <p:cNvSpPr txBox="1"/>
          <p:nvPr/>
        </p:nvSpPr>
        <p:spPr>
          <a:xfrm>
            <a:off x="1764792" y="1481328"/>
            <a:ext cx="1883664" cy="347472"/>
          </a:xfrm>
          <a:prstGeom prst="rect">
            <a:avLst/>
          </a:prstGeom>
          <a:noFill/>
          <a:ln/>
        </p:spPr>
        <p:txBody>
          <a:bodyPr wrap="square" lIns="0" tIns="0" rIns="0" bIns="0" rtlCol="0" anchor="ctr"/>
          <a:lstStyle/>
          <a:p>
            <a:pPr algn="ctr" indent="0" marL="0">
              <a:buNone/>
            </a:pPr>
            <a:r>
              <a:rPr lang="en-US" sz="1100" dirty="0">
                <a:solidFill>
                  <a:srgbClr val="22304F"/>
                </a:solidFill>
                <a:latin typeface="Courier New" pitchFamily="34" charset="0"/>
                <a:ea typeface="Courier New" pitchFamily="34" charset="-122"/>
                <a:cs typeface="Courier New" pitchFamily="34" charset="-120"/>
              </a:rPr>
              <a:t>dense_margin</a:t>
            </a:r>
            <a:endParaRPr lang="en-US" sz="1100" dirty="0"/>
          </a:p>
        </p:txBody>
      </p:sp>
      <p:sp>
        <p:nvSpPr>
          <p:cNvPr id="8" name="Shape 6"/>
          <p:cNvSpPr/>
          <p:nvPr/>
        </p:nvSpPr>
        <p:spPr>
          <a:xfrm>
            <a:off x="3794760" y="1481328"/>
            <a:ext cx="2002536" cy="347472"/>
          </a:xfrm>
          <a:prstGeom prst="roundRect">
            <a:avLst>
              <a:gd name="adj" fmla="val 50000"/>
            </a:avLst>
          </a:prstGeom>
          <a:solidFill>
            <a:srgbClr val="EEF2F8"/>
          </a:solidFill>
          <a:ln/>
        </p:spPr>
      </p:sp>
      <p:sp>
        <p:nvSpPr>
          <p:cNvPr id="9" name="Text 7"/>
          <p:cNvSpPr txBox="1"/>
          <p:nvPr/>
        </p:nvSpPr>
        <p:spPr>
          <a:xfrm>
            <a:off x="3794760" y="1481328"/>
            <a:ext cx="2002536" cy="347472"/>
          </a:xfrm>
          <a:prstGeom prst="rect">
            <a:avLst/>
          </a:prstGeom>
          <a:noFill/>
          <a:ln/>
        </p:spPr>
        <p:txBody>
          <a:bodyPr wrap="square" lIns="0" tIns="0" rIns="0" bIns="0" rtlCol="0" anchor="ctr"/>
          <a:lstStyle/>
          <a:p>
            <a:pPr algn="ctr" indent="0" marL="0">
              <a:buNone/>
            </a:pPr>
            <a:r>
              <a:rPr lang="en-US" sz="1100" dirty="0">
                <a:solidFill>
                  <a:srgbClr val="22304F"/>
                </a:solidFill>
                <a:latin typeface="Courier New" pitchFamily="34" charset="0"/>
                <a:ea typeface="Courier New" pitchFamily="34" charset="-122"/>
                <a:cs typeface="Courier New" pitchFamily="34" charset="-120"/>
              </a:rPr>
              <a:t>family_compat</a:t>
            </a:r>
            <a:endParaRPr lang="en-US" sz="1100" dirty="0"/>
          </a:p>
        </p:txBody>
      </p:sp>
      <p:sp>
        <p:nvSpPr>
          <p:cNvPr id="10" name="Shape 8"/>
          <p:cNvSpPr/>
          <p:nvPr/>
        </p:nvSpPr>
        <p:spPr>
          <a:xfrm>
            <a:off x="5943600" y="1481328"/>
            <a:ext cx="2359152" cy="347472"/>
          </a:xfrm>
          <a:prstGeom prst="roundRect">
            <a:avLst>
              <a:gd name="adj" fmla="val 50000"/>
            </a:avLst>
          </a:prstGeom>
          <a:solidFill>
            <a:srgbClr val="EEF2F8"/>
          </a:solidFill>
          <a:ln/>
        </p:spPr>
      </p:sp>
      <p:sp>
        <p:nvSpPr>
          <p:cNvPr id="11" name="Text 9"/>
          <p:cNvSpPr txBox="1"/>
          <p:nvPr/>
        </p:nvSpPr>
        <p:spPr>
          <a:xfrm>
            <a:off x="5943600" y="1481328"/>
            <a:ext cx="2359152" cy="347472"/>
          </a:xfrm>
          <a:prstGeom prst="rect">
            <a:avLst/>
          </a:prstGeom>
          <a:noFill/>
          <a:ln/>
        </p:spPr>
        <p:txBody>
          <a:bodyPr wrap="square" lIns="0" tIns="0" rIns="0" bIns="0" rtlCol="0" anchor="ctr"/>
          <a:lstStyle/>
          <a:p>
            <a:pPr algn="ctr" indent="0" marL="0">
              <a:buNone/>
            </a:pPr>
            <a:r>
              <a:rPr lang="en-US" sz="1100" dirty="0">
                <a:solidFill>
                  <a:srgbClr val="22304F"/>
                </a:solidFill>
                <a:latin typeface="Courier New" pitchFamily="34" charset="0"/>
                <a:ea typeface="Courier New" pitchFamily="34" charset="-122"/>
                <a:cs typeface="Courier New" pitchFamily="34" charset="-120"/>
              </a:rPr>
              <a:t>defined_name_hit</a:t>
            </a:r>
            <a:endParaRPr lang="en-US" sz="1100" dirty="0"/>
          </a:p>
        </p:txBody>
      </p:sp>
      <p:sp>
        <p:nvSpPr>
          <p:cNvPr id="12" name="Shape 10"/>
          <p:cNvSpPr/>
          <p:nvPr/>
        </p:nvSpPr>
        <p:spPr>
          <a:xfrm>
            <a:off x="8449056" y="1481328"/>
            <a:ext cx="2478024" cy="347472"/>
          </a:xfrm>
          <a:prstGeom prst="roundRect">
            <a:avLst>
              <a:gd name="adj" fmla="val 50000"/>
            </a:avLst>
          </a:prstGeom>
          <a:solidFill>
            <a:srgbClr val="EEF2F8"/>
          </a:solidFill>
          <a:ln/>
        </p:spPr>
      </p:sp>
      <p:sp>
        <p:nvSpPr>
          <p:cNvPr id="13" name="Text 11"/>
          <p:cNvSpPr txBox="1"/>
          <p:nvPr/>
        </p:nvSpPr>
        <p:spPr>
          <a:xfrm>
            <a:off x="8449056" y="1481328"/>
            <a:ext cx="2478024" cy="347472"/>
          </a:xfrm>
          <a:prstGeom prst="rect">
            <a:avLst/>
          </a:prstGeom>
          <a:noFill/>
          <a:ln/>
        </p:spPr>
        <p:txBody>
          <a:bodyPr wrap="square" lIns="0" tIns="0" rIns="0" bIns="0" rtlCol="0" anchor="ctr"/>
          <a:lstStyle/>
          <a:p>
            <a:pPr algn="ctr" indent="0" marL="0">
              <a:buNone/>
            </a:pPr>
            <a:r>
              <a:rPr lang="en-US" sz="1100" dirty="0">
                <a:solidFill>
                  <a:srgbClr val="22304F"/>
                </a:solidFill>
                <a:latin typeface="Courier New" pitchFamily="34" charset="0"/>
                <a:ea typeface="Courier New" pitchFamily="34" charset="-122"/>
                <a:cs typeface="Courier New" pitchFamily="34" charset="-120"/>
              </a:rPr>
              <a:t>ident_idf_overlap</a:t>
            </a:r>
            <a:endParaRPr lang="en-US" sz="1100" dirty="0"/>
          </a:p>
        </p:txBody>
      </p:sp>
      <p:sp>
        <p:nvSpPr>
          <p:cNvPr id="14" name="Shape 12"/>
          <p:cNvSpPr/>
          <p:nvPr/>
        </p:nvSpPr>
        <p:spPr>
          <a:xfrm>
            <a:off x="566928" y="1920240"/>
            <a:ext cx="2596896" cy="347472"/>
          </a:xfrm>
          <a:prstGeom prst="roundRect">
            <a:avLst>
              <a:gd name="adj" fmla="val 50000"/>
            </a:avLst>
          </a:prstGeom>
          <a:solidFill>
            <a:srgbClr val="EEF2F8"/>
          </a:solidFill>
          <a:ln/>
        </p:spPr>
      </p:sp>
      <p:sp>
        <p:nvSpPr>
          <p:cNvPr id="15" name="Text 13"/>
          <p:cNvSpPr txBox="1"/>
          <p:nvPr/>
        </p:nvSpPr>
        <p:spPr>
          <a:xfrm>
            <a:off x="566928" y="1920240"/>
            <a:ext cx="2596896" cy="347472"/>
          </a:xfrm>
          <a:prstGeom prst="rect">
            <a:avLst/>
          </a:prstGeom>
          <a:noFill/>
          <a:ln/>
        </p:spPr>
        <p:txBody>
          <a:bodyPr wrap="square" lIns="0" tIns="0" rIns="0" bIns="0" rtlCol="0" anchor="ctr"/>
          <a:lstStyle/>
          <a:p>
            <a:pPr algn="ctr" indent="0" marL="0">
              <a:buNone/>
            </a:pPr>
            <a:r>
              <a:rPr lang="en-US" sz="1100" dirty="0">
                <a:solidFill>
                  <a:srgbClr val="22304F"/>
                </a:solidFill>
                <a:latin typeface="Courier New" pitchFamily="34" charset="0"/>
                <a:ea typeface="Courier New" pitchFamily="34" charset="-122"/>
                <a:cs typeface="Courier New" pitchFamily="34" charset="-120"/>
              </a:rPr>
              <a:t>number_idf_overlap</a:t>
            </a:r>
            <a:endParaRPr lang="en-US" sz="1100" dirty="0"/>
          </a:p>
        </p:txBody>
      </p:sp>
      <p:sp>
        <p:nvSpPr>
          <p:cNvPr id="16" name="Shape 14"/>
          <p:cNvSpPr/>
          <p:nvPr/>
        </p:nvSpPr>
        <p:spPr>
          <a:xfrm>
            <a:off x="3310128" y="1920240"/>
            <a:ext cx="2596896" cy="347472"/>
          </a:xfrm>
          <a:prstGeom prst="roundRect">
            <a:avLst>
              <a:gd name="adj" fmla="val 50000"/>
            </a:avLst>
          </a:prstGeom>
          <a:solidFill>
            <a:srgbClr val="EEF2F8"/>
          </a:solidFill>
          <a:ln/>
        </p:spPr>
      </p:sp>
      <p:sp>
        <p:nvSpPr>
          <p:cNvPr id="17" name="Text 15"/>
          <p:cNvSpPr txBox="1"/>
          <p:nvPr/>
        </p:nvSpPr>
        <p:spPr>
          <a:xfrm>
            <a:off x="3310128" y="1920240"/>
            <a:ext cx="2596896" cy="347472"/>
          </a:xfrm>
          <a:prstGeom prst="rect">
            <a:avLst/>
          </a:prstGeom>
          <a:noFill/>
          <a:ln/>
        </p:spPr>
        <p:txBody>
          <a:bodyPr wrap="square" lIns="0" tIns="0" rIns="0" bIns="0" rtlCol="0" anchor="ctr"/>
          <a:lstStyle/>
          <a:p>
            <a:pPr algn="ctr" indent="0" marL="0">
              <a:buNone/>
            </a:pPr>
            <a:r>
              <a:rPr lang="en-US" sz="1100" dirty="0">
                <a:solidFill>
                  <a:srgbClr val="22304F"/>
                </a:solidFill>
                <a:latin typeface="Courier New" pitchFamily="34" charset="0"/>
                <a:ea typeface="Courier New" pitchFamily="34" charset="-122"/>
                <a:cs typeface="Courier New" pitchFamily="34" charset="-120"/>
              </a:rPr>
              <a:t>string_idf_overlap</a:t>
            </a:r>
            <a:endParaRPr lang="en-US" sz="1100" dirty="0"/>
          </a:p>
        </p:txBody>
      </p:sp>
      <p:sp>
        <p:nvSpPr>
          <p:cNvPr id="18" name="Shape 16"/>
          <p:cNvSpPr/>
          <p:nvPr/>
        </p:nvSpPr>
        <p:spPr>
          <a:xfrm>
            <a:off x="6053328" y="1920240"/>
            <a:ext cx="1883664" cy="347472"/>
          </a:xfrm>
          <a:prstGeom prst="roundRect">
            <a:avLst>
              <a:gd name="adj" fmla="val 50000"/>
            </a:avLst>
          </a:prstGeom>
          <a:solidFill>
            <a:srgbClr val="EEF2F8"/>
          </a:solidFill>
          <a:ln/>
        </p:spPr>
      </p:sp>
      <p:sp>
        <p:nvSpPr>
          <p:cNvPr id="19" name="Text 17"/>
          <p:cNvSpPr txBox="1"/>
          <p:nvPr/>
        </p:nvSpPr>
        <p:spPr>
          <a:xfrm>
            <a:off x="6053328" y="1920240"/>
            <a:ext cx="1883664" cy="347472"/>
          </a:xfrm>
          <a:prstGeom prst="rect">
            <a:avLst/>
          </a:prstGeom>
          <a:noFill/>
          <a:ln/>
        </p:spPr>
        <p:txBody>
          <a:bodyPr wrap="square" lIns="0" tIns="0" rIns="0" bIns="0" rtlCol="0" anchor="ctr"/>
          <a:lstStyle/>
          <a:p>
            <a:pPr algn="ctr" indent="0" marL="0">
              <a:buNone/>
            </a:pPr>
            <a:r>
              <a:rPr lang="en-US" sz="1100" dirty="0">
                <a:solidFill>
                  <a:srgbClr val="22304F"/>
                </a:solidFill>
                <a:latin typeface="Courier New" pitchFamily="34" charset="0"/>
                <a:ea typeface="Courier New" pitchFamily="34" charset="-122"/>
                <a:cs typeface="Courier New" pitchFamily="34" charset="-120"/>
              </a:rPr>
              <a:t>length_prior</a:t>
            </a:r>
            <a:endParaRPr lang="en-US" sz="1100" dirty="0"/>
          </a:p>
        </p:txBody>
      </p:sp>
      <p:sp>
        <p:nvSpPr>
          <p:cNvPr id="20" name="Shape 18"/>
          <p:cNvSpPr/>
          <p:nvPr/>
        </p:nvSpPr>
        <p:spPr>
          <a:xfrm>
            <a:off x="8083296" y="1920240"/>
            <a:ext cx="1764792" cy="347472"/>
          </a:xfrm>
          <a:prstGeom prst="roundRect">
            <a:avLst>
              <a:gd name="adj" fmla="val 50000"/>
            </a:avLst>
          </a:prstGeom>
          <a:solidFill>
            <a:srgbClr val="EEF2F8"/>
          </a:solidFill>
          <a:ln/>
        </p:spPr>
      </p:sp>
      <p:sp>
        <p:nvSpPr>
          <p:cNvPr id="21" name="Text 19"/>
          <p:cNvSpPr txBox="1"/>
          <p:nvPr/>
        </p:nvSpPr>
        <p:spPr>
          <a:xfrm>
            <a:off x="8083296" y="1920240"/>
            <a:ext cx="1764792" cy="347472"/>
          </a:xfrm>
          <a:prstGeom prst="rect">
            <a:avLst/>
          </a:prstGeom>
          <a:noFill/>
          <a:ln/>
        </p:spPr>
        <p:txBody>
          <a:bodyPr wrap="square" lIns="0" tIns="0" rIns="0" bIns="0" rtlCol="0" anchor="ctr"/>
          <a:lstStyle/>
          <a:p>
            <a:pPr algn="ctr" indent="0" marL="0">
              <a:buNone/>
            </a:pPr>
            <a:r>
              <a:rPr lang="en-US" sz="1100" dirty="0">
                <a:solidFill>
                  <a:srgbClr val="22304F"/>
                </a:solidFill>
                <a:latin typeface="Courier New" pitchFamily="34" charset="0"/>
                <a:ea typeface="Courier New" pitchFamily="34" charset="-122"/>
                <a:cs typeface="Courier New" pitchFamily="34" charset="-120"/>
              </a:rPr>
              <a:t>hub_penalty</a:t>
            </a:r>
            <a:endParaRPr lang="en-US" sz="1100" dirty="0"/>
          </a:p>
        </p:txBody>
      </p:sp>
      <p:sp>
        <p:nvSpPr>
          <p:cNvPr id="22" name="Shape 20"/>
          <p:cNvSpPr/>
          <p:nvPr/>
        </p:nvSpPr>
        <p:spPr>
          <a:xfrm>
            <a:off x="566928" y="2514600"/>
            <a:ext cx="384048" cy="384048"/>
          </a:xfrm>
          <a:prstGeom prst="ellipse">
            <a:avLst/>
          </a:prstGeom>
          <a:solidFill>
            <a:srgbClr val="22304F"/>
          </a:solidFill>
          <a:ln/>
        </p:spPr>
      </p:sp>
      <p:sp>
        <p:nvSpPr>
          <p:cNvPr id="23" name="Text 21"/>
          <p:cNvSpPr txBox="1"/>
          <p:nvPr/>
        </p:nvSpPr>
        <p:spPr>
          <a:xfrm>
            <a:off x="566928" y="2514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4" name="Text 22"/>
          <p:cNvSpPr txBox="1"/>
          <p:nvPr/>
        </p:nvSpPr>
        <p:spPr>
          <a:xfrm>
            <a:off x="1133856" y="2532888"/>
            <a:ext cx="2834640" cy="274320"/>
          </a:xfrm>
          <a:prstGeom prst="rect">
            <a:avLst/>
          </a:prstGeom>
          <a:noFill/>
          <a:ln/>
        </p:spPr>
        <p:txBody>
          <a:bodyPr wrap="square" lIns="0" tIns="0" rIns="0" bIns="0" rtlCol="0" anchor="t"/>
          <a:lstStyle/>
          <a:p>
            <a:pPr algn="l" indent="0" marL="0">
              <a:lnSpc>
                <a:spcPct val="112000"/>
              </a:lnSpc>
              <a:buNone/>
            </a:pPr>
            <a:r>
              <a:rPr lang="en-US" sz="1350" b="1" dirty="0">
                <a:solidFill>
                  <a:srgbClr val="22304F"/>
                </a:solidFill>
                <a:latin typeface="Calibri" pitchFamily="34" charset="0"/>
                <a:ea typeface="Calibri" pitchFamily="34" charset="-122"/>
                <a:cs typeface="Calibri" pitchFamily="34" charset="-120"/>
              </a:rPr>
              <a:t>Linear, on purpose</a:t>
            </a:r>
            <a:endParaRPr lang="en-US" sz="1350" dirty="0"/>
          </a:p>
        </p:txBody>
      </p:sp>
      <p:sp>
        <p:nvSpPr>
          <p:cNvPr id="25" name="Text 23"/>
          <p:cNvSpPr txBox="1"/>
          <p:nvPr/>
        </p:nvSpPr>
        <p:spPr>
          <a:xfrm>
            <a:off x="4087368" y="2487168"/>
            <a:ext cx="7507224" cy="91440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One relevant document per query and nine features. A linear score is as accurate as anything heavier here, runs in microseconds, and lets the demo print why a snippet moved.</a:t>
            </a:r>
            <a:endParaRPr lang="en-US" sz="1200" dirty="0"/>
          </a:p>
        </p:txBody>
      </p:sp>
      <p:sp>
        <p:nvSpPr>
          <p:cNvPr id="26" name="Shape 24"/>
          <p:cNvSpPr/>
          <p:nvPr/>
        </p:nvSpPr>
        <p:spPr>
          <a:xfrm>
            <a:off x="566928" y="3520440"/>
            <a:ext cx="384048" cy="384048"/>
          </a:xfrm>
          <a:prstGeom prst="ellipse">
            <a:avLst/>
          </a:prstGeom>
          <a:solidFill>
            <a:srgbClr val="22304F"/>
          </a:solidFill>
          <a:ln/>
        </p:spPr>
      </p:sp>
      <p:sp>
        <p:nvSpPr>
          <p:cNvPr id="27" name="Text 25"/>
          <p:cNvSpPr txBox="1"/>
          <p:nvPr/>
        </p:nvSpPr>
        <p:spPr>
          <a:xfrm>
            <a:off x="566928" y="3520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8" name="Text 26"/>
          <p:cNvSpPr txBox="1"/>
          <p:nvPr/>
        </p:nvSpPr>
        <p:spPr>
          <a:xfrm>
            <a:off x="1133856" y="3538728"/>
            <a:ext cx="2834640" cy="274320"/>
          </a:xfrm>
          <a:prstGeom prst="rect">
            <a:avLst/>
          </a:prstGeom>
          <a:noFill/>
          <a:ln/>
        </p:spPr>
        <p:txBody>
          <a:bodyPr wrap="square" lIns="0" tIns="0" rIns="0" bIns="0" rtlCol="0" anchor="t"/>
          <a:lstStyle/>
          <a:p>
            <a:pPr algn="l" indent="0" marL="0">
              <a:lnSpc>
                <a:spcPct val="112000"/>
              </a:lnSpc>
              <a:buNone/>
            </a:pPr>
            <a:r>
              <a:rPr lang="en-US" sz="1350" b="1" dirty="0">
                <a:solidFill>
                  <a:srgbClr val="22304F"/>
                </a:solidFill>
                <a:latin typeface="Calibri" pitchFamily="34" charset="0"/>
                <a:ea typeface="Calibri" pitchFamily="34" charset="-122"/>
                <a:cs typeface="Calibri" pitchFamily="34" charset="-120"/>
              </a:rPr>
              <a:t>Weights capped at ±2.0</a:t>
            </a:r>
            <a:endParaRPr lang="en-US" sz="1350" dirty="0"/>
          </a:p>
        </p:txBody>
      </p:sp>
      <p:sp>
        <p:nvSpPr>
          <p:cNvPr id="29" name="Text 27"/>
          <p:cNvSpPr txBox="1"/>
          <p:nvPr/>
        </p:nvSpPr>
        <p:spPr>
          <a:xfrm>
            <a:off x="4087368" y="3493008"/>
            <a:ext cx="7507224" cy="91440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Cosine gaps inside a top-50 pool are 0.01–0.1. Unbounded, coordinate ascent ran one weight to −6.31 — at which point the encoder stops mattering and the system is a hand-built classifier the dev split cannot vouch for.</a:t>
            </a:r>
            <a:endParaRPr lang="en-US" sz="1200" dirty="0"/>
          </a:p>
        </p:txBody>
      </p:sp>
      <p:sp>
        <p:nvSpPr>
          <p:cNvPr id="30" name="Shape 28"/>
          <p:cNvSpPr/>
          <p:nvPr/>
        </p:nvSpPr>
        <p:spPr>
          <a:xfrm>
            <a:off x="566928" y="4526280"/>
            <a:ext cx="384048" cy="384048"/>
          </a:xfrm>
          <a:prstGeom prst="ellipse">
            <a:avLst/>
          </a:prstGeom>
          <a:solidFill>
            <a:srgbClr val="22304F"/>
          </a:solidFill>
          <a:ln/>
        </p:spPr>
      </p:sp>
      <p:sp>
        <p:nvSpPr>
          <p:cNvPr id="31" name="Text 29"/>
          <p:cNvSpPr txBox="1"/>
          <p:nvPr/>
        </p:nvSpPr>
        <p:spPr>
          <a:xfrm>
            <a:off x="566928"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2" name="Text 30"/>
          <p:cNvSpPr txBox="1"/>
          <p:nvPr/>
        </p:nvSpPr>
        <p:spPr>
          <a:xfrm>
            <a:off x="1133856" y="4544568"/>
            <a:ext cx="2834640" cy="274320"/>
          </a:xfrm>
          <a:prstGeom prst="rect">
            <a:avLst/>
          </a:prstGeom>
          <a:noFill/>
          <a:ln/>
        </p:spPr>
        <p:txBody>
          <a:bodyPr wrap="square" lIns="0" tIns="0" rIns="0" bIns="0" rtlCol="0" anchor="t"/>
          <a:lstStyle/>
          <a:p>
            <a:pPr algn="l" indent="0" marL="0">
              <a:lnSpc>
                <a:spcPct val="112000"/>
              </a:lnSpc>
              <a:buNone/>
            </a:pPr>
            <a:r>
              <a:rPr lang="en-US" sz="1350" b="1" dirty="0">
                <a:solidFill>
                  <a:srgbClr val="22304F"/>
                </a:solidFill>
                <a:latin typeface="Calibri" pitchFamily="34" charset="0"/>
                <a:ea typeface="Calibri" pitchFamily="34" charset="-122"/>
                <a:cs typeface="Calibri" pitchFamily="34" charset="-120"/>
              </a:rPr>
              <a:t>IDF is corpus-side only</a:t>
            </a:r>
            <a:endParaRPr lang="en-US" sz="1350" dirty="0"/>
          </a:p>
        </p:txBody>
      </p:sp>
      <p:sp>
        <p:nvSpPr>
          <p:cNvPr id="33" name="Text 31"/>
          <p:cNvSpPr txBox="1"/>
          <p:nvPr/>
        </p:nvSpPr>
        <p:spPr>
          <a:xfrm>
            <a:off x="4087368" y="4498848"/>
            <a:ext cx="7507224" cy="91440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Adding a query changes nothing, so a weight measured on one split transfers to another. Inductive, not transductive.</a:t>
            </a:r>
            <a:endParaRPr lang="en-US" sz="1200" dirty="0"/>
          </a:p>
        </p:txBody>
      </p:sp>
      <p:sp>
        <p:nvSpPr>
          <p:cNvPr id="34" name="Shape 32"/>
          <p:cNvSpPr/>
          <p:nvPr/>
        </p:nvSpPr>
        <p:spPr>
          <a:xfrm>
            <a:off x="566928" y="5596128"/>
            <a:ext cx="11027664" cy="676656"/>
          </a:xfrm>
          <a:prstGeom prst="roundRect">
            <a:avLst>
              <a:gd name="adj" fmla="val 9459"/>
            </a:avLst>
          </a:prstGeom>
          <a:solidFill>
            <a:srgbClr val="EEF2F8"/>
          </a:solidFill>
          <a:ln/>
        </p:spPr>
      </p:sp>
      <p:sp>
        <p:nvSpPr>
          <p:cNvPr id="35" name="Text 33"/>
          <p:cNvSpPr txBox="1"/>
          <p:nvPr/>
        </p:nvSpPr>
        <p:spPr>
          <a:xfrm>
            <a:off x="841248" y="5779008"/>
            <a:ext cx="7680960" cy="320040"/>
          </a:xfrm>
          <a:prstGeom prst="rect">
            <a:avLst/>
          </a:prstGeom>
          <a:noFill/>
          <a:ln/>
        </p:spPr>
        <p:txBody>
          <a:bodyPr wrap="square" lIns="0" tIns="0" rIns="0" bIns="0" rtlCol="0" anchor="t"/>
          <a:lstStyle/>
          <a:p>
            <a:pPr algn="l" indent="0" marL="0">
              <a:lnSpc>
                <a:spcPct val="112000"/>
              </a:lnSpc>
              <a:buNone/>
            </a:pPr>
            <a:r>
              <a:rPr lang="en-US" sz="1250" dirty="0">
                <a:solidFill>
                  <a:srgbClr val="22304F"/>
                </a:solidFill>
                <a:latin typeface="Calibri" pitchFamily="34" charset="0"/>
                <a:ea typeface="Calibri" pitchFamily="34" charset="-122"/>
                <a:cs typeface="Calibri" pitchFamily="34" charset="-120"/>
              </a:rPr>
              <a:t>Fitted by coordinate ascent directly on NDCG@10 — the reported metric, not a surrogate.</a:t>
            </a:r>
            <a:endParaRPr lang="en-US" sz="1250" dirty="0"/>
          </a:p>
        </p:txBody>
      </p:sp>
      <p:sp>
        <p:nvSpPr>
          <p:cNvPr id="36" name="Shape 34"/>
          <p:cNvSpPr/>
          <p:nvPr/>
        </p:nvSpPr>
        <p:spPr>
          <a:xfrm>
            <a:off x="9445752" y="5779008"/>
            <a:ext cx="1874520" cy="292608"/>
          </a:xfrm>
          <a:prstGeom prst="roundRect">
            <a:avLst>
              <a:gd name="adj" fmla="val 50000"/>
            </a:avLst>
          </a:prstGeom>
          <a:solidFill>
            <a:srgbClr val="C65B3F"/>
          </a:solidFill>
          <a:ln/>
        </p:spPr>
      </p:sp>
      <p:sp>
        <p:nvSpPr>
          <p:cNvPr id="37" name="Text 35"/>
          <p:cNvSpPr txBox="1"/>
          <p:nvPr/>
        </p:nvSpPr>
        <p:spPr>
          <a:xfrm>
            <a:off x="9445752" y="5779008"/>
            <a:ext cx="187452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DID NOT CLEAR</a:t>
            </a:r>
            <a:endParaRPr lang="en-US" sz="1000" dirty="0"/>
          </a:p>
        </p:txBody>
      </p:sp>
      <p:sp>
        <p:nvSpPr>
          <p:cNvPr id="38" name="Text 36"/>
          <p:cNvSpPr txBox="1"/>
          <p:nvPr/>
        </p:nvSpPr>
        <p:spPr>
          <a:xfrm>
            <a:off x="566928" y="6327648"/>
            <a:ext cx="10479024" cy="274320"/>
          </a:xfrm>
          <a:prstGeom prst="rect">
            <a:avLst/>
          </a:prstGeom>
          <a:noFill/>
          <a:ln/>
        </p:spPr>
        <p:txBody>
          <a:bodyPr wrap="square" lIns="0" tIns="0" rIns="0" bIns="0" rtlCol="0" anchor="ctr"/>
          <a:lstStyle/>
          <a:p>
            <a:pPr indent="0" marL="0">
              <a:buNone/>
            </a:pPr>
            <a:r>
              <a:rPr lang="en-US" sz="900" dirty="0">
                <a:solidFill>
                  <a:srgbClr val="7C879B"/>
                </a:solidFill>
                <a:latin typeface="Calibri" pitchFamily="34" charset="0"/>
                <a:ea typeface="Calibri" pitchFamily="34" charset="-122"/>
                <a:cs typeface="Calibri" pitchFamily="34" charset="-120"/>
              </a:rPr>
              <a:t>CodeDoctor  ·  Samsung PRISM GenAI Hackathon 2026  ·  Theme 01</a:t>
            </a:r>
            <a:endParaRPr lang="en-US" sz="900" dirty="0"/>
          </a:p>
        </p:txBody>
      </p:sp>
      <p:sp>
        <p:nvSpPr>
          <p:cNvPr id="39" name="Text 37"/>
          <p:cNvSpPr txBox="1"/>
          <p:nvPr/>
        </p:nvSpPr>
        <p:spPr>
          <a:xfrm>
            <a:off x="11045952" y="6327648"/>
            <a:ext cx="548640" cy="274320"/>
          </a:xfrm>
          <a:prstGeom prst="rect">
            <a:avLst/>
          </a:prstGeom>
          <a:noFill/>
          <a:ln/>
        </p:spPr>
        <p:txBody>
          <a:bodyPr wrap="square" lIns="0" tIns="0" rIns="0" bIns="0" rtlCol="0" anchor="ctr"/>
          <a:lstStyle/>
          <a:p>
            <a:pPr algn="r" indent="0" marL="0">
              <a:buNone/>
            </a:pPr>
            <a:r>
              <a:rPr lang="en-US" sz="900" dirty="0">
                <a:solidFill>
                  <a:srgbClr val="7C879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27664" cy="237744"/>
          </a:xfrm>
          <a:prstGeom prst="rect">
            <a:avLst/>
          </a:prstGeom>
          <a:noFill/>
          <a:ln/>
        </p:spPr>
        <p:txBody>
          <a:bodyPr wrap="square" lIns="0" tIns="0" rIns="0" bIns="0" rtlCol="0" anchor="ctr"/>
          <a:lstStyle/>
          <a:p>
            <a:pPr indent="0" marL="0">
              <a:buNone/>
            </a:pPr>
            <a:r>
              <a:rPr lang="en-US" sz="1100" b="1" spc="160" kern="0" dirty="0">
                <a:solidFill>
                  <a:srgbClr val="0F9B82"/>
                </a:solidFill>
                <a:latin typeface="Calibri" pitchFamily="34" charset="0"/>
                <a:ea typeface="Calibri" pitchFamily="34" charset="-122"/>
                <a:cs typeface="Calibri" pitchFamily="34" charset="-120"/>
              </a:rPr>
              <a:t>MEASUREMENT</a:t>
            </a:r>
            <a:endParaRPr lang="en-US" sz="1100" dirty="0"/>
          </a:p>
        </p:txBody>
      </p:sp>
      <p:sp>
        <p:nvSpPr>
          <p:cNvPr id="3" name="Text 1"/>
          <p:cNvSpPr txBox="1"/>
          <p:nvPr/>
        </p:nvSpPr>
        <p:spPr>
          <a:xfrm>
            <a:off x="566928" y="566928"/>
            <a:ext cx="11027664" cy="731520"/>
          </a:xfrm>
          <a:prstGeom prst="rect">
            <a:avLst/>
          </a:prstGeom>
          <a:noFill/>
          <a:ln/>
        </p:spPr>
        <p:txBody>
          <a:bodyPr wrap="square" lIns="0" tIns="0" rIns="0" bIns="0" rtlCol="0" anchor="ctr"/>
          <a:lstStyle/>
          <a:p>
            <a:pPr indent="0" marL="0">
              <a:buNone/>
            </a:pPr>
            <a:r>
              <a:rPr lang="en-US" sz="3400" b="1" dirty="0">
                <a:solidFill>
                  <a:srgbClr val="22304F"/>
                </a:solidFill>
                <a:latin typeface="Calibri" pitchFamily="34" charset="0"/>
                <a:ea typeface="Calibri" pitchFamily="34" charset="-122"/>
                <a:cs typeface="Calibri" pitchFamily="34" charset="-120"/>
              </a:rPr>
              <a:t>Train and test are different datasets</a:t>
            </a:r>
            <a:endParaRPr lang="en-US" sz="3400" dirty="0"/>
          </a:p>
        </p:txBody>
      </p:sp>
      <p:graphicFrame>
        <p:nvGraphicFramePr>
          <p:cNvPr id="4" name="Chart 0" descr=""/>
          <p:cNvGraphicFramePr/>
          <p:nvPr/>
        </p:nvGraphicFramePr>
        <p:xfrm>
          <a:off x="566928" y="1517904"/>
          <a:ext cx="617220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013448" y="1572768"/>
            <a:ext cx="4581144" cy="457200"/>
          </a:xfrm>
          <a:prstGeom prst="rect">
            <a:avLst/>
          </a:prstGeom>
          <a:noFill/>
          <a:ln/>
        </p:spPr>
        <p:txBody>
          <a:bodyPr wrap="square" lIns="0" tIns="0" rIns="0" bIns="0" rtlCol="0" anchor="t"/>
          <a:lstStyle/>
          <a:p>
            <a:pPr algn="l" indent="0" marL="0">
              <a:lnSpc>
                <a:spcPct val="112000"/>
              </a:lnSpc>
              <a:buNone/>
            </a:pPr>
            <a:r>
              <a:rPr lang="en-US" sz="1300" b="1" dirty="0">
                <a:solidFill>
                  <a:srgbClr val="22304F"/>
                </a:solidFill>
                <a:latin typeface="Calibri" pitchFamily="34" charset="0"/>
                <a:ea typeface="Calibri" pitchFamily="34" charset="-122"/>
                <a:cs typeface="Calibri" pitchFamily="34" charset="-120"/>
              </a:rPr>
              <a:t>The corpus is ordered by source, and the test split is a contiguous tail of it.</a:t>
            </a:r>
            <a:endParaRPr lang="en-US" sz="1300" dirty="0"/>
          </a:p>
        </p:txBody>
      </p:sp>
      <p:sp>
        <p:nvSpPr>
          <p:cNvPr id="6" name="Shape 3"/>
          <p:cNvSpPr/>
          <p:nvPr/>
        </p:nvSpPr>
        <p:spPr>
          <a:xfrm>
            <a:off x="7013448" y="2148840"/>
            <a:ext cx="4581144" cy="1207008"/>
          </a:xfrm>
          <a:prstGeom prst="roundRect">
            <a:avLst>
              <a:gd name="adj" fmla="val 5303"/>
            </a:avLst>
          </a:prstGeom>
          <a:solidFill>
            <a:srgbClr val="EEF2F8"/>
          </a:solidFill>
          <a:ln/>
        </p:spPr>
      </p:sp>
      <p:sp>
        <p:nvSpPr>
          <p:cNvPr id="7" name="Text 4"/>
          <p:cNvSpPr txBox="1"/>
          <p:nvPr/>
        </p:nvSpPr>
        <p:spPr>
          <a:xfrm>
            <a:off x="7242048" y="2304288"/>
            <a:ext cx="4206240" cy="256032"/>
          </a:xfrm>
          <a:prstGeom prst="rect">
            <a:avLst/>
          </a:prstGeom>
          <a:noFill/>
          <a:ln/>
        </p:spPr>
        <p:txBody>
          <a:bodyPr wrap="square" lIns="0" tIns="0" rIns="0" bIns="0" rtlCol="0" anchor="t"/>
          <a:lstStyle/>
          <a:p>
            <a:pPr algn="l" indent="0" marL="0">
              <a:lnSpc>
                <a:spcPct val="112000"/>
              </a:lnSpc>
              <a:buNone/>
            </a:pPr>
            <a:r>
              <a:rPr lang="en-US" sz="1250" b="1" dirty="0">
                <a:solidFill>
                  <a:srgbClr val="C65B3F"/>
                </a:solidFill>
                <a:latin typeface="Calibri" pitchFamily="34" charset="0"/>
                <a:ea typeface="Calibri" pitchFamily="34" charset="-122"/>
                <a:cs typeface="Calibri" pitchFamily="34" charset="-120"/>
              </a:rPr>
              <a:t>Consequence 1</a:t>
            </a:r>
            <a:endParaRPr lang="en-US" sz="1250" dirty="0"/>
          </a:p>
        </p:txBody>
      </p:sp>
      <p:sp>
        <p:nvSpPr>
          <p:cNvPr id="8" name="Text 5"/>
          <p:cNvSpPr txBox="1"/>
          <p:nvPr/>
        </p:nvSpPr>
        <p:spPr>
          <a:xfrm>
            <a:off x="7242048" y="2578608"/>
            <a:ext cx="4123944" cy="731520"/>
          </a:xfrm>
          <a:prstGeom prst="rect">
            <a:avLst/>
          </a:prstGeom>
          <a:noFill/>
          <a:ln/>
        </p:spPr>
        <p:txBody>
          <a:bodyPr wrap="square" lIns="0" tIns="0" rIns="0" bIns="0" rtlCol="0" anchor="t"/>
          <a:lstStyle/>
          <a:p>
            <a:pPr algn="l" indent="0" marL="0">
              <a:lnSpc>
                <a:spcPct val="112000"/>
              </a:lnSpc>
              <a:buNone/>
            </a:pPr>
            <a:r>
              <a:rPr lang="en-US" sz="1150" dirty="0">
                <a:solidFill>
                  <a:srgbClr val="39435A"/>
                </a:solidFill>
                <a:latin typeface="Calibri" pitchFamily="34" charset="0"/>
                <a:ea typeface="Calibri" pitchFamily="34" charset="-122"/>
                <a:cs typeface="Calibri" pitchFamily="34" charset="-120"/>
              </a:rPr>
              <a:t>A contiguous half-split of train is not exchangeable — the halves score 0.209 and 0.623. A “held-out” number taken that way reports distribution shift, not generalization.</a:t>
            </a:r>
            <a:endParaRPr lang="en-US" sz="1150" dirty="0"/>
          </a:p>
        </p:txBody>
      </p:sp>
      <p:sp>
        <p:nvSpPr>
          <p:cNvPr id="9" name="Shape 6"/>
          <p:cNvSpPr/>
          <p:nvPr/>
        </p:nvSpPr>
        <p:spPr>
          <a:xfrm>
            <a:off x="7013448" y="3493008"/>
            <a:ext cx="4581144" cy="1207008"/>
          </a:xfrm>
          <a:prstGeom prst="roundRect">
            <a:avLst>
              <a:gd name="adj" fmla="val 5303"/>
            </a:avLst>
          </a:prstGeom>
          <a:solidFill>
            <a:srgbClr val="EEF2F8"/>
          </a:solidFill>
          <a:ln/>
        </p:spPr>
      </p:sp>
      <p:sp>
        <p:nvSpPr>
          <p:cNvPr id="10" name="Text 7"/>
          <p:cNvSpPr txBox="1"/>
          <p:nvPr/>
        </p:nvSpPr>
        <p:spPr>
          <a:xfrm>
            <a:off x="7242048" y="3648456"/>
            <a:ext cx="4206240" cy="256032"/>
          </a:xfrm>
          <a:prstGeom prst="rect">
            <a:avLst/>
          </a:prstGeom>
          <a:noFill/>
          <a:ln/>
        </p:spPr>
        <p:txBody>
          <a:bodyPr wrap="square" lIns="0" tIns="0" rIns="0" bIns="0" rtlCol="0" anchor="t"/>
          <a:lstStyle/>
          <a:p>
            <a:pPr algn="l" indent="0" marL="0">
              <a:lnSpc>
                <a:spcPct val="112000"/>
              </a:lnSpc>
              <a:buNone/>
            </a:pPr>
            <a:r>
              <a:rPr lang="en-US" sz="1250" b="1" dirty="0">
                <a:solidFill>
                  <a:srgbClr val="C65B3F"/>
                </a:solidFill>
                <a:latin typeface="Calibri" pitchFamily="34" charset="0"/>
                <a:ea typeface="Calibri" pitchFamily="34" charset="-122"/>
                <a:cs typeface="Calibri" pitchFamily="34" charset="-120"/>
              </a:rPr>
              <a:t>Consequence 2</a:t>
            </a:r>
            <a:endParaRPr lang="en-US" sz="1250" dirty="0"/>
          </a:p>
        </p:txBody>
      </p:sp>
      <p:sp>
        <p:nvSpPr>
          <p:cNvPr id="11" name="Text 8"/>
          <p:cNvSpPr txBox="1"/>
          <p:nvPr/>
        </p:nvSpPr>
        <p:spPr>
          <a:xfrm>
            <a:off x="7242048" y="3922776"/>
            <a:ext cx="4123944" cy="731520"/>
          </a:xfrm>
          <a:prstGeom prst="rect">
            <a:avLst/>
          </a:prstGeom>
          <a:noFill/>
          <a:ln/>
        </p:spPr>
        <p:txBody>
          <a:bodyPr wrap="square" lIns="0" tIns="0" rIns="0" bIns="0" rtlCol="0" anchor="t"/>
          <a:lstStyle/>
          <a:p>
            <a:pPr algn="l" indent="0" marL="0">
              <a:lnSpc>
                <a:spcPct val="112000"/>
              </a:lnSpc>
              <a:buNone/>
            </a:pPr>
            <a:r>
              <a:rPr lang="en-US" sz="1150" dirty="0">
                <a:solidFill>
                  <a:srgbClr val="39435A"/>
                </a:solidFill>
                <a:latin typeface="Calibri" pitchFamily="34" charset="0"/>
                <a:ea typeface="Calibri" pitchFamily="34" charset="-122"/>
                <a:cs typeface="Calibri" pitchFamily="34" charset="-120"/>
              </a:rPr>
              <a:t>A uniform sample of train is the wrong dev set too. We tune on the 1,707 competitive-stdin train queries, split at random and seeded.</a:t>
            </a:r>
            <a:endParaRPr lang="en-US" sz="1150" dirty="0"/>
          </a:p>
        </p:txBody>
      </p:sp>
      <p:sp>
        <p:nvSpPr>
          <p:cNvPr id="12" name="Text 9"/>
          <p:cNvSpPr txBox="1"/>
          <p:nvPr/>
        </p:nvSpPr>
        <p:spPr>
          <a:xfrm>
            <a:off x="566928" y="4983480"/>
            <a:ext cx="11027664" cy="457200"/>
          </a:xfrm>
          <a:prstGeom prst="rect">
            <a:avLst/>
          </a:prstGeom>
          <a:noFill/>
          <a:ln/>
        </p:spPr>
        <p:txBody>
          <a:bodyPr wrap="square" lIns="0" tIns="0" rIns="0" bIns="0" rtlCol="0" anchor="t"/>
          <a:lstStyle/>
          <a:p>
            <a:pPr algn="l" indent="0" marL="0">
              <a:lnSpc>
                <a:spcPct val="112000"/>
              </a:lnSpc>
              <a:buNone/>
            </a:pPr>
            <a:r>
              <a:rPr lang="en-US" sz="1300" i="1" dirty="0">
                <a:solidFill>
                  <a:srgbClr val="7C879B"/>
                </a:solidFill>
                <a:latin typeface="Calibri" pitchFamily="34" charset="0"/>
                <a:ea typeface="Calibri" pitchFamily="34" charset="-122"/>
                <a:cs typeface="Calibri" pitchFamily="34" charset="-120"/>
              </a:rPr>
              <a:t>Everyone on this leaderboard is validating against a distribution that is not the one being scored. It is the most consequential thing we measured, and it is free to check.</a:t>
            </a:r>
            <a:endParaRPr lang="en-US" sz="1300" dirty="0"/>
          </a:p>
        </p:txBody>
      </p:sp>
      <p:sp>
        <p:nvSpPr>
          <p:cNvPr id="13" name="Text 10"/>
          <p:cNvSpPr txBox="1"/>
          <p:nvPr/>
        </p:nvSpPr>
        <p:spPr>
          <a:xfrm>
            <a:off x="566928" y="6327648"/>
            <a:ext cx="10479024" cy="274320"/>
          </a:xfrm>
          <a:prstGeom prst="rect">
            <a:avLst/>
          </a:prstGeom>
          <a:noFill/>
          <a:ln/>
        </p:spPr>
        <p:txBody>
          <a:bodyPr wrap="square" lIns="0" tIns="0" rIns="0" bIns="0" rtlCol="0" anchor="ctr"/>
          <a:lstStyle/>
          <a:p>
            <a:pPr indent="0" marL="0">
              <a:buNone/>
            </a:pPr>
            <a:r>
              <a:rPr lang="en-US" sz="900" dirty="0">
                <a:solidFill>
                  <a:srgbClr val="7C879B"/>
                </a:solidFill>
                <a:latin typeface="Calibri" pitchFamily="34" charset="0"/>
                <a:ea typeface="Calibri" pitchFamily="34" charset="-122"/>
                <a:cs typeface="Calibri" pitchFamily="34" charset="-120"/>
              </a:rPr>
              <a:t>CodeDoctor  ·  Samsung PRISM GenAI Hackathon 2026  ·  Theme 01</a:t>
            </a:r>
            <a:endParaRPr lang="en-US" sz="900" dirty="0"/>
          </a:p>
        </p:txBody>
      </p:sp>
      <p:sp>
        <p:nvSpPr>
          <p:cNvPr id="14" name="Text 11"/>
          <p:cNvSpPr txBox="1"/>
          <p:nvPr/>
        </p:nvSpPr>
        <p:spPr>
          <a:xfrm>
            <a:off x="11045952" y="6327648"/>
            <a:ext cx="548640" cy="274320"/>
          </a:xfrm>
          <a:prstGeom prst="rect">
            <a:avLst/>
          </a:prstGeom>
          <a:noFill/>
          <a:ln/>
        </p:spPr>
        <p:txBody>
          <a:bodyPr wrap="square" lIns="0" tIns="0" rIns="0" bIns="0" rtlCol="0" anchor="ctr"/>
          <a:lstStyle/>
          <a:p>
            <a:pPr algn="r" indent="0" marL="0">
              <a:buNone/>
            </a:pPr>
            <a:r>
              <a:rPr lang="en-US" sz="900" dirty="0">
                <a:solidFill>
                  <a:srgbClr val="7C879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27664" cy="237744"/>
          </a:xfrm>
          <a:prstGeom prst="rect">
            <a:avLst/>
          </a:prstGeom>
          <a:noFill/>
          <a:ln/>
        </p:spPr>
        <p:txBody>
          <a:bodyPr wrap="square" lIns="0" tIns="0" rIns="0" bIns="0" rtlCol="0" anchor="ctr"/>
          <a:lstStyle/>
          <a:p>
            <a:pPr indent="0" marL="0">
              <a:buNone/>
            </a:pPr>
            <a:r>
              <a:rPr lang="en-US" sz="1100" b="1" spc="160" kern="0" dirty="0">
                <a:solidFill>
                  <a:srgbClr val="0F9B82"/>
                </a:solidFill>
                <a:latin typeface="Calibri" pitchFamily="34" charset="0"/>
                <a:ea typeface="Calibri" pitchFamily="34" charset="-122"/>
                <a:cs typeface="Calibri" pitchFamily="34" charset="-120"/>
              </a:rPr>
              <a:t>INTEGRITY</a:t>
            </a:r>
            <a:endParaRPr lang="en-US" sz="1100" dirty="0"/>
          </a:p>
        </p:txBody>
      </p:sp>
      <p:sp>
        <p:nvSpPr>
          <p:cNvPr id="3" name="Text 1"/>
          <p:cNvSpPr txBox="1"/>
          <p:nvPr/>
        </p:nvSpPr>
        <p:spPr>
          <a:xfrm>
            <a:off x="566928" y="566928"/>
            <a:ext cx="11027664" cy="731520"/>
          </a:xfrm>
          <a:prstGeom prst="rect">
            <a:avLst/>
          </a:prstGeom>
          <a:noFill/>
          <a:ln/>
        </p:spPr>
        <p:txBody>
          <a:bodyPr wrap="square" lIns="0" tIns="0" rIns="0" bIns="0" rtlCol="0" anchor="ctr"/>
          <a:lstStyle/>
          <a:p>
            <a:pPr indent="0" marL="0">
              <a:buNone/>
            </a:pPr>
            <a:r>
              <a:rPr lang="en-US" sz="3400" b="1" dirty="0">
                <a:solidFill>
                  <a:srgbClr val="22304F"/>
                </a:solidFill>
                <a:latin typeface="Calibri" pitchFamily="34" charset="0"/>
                <a:ea typeface="Calibri" pitchFamily="34" charset="-122"/>
                <a:cs typeface="Calibri" pitchFamily="34" charset="-120"/>
              </a:rPr>
              <a:t>Three shortcuts we did not take</a:t>
            </a:r>
            <a:endParaRPr lang="en-US" sz="3400" dirty="0"/>
          </a:p>
        </p:txBody>
      </p:sp>
      <p:sp>
        <p:nvSpPr>
          <p:cNvPr id="4" name="Shape 2"/>
          <p:cNvSpPr/>
          <p:nvPr/>
        </p:nvSpPr>
        <p:spPr>
          <a:xfrm>
            <a:off x="566928" y="1536192"/>
            <a:ext cx="3493008" cy="2286000"/>
          </a:xfrm>
          <a:prstGeom prst="roundRect">
            <a:avLst>
              <a:gd name="adj" fmla="val 2800"/>
            </a:avLst>
          </a:prstGeom>
          <a:solidFill>
            <a:srgbClr val="EEF2F8"/>
          </a:solidFill>
          <a:ln/>
        </p:spPr>
      </p:sp>
      <p:sp>
        <p:nvSpPr>
          <p:cNvPr id="5" name="Shape 3"/>
          <p:cNvSpPr/>
          <p:nvPr/>
        </p:nvSpPr>
        <p:spPr>
          <a:xfrm>
            <a:off x="786384" y="1755648"/>
            <a:ext cx="402336" cy="402336"/>
          </a:xfrm>
          <a:prstGeom prst="roundRect">
            <a:avLst>
              <a:gd name="adj" fmla="val 22727"/>
            </a:avLst>
          </a:prstGeom>
          <a:solidFill>
            <a:srgbClr val="C65B3F"/>
          </a:solidFill>
          <a:ln/>
        </p:spPr>
      </p:sp>
      <p:sp>
        <p:nvSpPr>
          <p:cNvPr id="6" name="Text 4"/>
          <p:cNvSpPr txBox="1"/>
          <p:nvPr/>
        </p:nvSpPr>
        <p:spPr>
          <a:xfrm>
            <a:off x="786384" y="17556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txBox="1"/>
          <p:nvPr/>
        </p:nvSpPr>
        <p:spPr>
          <a:xfrm>
            <a:off x="786384" y="2304288"/>
            <a:ext cx="3054096" cy="310896"/>
          </a:xfrm>
          <a:prstGeom prst="rect">
            <a:avLst/>
          </a:prstGeom>
          <a:noFill/>
          <a:ln/>
        </p:spPr>
        <p:txBody>
          <a:bodyPr wrap="square" lIns="0" tIns="0" rIns="0" bIns="0" rtlCol="0" anchor="t"/>
          <a:lstStyle/>
          <a:p>
            <a:pPr algn="l" indent="0" marL="0">
              <a:lnSpc>
                <a:spcPct val="112000"/>
              </a:lnSpc>
              <a:buNone/>
            </a:pPr>
            <a:r>
              <a:rPr lang="en-US" sz="1400" b="1" dirty="0">
                <a:solidFill>
                  <a:srgbClr val="22304F"/>
                </a:solidFill>
                <a:latin typeface="Calibri" pitchFamily="34" charset="0"/>
                <a:ea typeface="Calibri" pitchFamily="34" charset="-122"/>
                <a:cs typeface="Calibri" pitchFamily="34" charset="-120"/>
              </a:rPr>
              <a:t>meta_information</a:t>
            </a:r>
            <a:endParaRPr lang="en-US" sz="1400" dirty="0"/>
          </a:p>
        </p:txBody>
      </p:sp>
      <p:sp>
        <p:nvSpPr>
          <p:cNvPr id="8" name="Text 6"/>
          <p:cNvSpPr txBox="1"/>
          <p:nvPr/>
        </p:nvSpPr>
        <p:spPr>
          <a:xfrm>
            <a:off x="786384" y="2670048"/>
            <a:ext cx="3054096" cy="105156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Carries the original problem URL and, for kata problems, the starter code — which names the exact function signature of the answer.</a:t>
            </a:r>
            <a:endParaRPr lang="en-US" sz="1200" dirty="0"/>
          </a:p>
        </p:txBody>
      </p:sp>
      <p:sp>
        <p:nvSpPr>
          <p:cNvPr id="9" name="Shape 7"/>
          <p:cNvSpPr/>
          <p:nvPr/>
        </p:nvSpPr>
        <p:spPr>
          <a:xfrm>
            <a:off x="4334256" y="1536192"/>
            <a:ext cx="3493008" cy="2286000"/>
          </a:xfrm>
          <a:prstGeom prst="roundRect">
            <a:avLst>
              <a:gd name="adj" fmla="val 2800"/>
            </a:avLst>
          </a:prstGeom>
          <a:solidFill>
            <a:srgbClr val="EEF2F8"/>
          </a:solidFill>
          <a:ln/>
        </p:spPr>
      </p:sp>
      <p:sp>
        <p:nvSpPr>
          <p:cNvPr id="10" name="Shape 8"/>
          <p:cNvSpPr/>
          <p:nvPr/>
        </p:nvSpPr>
        <p:spPr>
          <a:xfrm>
            <a:off x="4553712" y="1755648"/>
            <a:ext cx="402336" cy="402336"/>
          </a:xfrm>
          <a:prstGeom prst="roundRect">
            <a:avLst>
              <a:gd name="adj" fmla="val 22727"/>
            </a:avLst>
          </a:prstGeom>
          <a:solidFill>
            <a:srgbClr val="C65B3F"/>
          </a:solidFill>
          <a:ln/>
        </p:spPr>
      </p:sp>
      <p:sp>
        <p:nvSpPr>
          <p:cNvPr id="11" name="Text 9"/>
          <p:cNvSpPr txBox="1"/>
          <p:nvPr/>
        </p:nvSpPr>
        <p:spPr>
          <a:xfrm>
            <a:off x="4553712" y="17556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4553712" y="2304288"/>
            <a:ext cx="3054096" cy="310896"/>
          </a:xfrm>
          <a:prstGeom prst="rect">
            <a:avLst/>
          </a:prstGeom>
          <a:noFill/>
          <a:ln/>
        </p:spPr>
        <p:txBody>
          <a:bodyPr wrap="square" lIns="0" tIns="0" rIns="0" bIns="0" rtlCol="0" anchor="t"/>
          <a:lstStyle/>
          <a:p>
            <a:pPr algn="l" indent="0" marL="0">
              <a:lnSpc>
                <a:spcPct val="112000"/>
              </a:lnSpc>
              <a:buNone/>
            </a:pPr>
            <a:r>
              <a:rPr lang="en-US" sz="1400" b="1" dirty="0">
                <a:solidFill>
                  <a:srgbClr val="22304F"/>
                </a:solidFill>
                <a:latin typeface="Calibri" pitchFamily="34" charset="0"/>
                <a:ea typeface="Calibri" pitchFamily="34" charset="-122"/>
                <a:cs typeface="Calibri" pitchFamily="34" charset="-120"/>
              </a:rPr>
              <a:t>the partition column</a:t>
            </a:r>
            <a:endParaRPr lang="en-US" sz="1400" dirty="0"/>
          </a:p>
        </p:txBody>
      </p:sp>
      <p:sp>
        <p:nvSpPr>
          <p:cNvPr id="13" name="Text 11"/>
          <p:cNvSpPr txBox="1"/>
          <p:nvPr/>
        </p:nvSpPr>
        <p:spPr>
          <a:xfrm>
            <a:off x="4553712" y="2670048"/>
            <a:ext cx="3054096" cy="105156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Marks each document train or test. Using it would halve the candidate set for free.</a:t>
            </a:r>
            <a:endParaRPr lang="en-US" sz="1200" dirty="0"/>
          </a:p>
        </p:txBody>
      </p:sp>
      <p:sp>
        <p:nvSpPr>
          <p:cNvPr id="14" name="Shape 12"/>
          <p:cNvSpPr/>
          <p:nvPr/>
        </p:nvSpPr>
        <p:spPr>
          <a:xfrm>
            <a:off x="8101584" y="1536192"/>
            <a:ext cx="3493008" cy="2286000"/>
          </a:xfrm>
          <a:prstGeom prst="roundRect">
            <a:avLst>
              <a:gd name="adj" fmla="val 2800"/>
            </a:avLst>
          </a:prstGeom>
          <a:solidFill>
            <a:srgbClr val="EEF2F8"/>
          </a:solidFill>
          <a:ln/>
        </p:spPr>
      </p:sp>
      <p:sp>
        <p:nvSpPr>
          <p:cNvPr id="15" name="Shape 13"/>
          <p:cNvSpPr/>
          <p:nvPr/>
        </p:nvSpPr>
        <p:spPr>
          <a:xfrm>
            <a:off x="8321040" y="1755648"/>
            <a:ext cx="402336" cy="402336"/>
          </a:xfrm>
          <a:prstGeom prst="roundRect">
            <a:avLst>
              <a:gd name="adj" fmla="val 22727"/>
            </a:avLst>
          </a:prstGeom>
          <a:solidFill>
            <a:srgbClr val="C65B3F"/>
          </a:solidFill>
          <a:ln/>
        </p:spPr>
      </p:sp>
      <p:sp>
        <p:nvSpPr>
          <p:cNvPr id="16" name="Text 14"/>
          <p:cNvSpPr txBox="1"/>
          <p:nvPr/>
        </p:nvSpPr>
        <p:spPr>
          <a:xfrm>
            <a:off x="8321040" y="17556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txBox="1"/>
          <p:nvPr/>
        </p:nvSpPr>
        <p:spPr>
          <a:xfrm>
            <a:off x="8321040" y="2304288"/>
            <a:ext cx="3054096" cy="310896"/>
          </a:xfrm>
          <a:prstGeom prst="rect">
            <a:avLst/>
          </a:prstGeom>
          <a:noFill/>
          <a:ln/>
        </p:spPr>
        <p:txBody>
          <a:bodyPr wrap="square" lIns="0" tIns="0" rIns="0" bIns="0" rtlCol="0" anchor="t"/>
          <a:lstStyle/>
          <a:p>
            <a:pPr algn="l" indent="0" marL="0">
              <a:lnSpc>
                <a:spcPct val="112000"/>
              </a:lnSpc>
              <a:buNone/>
            </a:pPr>
            <a:r>
              <a:rPr lang="en-US" sz="1400" b="1" dirty="0">
                <a:solidFill>
                  <a:srgbClr val="22304F"/>
                </a:solidFill>
                <a:latin typeface="Calibri" pitchFamily="34" charset="0"/>
                <a:ea typeface="Calibri" pitchFamily="34" charset="-122"/>
                <a:cs typeface="Calibri" pitchFamily="34" charset="-120"/>
              </a:rPr>
              <a:t>the qrels pattern</a:t>
            </a:r>
            <a:endParaRPr lang="en-US" sz="1400" dirty="0"/>
          </a:p>
        </p:txBody>
      </p:sp>
      <p:sp>
        <p:nvSpPr>
          <p:cNvPr id="18" name="Text 16"/>
          <p:cNvSpPr txBox="1"/>
          <p:nvPr/>
        </p:nvSpPr>
        <p:spPr>
          <a:xfrm>
            <a:off x="8321040" y="2670048"/>
            <a:ext cx="3054096" cy="105156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The gold map is the identity q&lt;N&gt; → d&lt;N&gt;. Nothing stops a system from simply reading it.</a:t>
            </a:r>
            <a:endParaRPr lang="en-US" sz="1200" dirty="0"/>
          </a:p>
        </p:txBody>
      </p:sp>
      <p:sp>
        <p:nvSpPr>
          <p:cNvPr id="19" name="Shape 17"/>
          <p:cNvSpPr/>
          <p:nvPr/>
        </p:nvSpPr>
        <p:spPr>
          <a:xfrm>
            <a:off x="566928" y="4041648"/>
            <a:ext cx="11027664" cy="1051560"/>
          </a:xfrm>
          <a:prstGeom prst="roundRect">
            <a:avLst>
              <a:gd name="adj" fmla="val 6087"/>
            </a:avLst>
          </a:prstGeom>
          <a:solidFill>
            <a:srgbClr val="EEF2F8"/>
          </a:solidFill>
          <a:ln/>
        </p:spPr>
      </p:sp>
      <p:sp>
        <p:nvSpPr>
          <p:cNvPr id="20" name="Text 18"/>
          <p:cNvSpPr txBox="1"/>
          <p:nvPr/>
        </p:nvSpPr>
        <p:spPr>
          <a:xfrm>
            <a:off x="841248" y="4206240"/>
            <a:ext cx="5486400" cy="274320"/>
          </a:xfrm>
          <a:prstGeom prst="rect">
            <a:avLst/>
          </a:prstGeom>
          <a:noFill/>
          <a:ln/>
        </p:spPr>
        <p:txBody>
          <a:bodyPr wrap="square" lIns="0" tIns="0" rIns="0" bIns="0" rtlCol="0" anchor="t"/>
          <a:lstStyle/>
          <a:p>
            <a:pPr algn="l" indent="0" marL="0">
              <a:lnSpc>
                <a:spcPct val="112000"/>
              </a:lnSpc>
              <a:buNone/>
            </a:pPr>
            <a:r>
              <a:rPr lang="en-US" sz="1350" b="1" dirty="0">
                <a:solidFill>
                  <a:srgbClr val="22304F"/>
                </a:solidFill>
                <a:latin typeface="Calibri" pitchFamily="34" charset="0"/>
                <a:ea typeface="Calibri" pitchFamily="34" charset="-122"/>
                <a:cs typeface="Calibri" pitchFamily="34" charset="-120"/>
              </a:rPr>
              <a:t>The structure enforces it, not a promise</a:t>
            </a:r>
            <a:endParaRPr lang="en-US" sz="1350" dirty="0"/>
          </a:p>
        </p:txBody>
      </p:sp>
      <p:sp>
        <p:nvSpPr>
          <p:cNvPr id="21" name="Text 19"/>
          <p:cNvSpPr txBox="1"/>
          <p:nvPr/>
        </p:nvSpPr>
        <p:spPr>
          <a:xfrm>
            <a:off x="841248" y="4498848"/>
            <a:ext cx="10479024" cy="548640"/>
          </a:xfrm>
          <a:prstGeom prst="rect">
            <a:avLst/>
          </a:prstGeom>
          <a:noFill/>
          <a:ln/>
        </p:spPr>
        <p:txBody>
          <a:bodyPr wrap="square" lIns="0" tIns="0" rIns="0" bIns="0" rtlCol="0" anchor="t"/>
          <a:lstStyle/>
          <a:p>
            <a:pPr algn="l" indent="0" marL="0">
              <a:lnSpc>
                <a:spcPct val="112000"/>
              </a:lnSpc>
              <a:buNone/>
            </a:pPr>
            <a:r>
              <a:rPr lang="en-US" sz="1250" dirty="0">
                <a:solidFill>
                  <a:srgbClr val="39435A"/>
                </a:solidFill>
                <a:latin typeface="Calibri" pitchFamily="34" charset="0"/>
                <a:ea typeface="Calibri" pitchFamily="34" charset="-122"/>
                <a:cs typeface="Calibri" pitchFamily="34" charset="-120"/>
              </a:rPr>
              <a:t>MTEB hands the encoder text and nothing else. The pipeline records the texts it was given during encode() and reads nothing else in similarity(). Each of these three would raise the reported score without improving retrieval at all.</a:t>
            </a:r>
            <a:endParaRPr lang="en-US" sz="1250" dirty="0"/>
          </a:p>
        </p:txBody>
      </p:sp>
      <p:sp>
        <p:nvSpPr>
          <p:cNvPr id="22" name="Text 20"/>
          <p:cNvSpPr txBox="1"/>
          <p:nvPr/>
        </p:nvSpPr>
        <p:spPr>
          <a:xfrm>
            <a:off x="566928" y="5349240"/>
            <a:ext cx="11027664" cy="365760"/>
          </a:xfrm>
          <a:prstGeom prst="rect">
            <a:avLst/>
          </a:prstGeom>
          <a:noFill/>
          <a:ln/>
        </p:spPr>
        <p:txBody>
          <a:bodyPr wrap="square" lIns="0" tIns="0" rIns="0" bIns="0" rtlCol="0" anchor="t"/>
          <a:lstStyle/>
          <a:p>
            <a:pPr algn="l" indent="0" marL="0">
              <a:lnSpc>
                <a:spcPct val="112000"/>
              </a:lnSpc>
              <a:buNone/>
            </a:pPr>
            <a:r>
              <a:rPr lang="en-US" sz="1300" i="1" dirty="0">
                <a:solidFill>
                  <a:srgbClr val="7C879B"/>
                </a:solidFill>
                <a:latin typeface="Calibri" pitchFamily="34" charset="0"/>
                <a:ea typeface="Calibri" pitchFamily="34" charset="-122"/>
                <a:cs typeface="Calibri" pitchFamily="34" charset="-120"/>
              </a:rPr>
              <a:t>We know the shortcuts exist. The code is shaped so it cannot reach them.</a:t>
            </a:r>
            <a:endParaRPr lang="en-US" sz="1300" dirty="0"/>
          </a:p>
        </p:txBody>
      </p:sp>
      <p:sp>
        <p:nvSpPr>
          <p:cNvPr id="23" name="Text 21"/>
          <p:cNvSpPr txBox="1"/>
          <p:nvPr/>
        </p:nvSpPr>
        <p:spPr>
          <a:xfrm>
            <a:off x="566928" y="6327648"/>
            <a:ext cx="10479024" cy="274320"/>
          </a:xfrm>
          <a:prstGeom prst="rect">
            <a:avLst/>
          </a:prstGeom>
          <a:noFill/>
          <a:ln/>
        </p:spPr>
        <p:txBody>
          <a:bodyPr wrap="square" lIns="0" tIns="0" rIns="0" bIns="0" rtlCol="0" anchor="ctr"/>
          <a:lstStyle/>
          <a:p>
            <a:pPr indent="0" marL="0">
              <a:buNone/>
            </a:pPr>
            <a:r>
              <a:rPr lang="en-US" sz="900" dirty="0">
                <a:solidFill>
                  <a:srgbClr val="7C879B"/>
                </a:solidFill>
                <a:latin typeface="Calibri" pitchFamily="34" charset="0"/>
                <a:ea typeface="Calibri" pitchFamily="34" charset="-122"/>
                <a:cs typeface="Calibri" pitchFamily="34" charset="-120"/>
              </a:rPr>
              <a:t>CodeDoctor  ·  Samsung PRISM GenAI Hackathon 2026  ·  Theme 01</a:t>
            </a:r>
            <a:endParaRPr lang="en-US" sz="900" dirty="0"/>
          </a:p>
        </p:txBody>
      </p:sp>
      <p:sp>
        <p:nvSpPr>
          <p:cNvPr id="24" name="Text 22"/>
          <p:cNvSpPr txBox="1"/>
          <p:nvPr/>
        </p:nvSpPr>
        <p:spPr>
          <a:xfrm>
            <a:off x="11045952" y="6327648"/>
            <a:ext cx="548640" cy="274320"/>
          </a:xfrm>
          <a:prstGeom prst="rect">
            <a:avLst/>
          </a:prstGeom>
          <a:noFill/>
          <a:ln/>
        </p:spPr>
        <p:txBody>
          <a:bodyPr wrap="square" lIns="0" tIns="0" rIns="0" bIns="0" rtlCol="0" anchor="ctr"/>
          <a:lstStyle/>
          <a:p>
            <a:pPr algn="r" indent="0" marL="0">
              <a:buNone/>
            </a:pPr>
            <a:r>
              <a:rPr lang="en-US" sz="900" dirty="0">
                <a:solidFill>
                  <a:srgbClr val="7C879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27664" cy="237744"/>
          </a:xfrm>
          <a:prstGeom prst="rect">
            <a:avLst/>
          </a:prstGeom>
          <a:noFill/>
          <a:ln/>
        </p:spPr>
        <p:txBody>
          <a:bodyPr wrap="square" lIns="0" tIns="0" rIns="0" bIns="0" rtlCol="0" anchor="ctr"/>
          <a:lstStyle/>
          <a:p>
            <a:pPr indent="0" marL="0">
              <a:buNone/>
            </a:pPr>
            <a:r>
              <a:rPr lang="en-US" sz="1100" b="1" spc="160" kern="0" dirty="0">
                <a:solidFill>
                  <a:srgbClr val="0F9B82"/>
                </a:solidFill>
                <a:latin typeface="Calibri" pitchFamily="34" charset="0"/>
                <a:ea typeface="Calibri" pitchFamily="34" charset="-122"/>
                <a:cs typeface="Calibri" pitchFamily="34" charset="-120"/>
              </a:rPr>
              <a:t>PASS 3</a:t>
            </a:r>
            <a:endParaRPr lang="en-US" sz="1100" dirty="0"/>
          </a:p>
        </p:txBody>
      </p:sp>
      <p:sp>
        <p:nvSpPr>
          <p:cNvPr id="3" name="Text 1"/>
          <p:cNvSpPr txBox="1"/>
          <p:nvPr/>
        </p:nvSpPr>
        <p:spPr>
          <a:xfrm>
            <a:off x="566928" y="566928"/>
            <a:ext cx="11027664" cy="731520"/>
          </a:xfrm>
          <a:prstGeom prst="rect">
            <a:avLst/>
          </a:prstGeom>
          <a:noFill/>
          <a:ln/>
        </p:spPr>
        <p:txBody>
          <a:bodyPr wrap="square" lIns="0" tIns="0" rIns="0" bIns="0" rtlCol="0" anchor="ctr"/>
          <a:lstStyle/>
          <a:p>
            <a:pPr indent="0" marL="0">
              <a:buNone/>
            </a:pPr>
            <a:r>
              <a:rPr lang="en-US" sz="3400" b="1" dirty="0">
                <a:solidFill>
                  <a:srgbClr val="22304F"/>
                </a:solidFill>
                <a:latin typeface="Calibri" pitchFamily="34" charset="0"/>
                <a:ea typeface="Calibri" pitchFamily="34" charset="-122"/>
                <a:cs typeface="Calibri" pitchFamily="34" charset="-120"/>
              </a:rPr>
              <a:t>Evidence no embedding can supply</a:t>
            </a:r>
            <a:endParaRPr lang="en-US" sz="3400" dirty="0"/>
          </a:p>
        </p:txBody>
      </p:sp>
      <p:sp>
        <p:nvSpPr>
          <p:cNvPr id="4" name="Shape 2"/>
          <p:cNvSpPr/>
          <p:nvPr/>
        </p:nvSpPr>
        <p:spPr>
          <a:xfrm>
            <a:off x="9491472" y="621792"/>
            <a:ext cx="2103120" cy="292608"/>
          </a:xfrm>
          <a:prstGeom prst="roundRect">
            <a:avLst>
              <a:gd name="adj" fmla="val 50000"/>
            </a:avLst>
          </a:prstGeom>
          <a:solidFill>
            <a:srgbClr val="0F9B82"/>
          </a:solidFill>
          <a:ln/>
        </p:spPr>
      </p:sp>
      <p:sp>
        <p:nvSpPr>
          <p:cNvPr id="5" name="Text 3"/>
          <p:cNvSpPr txBox="1"/>
          <p:nvPr/>
        </p:nvSpPr>
        <p:spPr>
          <a:xfrm>
            <a:off x="9491472" y="621792"/>
            <a:ext cx="210312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CLEARED THE GATE</a:t>
            </a:r>
            <a:endParaRPr lang="en-US" sz="1000" dirty="0"/>
          </a:p>
        </p:txBody>
      </p:sp>
      <p:sp>
        <p:nvSpPr>
          <p:cNvPr id="6" name="Text 4"/>
          <p:cNvSpPr txBox="1"/>
          <p:nvPr/>
        </p:nvSpPr>
        <p:spPr>
          <a:xfrm>
            <a:off x="566928" y="1481328"/>
            <a:ext cx="7680960" cy="457200"/>
          </a:xfrm>
          <a:prstGeom prst="rect">
            <a:avLst/>
          </a:prstGeom>
          <a:noFill/>
          <a:ln/>
        </p:spPr>
        <p:txBody>
          <a:bodyPr wrap="square" lIns="0" tIns="0" rIns="0" bIns="0" rtlCol="0" anchor="t"/>
          <a:lstStyle/>
          <a:p>
            <a:pPr algn="l" indent="0" marL="0">
              <a:lnSpc>
                <a:spcPct val="112000"/>
              </a:lnSpc>
              <a:buNone/>
            </a:pPr>
            <a:r>
              <a:rPr lang="en-US" sz="1400" dirty="0">
                <a:solidFill>
                  <a:srgbClr val="22304F"/>
                </a:solidFill>
                <a:latin typeface="Calibri" pitchFamily="34" charset="0"/>
                <a:ea typeface="Calibri" pitchFamily="34" charset="-122"/>
                <a:cs typeface="Calibri" pitchFamily="34" charset="-120"/>
              </a:rPr>
              <a:t>Competitive-programming statements publish worked examples. Feed a statement's sample input to a candidate program and compare its stdout.</a:t>
            </a:r>
            <a:endParaRPr lang="en-US" sz="1400" dirty="0"/>
          </a:p>
        </p:txBody>
      </p:sp>
      <p:sp>
        <p:nvSpPr>
          <p:cNvPr id="7" name="Text 5"/>
          <p:cNvSpPr txBox="1"/>
          <p:nvPr/>
        </p:nvSpPr>
        <p:spPr>
          <a:xfrm>
            <a:off x="566928" y="2121408"/>
            <a:ext cx="3108960" cy="868680"/>
          </a:xfrm>
          <a:prstGeom prst="rect">
            <a:avLst/>
          </a:prstGeom>
          <a:noFill/>
          <a:ln/>
        </p:spPr>
        <p:txBody>
          <a:bodyPr wrap="square" lIns="0" tIns="0" rIns="0" bIns="0" rtlCol="0" anchor="ctr"/>
          <a:lstStyle/>
          <a:p>
            <a:pPr indent="0" marL="0">
              <a:buNone/>
            </a:pPr>
            <a:r>
              <a:rPr lang="en-US" sz="3800" b="1" dirty="0">
                <a:solidFill>
                  <a:srgbClr val="0F9B82"/>
                </a:solidFill>
                <a:latin typeface="Calibri" pitchFamily="34" charset="0"/>
                <a:ea typeface="Calibri" pitchFamily="34" charset="-122"/>
                <a:cs typeface="Calibri" pitchFamily="34" charset="-120"/>
              </a:rPr>
              <a:t>97.6%</a:t>
            </a:r>
            <a:endParaRPr lang="en-US" sz="3800" dirty="0"/>
          </a:p>
        </p:txBody>
      </p:sp>
      <p:sp>
        <p:nvSpPr>
          <p:cNvPr id="8" name="Text 6"/>
          <p:cNvSpPr txBox="1"/>
          <p:nvPr/>
        </p:nvSpPr>
        <p:spPr>
          <a:xfrm>
            <a:off x="566928" y="2907792"/>
            <a:ext cx="3108960" cy="457200"/>
          </a:xfrm>
          <a:prstGeom prst="rect">
            <a:avLst/>
          </a:prstGeom>
          <a:noFill/>
          <a:ln/>
        </p:spPr>
        <p:txBody>
          <a:bodyPr wrap="square" lIns="0" tIns="0" rIns="0" bIns="0" rtlCol="0" anchor="ctr"/>
          <a:lstStyle/>
          <a:p>
            <a:pPr indent="0" marL="0">
              <a:lnSpc>
                <a:spcPct val="105000"/>
              </a:lnSpc>
              <a:buNone/>
            </a:pPr>
            <a:r>
              <a:rPr lang="en-US" sz="1100" dirty="0">
                <a:solidFill>
                  <a:srgbClr val="7C879B"/>
                </a:solidFill>
                <a:latin typeface="Calibri" pitchFamily="34" charset="0"/>
                <a:ea typeface="Calibri" pitchFamily="34" charset="-122"/>
                <a:cs typeface="Calibri" pitchFamily="34" charset="-120"/>
              </a:rPr>
              <a:t>of test statements yield a parseable</a:t>
            </a:r>
            <a:endParaRPr lang="en-US" sz="1100" dirty="0"/>
          </a:p>
          <a:p>
            <a:pPr indent="0" marL="0">
              <a:lnSpc>
                <a:spcPct val="105000"/>
              </a:lnSpc>
              <a:buNone/>
            </a:pPr>
            <a:r>
              <a:rPr lang="en-US" sz="1100" dirty="0">
                <a:solidFill>
                  <a:srgbClr val="7C879B"/>
                </a:solidFill>
                <a:latin typeface="Calibri" pitchFamily="34" charset="0"/>
                <a:ea typeface="Calibri" pitchFamily="34" charset="-122"/>
                <a:cs typeface="Calibri" pitchFamily="34" charset="-120"/>
              </a:rPr>
              <a:t>worked example  (train: 32.0%)</a:t>
            </a:r>
            <a:endParaRPr lang="en-US" sz="1100" dirty="0"/>
          </a:p>
        </p:txBody>
      </p:sp>
      <p:sp>
        <p:nvSpPr>
          <p:cNvPr id="9" name="Text 7"/>
          <p:cNvSpPr txBox="1"/>
          <p:nvPr/>
        </p:nvSpPr>
        <p:spPr>
          <a:xfrm>
            <a:off x="3767328" y="2121408"/>
            <a:ext cx="3108960" cy="868680"/>
          </a:xfrm>
          <a:prstGeom prst="rect">
            <a:avLst/>
          </a:prstGeom>
          <a:noFill/>
          <a:ln/>
        </p:spPr>
        <p:txBody>
          <a:bodyPr wrap="square" lIns="0" tIns="0" rIns="0" bIns="0" rtlCol="0" anchor="ctr"/>
          <a:lstStyle/>
          <a:p>
            <a:pPr indent="0" marL="0">
              <a:buNone/>
            </a:pPr>
            <a:r>
              <a:rPr lang="en-US" sz="3800" b="1" dirty="0">
                <a:solidFill>
                  <a:srgbClr val="22304F"/>
                </a:solidFill>
                <a:latin typeface="Calibri" pitchFamily="34" charset="0"/>
                <a:ea typeface="Calibri" pitchFamily="34" charset="-122"/>
                <a:cs typeface="Calibri" pitchFamily="34" charset="-120"/>
              </a:rPr>
              <a:t>71–82%</a:t>
            </a:r>
            <a:endParaRPr lang="en-US" sz="3800" dirty="0"/>
          </a:p>
        </p:txBody>
      </p:sp>
      <p:sp>
        <p:nvSpPr>
          <p:cNvPr id="10" name="Text 8"/>
          <p:cNvSpPr txBox="1"/>
          <p:nvPr/>
        </p:nvSpPr>
        <p:spPr>
          <a:xfrm>
            <a:off x="3767328" y="2907792"/>
            <a:ext cx="3108960" cy="457200"/>
          </a:xfrm>
          <a:prstGeom prst="rect">
            <a:avLst/>
          </a:prstGeom>
          <a:noFill/>
          <a:ln/>
        </p:spPr>
        <p:txBody>
          <a:bodyPr wrap="square" lIns="0" tIns="0" rIns="0" bIns="0" rtlCol="0" anchor="ctr"/>
          <a:lstStyle/>
          <a:p>
            <a:pPr indent="0" marL="0">
              <a:lnSpc>
                <a:spcPct val="105000"/>
              </a:lnSpc>
              <a:buNone/>
            </a:pPr>
            <a:r>
              <a:rPr lang="en-US" sz="1100" dirty="0">
                <a:solidFill>
                  <a:srgbClr val="7C879B"/>
                </a:solidFill>
                <a:latin typeface="Calibri" pitchFamily="34" charset="0"/>
                <a:ea typeface="Calibri" pitchFamily="34" charset="-122"/>
                <a:cs typeface="Calibri" pitchFamily="34" charset="-120"/>
              </a:rPr>
              <a:t>of gold solutions reproduce</a:t>
            </a:r>
            <a:endParaRPr lang="en-US" sz="1100" dirty="0"/>
          </a:p>
          <a:p>
            <a:pPr indent="0" marL="0">
              <a:lnSpc>
                <a:spcPct val="105000"/>
              </a:lnSpc>
              <a:buNone/>
            </a:pPr>
            <a:r>
              <a:rPr lang="en-US" sz="1100" dirty="0">
                <a:solidFill>
                  <a:srgbClr val="7C879B"/>
                </a:solidFill>
                <a:latin typeface="Calibri" pitchFamily="34" charset="0"/>
                <a:ea typeface="Calibri" pitchFamily="34" charset="-122"/>
                <a:cs typeface="Calibri" pitchFamily="34" charset="-120"/>
              </a:rPr>
              <a:t>their own sample output</a:t>
            </a:r>
            <a:endParaRPr lang="en-US" sz="1100" dirty="0"/>
          </a:p>
        </p:txBody>
      </p:sp>
      <p:sp>
        <p:nvSpPr>
          <p:cNvPr id="11" name="Text 9"/>
          <p:cNvSpPr txBox="1"/>
          <p:nvPr/>
        </p:nvSpPr>
        <p:spPr>
          <a:xfrm>
            <a:off x="6967728" y="2121408"/>
            <a:ext cx="3108960" cy="868680"/>
          </a:xfrm>
          <a:prstGeom prst="rect">
            <a:avLst/>
          </a:prstGeom>
          <a:noFill/>
          <a:ln/>
        </p:spPr>
        <p:txBody>
          <a:bodyPr wrap="square" lIns="0" tIns="0" rIns="0" bIns="0" rtlCol="0" anchor="ctr"/>
          <a:lstStyle/>
          <a:p>
            <a:pPr indent="0" marL="0">
              <a:buNone/>
            </a:pPr>
            <a:r>
              <a:rPr lang="en-US" sz="3800" b="1" dirty="0">
                <a:solidFill>
                  <a:srgbClr val="22304F"/>
                </a:solidFill>
                <a:latin typeface="Calibri" pitchFamily="34" charset="0"/>
                <a:ea typeface="Calibri" pitchFamily="34" charset="-122"/>
                <a:cs typeface="Calibri" pitchFamily="34" charset="-120"/>
              </a:rPr>
              <a:t>0 / 100</a:t>
            </a:r>
            <a:endParaRPr lang="en-US" sz="3800" dirty="0"/>
          </a:p>
        </p:txBody>
      </p:sp>
      <p:sp>
        <p:nvSpPr>
          <p:cNvPr id="12" name="Text 10"/>
          <p:cNvSpPr txBox="1"/>
          <p:nvPr/>
        </p:nvSpPr>
        <p:spPr>
          <a:xfrm>
            <a:off x="6967728" y="2907792"/>
            <a:ext cx="3108960" cy="457200"/>
          </a:xfrm>
          <a:prstGeom prst="rect">
            <a:avLst/>
          </a:prstGeom>
          <a:noFill/>
          <a:ln/>
        </p:spPr>
        <p:txBody>
          <a:bodyPr wrap="square" lIns="0" tIns="0" rIns="0" bIns="0" rtlCol="0" anchor="ctr"/>
          <a:lstStyle/>
          <a:p>
            <a:pPr indent="0" marL="0">
              <a:lnSpc>
                <a:spcPct val="105000"/>
              </a:lnSpc>
              <a:buNone/>
            </a:pPr>
            <a:r>
              <a:rPr lang="en-US" sz="1100" dirty="0">
                <a:solidFill>
                  <a:srgbClr val="7C879B"/>
                </a:solidFill>
                <a:latin typeface="Calibri" pitchFamily="34" charset="0"/>
                <a:ea typeface="Calibri" pitchFamily="34" charset="-122"/>
                <a:cs typeface="Calibri" pitchFamily="34" charset="-120"/>
              </a:rPr>
              <a:t>random non-gold candidates</a:t>
            </a:r>
            <a:endParaRPr lang="en-US" sz="1100" dirty="0"/>
          </a:p>
          <a:p>
            <a:pPr indent="0" marL="0">
              <a:lnSpc>
                <a:spcPct val="105000"/>
              </a:lnSpc>
              <a:buNone/>
            </a:pPr>
            <a:r>
              <a:rPr lang="en-US" sz="1100" dirty="0">
                <a:solidFill>
                  <a:srgbClr val="7C879B"/>
                </a:solidFill>
                <a:latin typeface="Calibri" pitchFamily="34" charset="0"/>
                <a:ea typeface="Calibri" pitchFamily="34" charset="-122"/>
                <a:cs typeface="Calibri" pitchFamily="34" charset="-120"/>
              </a:rPr>
              <a:t>passed a statement's examples</a:t>
            </a:r>
            <a:endParaRPr lang="en-US" sz="1100" dirty="0"/>
          </a:p>
        </p:txBody>
      </p:sp>
      <p:sp>
        <p:nvSpPr>
          <p:cNvPr id="13" name="Shape 11"/>
          <p:cNvSpPr/>
          <p:nvPr/>
        </p:nvSpPr>
        <p:spPr>
          <a:xfrm>
            <a:off x="566928" y="3675888"/>
            <a:ext cx="6400800" cy="1463040"/>
          </a:xfrm>
          <a:prstGeom prst="roundRect">
            <a:avLst>
              <a:gd name="adj" fmla="val 4375"/>
            </a:avLst>
          </a:prstGeom>
          <a:solidFill>
            <a:srgbClr val="FBF1ED"/>
          </a:solidFill>
          <a:ln/>
        </p:spPr>
      </p:sp>
      <p:sp>
        <p:nvSpPr>
          <p:cNvPr id="14" name="Text 12"/>
          <p:cNvSpPr txBox="1"/>
          <p:nvPr/>
        </p:nvSpPr>
        <p:spPr>
          <a:xfrm>
            <a:off x="822960" y="3858768"/>
            <a:ext cx="5852160" cy="274320"/>
          </a:xfrm>
          <a:prstGeom prst="rect">
            <a:avLst/>
          </a:prstGeom>
          <a:noFill/>
          <a:ln/>
        </p:spPr>
        <p:txBody>
          <a:bodyPr wrap="square" lIns="0" tIns="0" rIns="0" bIns="0" rtlCol="0" anchor="t"/>
          <a:lstStyle/>
          <a:p>
            <a:pPr algn="l" indent="0" marL="0">
              <a:lnSpc>
                <a:spcPct val="112000"/>
              </a:lnSpc>
              <a:buNone/>
            </a:pPr>
            <a:r>
              <a:rPr lang="en-US" sz="1350" b="1" dirty="0">
                <a:solidFill>
                  <a:srgbClr val="C65B3F"/>
                </a:solidFill>
                <a:latin typeface="Calibri" pitchFamily="34" charset="0"/>
                <a:ea typeface="Calibri" pitchFamily="34" charset="-122"/>
                <a:cs typeface="Calibri" pitchFamily="34" charset="-120"/>
              </a:rPr>
              <a:t>It executes dataset-authored code</a:t>
            </a:r>
            <a:endParaRPr lang="en-US" sz="1350" dirty="0"/>
          </a:p>
        </p:txBody>
      </p:sp>
      <p:sp>
        <p:nvSpPr>
          <p:cNvPr id="15" name="Text 13"/>
          <p:cNvSpPr txBox="1"/>
          <p:nvPr/>
        </p:nvSpPr>
        <p:spPr>
          <a:xfrm>
            <a:off x="822960" y="4169664"/>
            <a:ext cx="5897880" cy="86868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Fresh python -I -S subprocess · throwaway working directory · stripped environment · 2-second wall-clock timeout · address-space cap where the platform allows. Never in-process. Every failure mode returns False rather than raising.</a:t>
            </a:r>
            <a:endParaRPr lang="en-US" sz="1200" dirty="0"/>
          </a:p>
        </p:txBody>
      </p:sp>
      <p:sp>
        <p:nvSpPr>
          <p:cNvPr id="16" name="Shape 14"/>
          <p:cNvSpPr/>
          <p:nvPr/>
        </p:nvSpPr>
        <p:spPr>
          <a:xfrm>
            <a:off x="7223760" y="3675888"/>
            <a:ext cx="4370832" cy="1463040"/>
          </a:xfrm>
          <a:prstGeom prst="roundRect">
            <a:avLst>
              <a:gd name="adj" fmla="val 4375"/>
            </a:avLst>
          </a:prstGeom>
          <a:solidFill>
            <a:srgbClr val="EEF2F8"/>
          </a:solidFill>
          <a:ln/>
        </p:spPr>
      </p:sp>
      <p:sp>
        <p:nvSpPr>
          <p:cNvPr id="17" name="Text 15"/>
          <p:cNvSpPr txBox="1"/>
          <p:nvPr/>
        </p:nvSpPr>
        <p:spPr>
          <a:xfrm>
            <a:off x="7479792" y="3858768"/>
            <a:ext cx="4114800" cy="274320"/>
          </a:xfrm>
          <a:prstGeom prst="rect">
            <a:avLst/>
          </a:prstGeom>
          <a:noFill/>
          <a:ln/>
        </p:spPr>
        <p:txBody>
          <a:bodyPr wrap="square" lIns="0" tIns="0" rIns="0" bIns="0" rtlCol="0" anchor="t"/>
          <a:lstStyle/>
          <a:p>
            <a:pPr algn="l" indent="0" marL="0">
              <a:lnSpc>
                <a:spcPct val="112000"/>
              </a:lnSpc>
              <a:buNone/>
            </a:pPr>
            <a:r>
              <a:rPr lang="en-US" sz="1350" b="1" dirty="0">
                <a:solidFill>
                  <a:srgbClr val="22304F"/>
                </a:solidFill>
                <a:latin typeface="Calibri" pitchFamily="34" charset="0"/>
                <a:ea typeface="Calibri" pitchFamily="34" charset="-122"/>
                <a:cs typeface="Calibri" pitchFamily="34" charset="-120"/>
              </a:rPr>
              <a:t>Promotion only, never demotion</a:t>
            </a:r>
            <a:endParaRPr lang="en-US" sz="1350" dirty="0"/>
          </a:p>
        </p:txBody>
      </p:sp>
      <p:sp>
        <p:nvSpPr>
          <p:cNvPr id="18" name="Text 16"/>
          <p:cNvSpPr txBox="1"/>
          <p:nvPr/>
        </p:nvSpPr>
        <p:spPr>
          <a:xfrm>
            <a:off x="7479792" y="4169664"/>
            <a:ext cx="3858768" cy="86868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A verified candidate is promoted. A failed one is never demoted: a crash may be an environment difference rather than a wrong answer, so evidence promotes and absence proves nothing.</a:t>
            </a:r>
            <a:endParaRPr lang="en-US" sz="1200" dirty="0"/>
          </a:p>
        </p:txBody>
      </p:sp>
      <p:sp>
        <p:nvSpPr>
          <p:cNvPr id="19" name="Shape 17"/>
          <p:cNvSpPr/>
          <p:nvPr/>
        </p:nvSpPr>
        <p:spPr>
          <a:xfrm>
            <a:off x="566928" y="5349240"/>
            <a:ext cx="11027664" cy="777240"/>
          </a:xfrm>
          <a:prstGeom prst="roundRect">
            <a:avLst>
              <a:gd name="adj" fmla="val 8235"/>
            </a:avLst>
          </a:prstGeom>
          <a:solidFill>
            <a:srgbClr val="EEF2F8"/>
          </a:solidFill>
          <a:ln/>
        </p:spPr>
      </p:sp>
      <p:sp>
        <p:nvSpPr>
          <p:cNvPr id="20" name="Text 18"/>
          <p:cNvSpPr txBox="1"/>
          <p:nvPr/>
        </p:nvSpPr>
        <p:spPr>
          <a:xfrm>
            <a:off x="841248" y="5541264"/>
            <a:ext cx="10479024" cy="502920"/>
          </a:xfrm>
          <a:prstGeom prst="rect">
            <a:avLst/>
          </a:prstGeom>
          <a:noFill/>
          <a:ln/>
        </p:spPr>
        <p:txBody>
          <a:bodyPr wrap="square" lIns="0" tIns="0" rIns="0" bIns="0" rtlCol="0" anchor="t"/>
          <a:lstStyle/>
          <a:p>
            <a:pPr algn="l" indent="0" marL="0">
              <a:lnSpc>
                <a:spcPct val="112000"/>
              </a:lnSpc>
              <a:buNone/>
            </a:pPr>
            <a:r>
              <a:rPr lang="en-US" sz="1250" dirty="0">
                <a:solidFill>
                  <a:srgbClr val="22304F"/>
                </a:solidFill>
                <a:latin typeface="Calibri" pitchFamily="34" charset="0"/>
                <a:ea typeface="Calibri" pitchFamily="34" charset="-122"/>
                <a:cs typeface="Calibri" pitchFamily="34" charset="-120"/>
              </a:rPr>
              <a:t>Shipped on — and defended, not hidden. It is the only pass that cleared the paired-bootstrap gate, and leaving it on is what makes a bare reproduce command match our submitted number.  --no-execution reports the dense-only score.</a:t>
            </a:r>
            <a:endParaRPr lang="en-US" sz="1250" dirty="0"/>
          </a:p>
        </p:txBody>
      </p:sp>
      <p:sp>
        <p:nvSpPr>
          <p:cNvPr id="21" name="Text 19"/>
          <p:cNvSpPr txBox="1"/>
          <p:nvPr/>
        </p:nvSpPr>
        <p:spPr>
          <a:xfrm>
            <a:off x="566928" y="6327648"/>
            <a:ext cx="10479024" cy="274320"/>
          </a:xfrm>
          <a:prstGeom prst="rect">
            <a:avLst/>
          </a:prstGeom>
          <a:noFill/>
          <a:ln/>
        </p:spPr>
        <p:txBody>
          <a:bodyPr wrap="square" lIns="0" tIns="0" rIns="0" bIns="0" rtlCol="0" anchor="ctr"/>
          <a:lstStyle/>
          <a:p>
            <a:pPr indent="0" marL="0">
              <a:buNone/>
            </a:pPr>
            <a:r>
              <a:rPr lang="en-US" sz="900" dirty="0">
                <a:solidFill>
                  <a:srgbClr val="7C879B"/>
                </a:solidFill>
                <a:latin typeface="Calibri" pitchFamily="34" charset="0"/>
                <a:ea typeface="Calibri" pitchFamily="34" charset="-122"/>
                <a:cs typeface="Calibri" pitchFamily="34" charset="-120"/>
              </a:rPr>
              <a:t>CodeDoctor  ·  Samsung PRISM GenAI Hackathon 2026  ·  Theme 01</a:t>
            </a:r>
            <a:endParaRPr lang="en-US" sz="900" dirty="0"/>
          </a:p>
        </p:txBody>
      </p:sp>
      <p:sp>
        <p:nvSpPr>
          <p:cNvPr id="22" name="Text 20"/>
          <p:cNvSpPr txBox="1"/>
          <p:nvPr/>
        </p:nvSpPr>
        <p:spPr>
          <a:xfrm>
            <a:off x="11045952" y="6327648"/>
            <a:ext cx="548640" cy="274320"/>
          </a:xfrm>
          <a:prstGeom prst="rect">
            <a:avLst/>
          </a:prstGeom>
          <a:noFill/>
          <a:ln/>
        </p:spPr>
        <p:txBody>
          <a:bodyPr wrap="square" lIns="0" tIns="0" rIns="0" bIns="0" rtlCol="0" anchor="ctr"/>
          <a:lstStyle/>
          <a:p>
            <a:pPr algn="r" indent="0" marL="0">
              <a:buNone/>
            </a:pPr>
            <a:r>
              <a:rPr lang="en-US" sz="900" dirty="0">
                <a:solidFill>
                  <a:srgbClr val="7C879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A2E"/>
        </a:solidFill>
      </p:bgPr>
    </p:bg>
    <p:spTree>
      <p:nvGrpSpPr>
        <p:cNvPr id="1" name=""/>
        <p:cNvGrpSpPr/>
        <p:nvPr/>
      </p:nvGrpSpPr>
      <p:grpSpPr>
        <a:xfrm>
          <a:off x="0" y="0"/>
          <a:ext cx="0" cy="0"/>
          <a:chOff x="0" y="0"/>
          <a:chExt cx="0" cy="0"/>
        </a:xfrm>
      </p:grpSpPr>
      <p:sp>
        <p:nvSpPr>
          <p:cNvPr id="2" name="Text 0"/>
          <p:cNvSpPr txBox="1"/>
          <p:nvPr/>
        </p:nvSpPr>
        <p:spPr>
          <a:xfrm>
            <a:off x="566928" y="329184"/>
            <a:ext cx="11027664" cy="237744"/>
          </a:xfrm>
          <a:prstGeom prst="rect">
            <a:avLst/>
          </a:prstGeom>
          <a:noFill/>
          <a:ln/>
        </p:spPr>
        <p:txBody>
          <a:bodyPr wrap="square" lIns="0" tIns="0" rIns="0" bIns="0" rtlCol="0" anchor="ctr"/>
          <a:lstStyle/>
          <a:p>
            <a:pPr indent="0" marL="0">
              <a:buNone/>
            </a:pPr>
            <a:r>
              <a:rPr lang="en-US" sz="1100" b="1" spc="160" kern="0" dirty="0">
                <a:solidFill>
                  <a:srgbClr val="0F9B82"/>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566928" y="566928"/>
            <a:ext cx="11027664"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What each pass was actually worth</a:t>
            </a:r>
            <a:endParaRPr lang="en-US" sz="3400" dirty="0"/>
          </a:p>
        </p:txBody>
      </p:sp>
      <p:sp>
        <p:nvSpPr>
          <p:cNvPr id="4" name="Text 2"/>
          <p:cNvSpPr txBox="1"/>
          <p:nvPr/>
        </p:nvSpPr>
        <p:spPr>
          <a:xfrm>
            <a:off x="566928" y="1426464"/>
            <a:ext cx="11027664" cy="292608"/>
          </a:xfrm>
          <a:prstGeom prst="rect">
            <a:avLst/>
          </a:prstGeom>
          <a:noFill/>
          <a:ln/>
        </p:spPr>
        <p:txBody>
          <a:bodyPr wrap="square" lIns="0" tIns="0" rIns="0" bIns="0" rtlCol="0" anchor="t"/>
          <a:lstStyle/>
          <a:p>
            <a:pPr algn="l" indent="0" marL="0">
              <a:lnSpc>
                <a:spcPct val="112000"/>
              </a:lnSpc>
              <a:buNone/>
            </a:pPr>
            <a:r>
              <a:rPr lang="en-US" sz="1250" dirty="0">
                <a:solidFill>
                  <a:srgbClr val="BFD2EE"/>
                </a:solidFill>
                <a:latin typeface="Calibri" pitchFamily="34" charset="0"/>
                <a:ea typeface="Calibri" pitchFamily="34" charset="-122"/>
                <a:cs typeface="Calibri" pitchFamily="34" charset="-120"/>
              </a:rPr>
              <a:t>Held-out DEV — 853 competitive-stdin queries the weights never saw. Every delta from a 1000-resample paired bootstrap.</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11027664" cy="914400"/>
        </p:xfrm>
        <a:graphic>
          <a:graphicData uri="http://schemas.openxmlformats.org/drawingml/2006/table">
            <a:tbl>
              <a:tblPr/>
              <a:tblGrid>
                <a:gridCol w="2286000"/>
                <a:gridCol w="1371600"/>
                <a:gridCol w="1371600"/>
                <a:gridCol w="1188720"/>
                <a:gridCol w="4809744"/>
              </a:tblGrid>
              <a:tr h="292608">
                <a:tc>
                  <a:txBody>
                    <a:bodyPr/>
                    <a:lstStyle/>
                    <a:p>
                      <a:pPr algn="l" indent="0" marL="0">
                        <a:buNone/>
                      </a:pPr>
                      <a:r>
                        <a:rPr lang="en-US" sz="1150" b="1" dirty="0">
                          <a:solidFill>
                            <a:srgbClr val="111A2E"/>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BFD2EE"/>
                    </a:solidFill>
                  </a:tcPr>
                </a:tc>
                <a:tc>
                  <a:txBody>
                    <a:bodyPr/>
                    <a:lstStyle/>
                    <a:p>
                      <a:pPr algn="l" indent="0" marL="0">
                        <a:buNone/>
                      </a:pPr>
                      <a:r>
                        <a:rPr lang="en-US" sz="1150" b="1" dirty="0">
                          <a:solidFill>
                            <a:srgbClr val="111A2E"/>
                          </a:solidFill>
                          <a:latin typeface="Calibri" pitchFamily="34" charset="0"/>
                          <a:ea typeface="Calibri" pitchFamily="34" charset="-122"/>
                          <a:cs typeface="Calibri" pitchFamily="34" charset="-120"/>
                        </a:rPr>
                        <a:t>NDCG@10</a:t>
                      </a:r>
                      <a:endParaRPr lang="en-US" sz="11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BFD2EE"/>
                    </a:solidFill>
                  </a:tcPr>
                </a:tc>
                <a:tc>
                  <a:txBody>
                    <a:bodyPr/>
                    <a:lstStyle/>
                    <a:p>
                      <a:pPr algn="l" indent="0" marL="0">
                        <a:buNone/>
                      </a:pPr>
                      <a:r>
                        <a:rPr lang="en-US" sz="1150" b="1" dirty="0">
                          <a:solidFill>
                            <a:srgbClr val="111A2E"/>
                          </a:solidFill>
                          <a:latin typeface="Calibri" pitchFamily="34" charset="0"/>
                          <a:ea typeface="Calibri" pitchFamily="34" charset="-122"/>
                          <a:cs typeface="Calibri" pitchFamily="34" charset="-120"/>
                        </a:rPr>
                        <a:t>MRR@10</a:t>
                      </a:r>
                      <a:endParaRPr lang="en-US" sz="11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BFD2EE"/>
                    </a:solidFill>
                  </a:tcPr>
                </a:tc>
                <a:tc>
                  <a:txBody>
                    <a:bodyPr/>
                    <a:lstStyle/>
                    <a:p>
                      <a:pPr algn="l" indent="0" marL="0">
                        <a:buNone/>
                      </a:pPr>
                      <a:r>
                        <a:rPr lang="en-US" sz="1150" b="1" dirty="0">
                          <a:solidFill>
                            <a:srgbClr val="111A2E"/>
                          </a:solidFill>
                          <a:latin typeface="Calibri" pitchFamily="34" charset="0"/>
                          <a:ea typeface="Calibri" pitchFamily="34" charset="-122"/>
                          <a:cs typeface="Calibri" pitchFamily="34" charset="-120"/>
                        </a:rPr>
                        <a:t>R@10</a:t>
                      </a:r>
                      <a:endParaRPr lang="en-US" sz="11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BFD2EE"/>
                    </a:solidFill>
                  </a:tcPr>
                </a:tc>
                <a:tc>
                  <a:txBody>
                    <a:bodyPr/>
                    <a:lstStyle/>
                    <a:p>
                      <a:pPr algn="l" indent="0" marL="0">
                        <a:buNone/>
                      </a:pPr>
                      <a:r>
                        <a:rPr lang="en-US" sz="1150" b="1" dirty="0">
                          <a:solidFill>
                            <a:srgbClr val="111A2E"/>
                          </a:solidFill>
                          <a:latin typeface="Calibri" pitchFamily="34" charset="0"/>
                          <a:ea typeface="Calibri" pitchFamily="34" charset="-122"/>
                          <a:cs typeface="Calibri" pitchFamily="34" charset="-120"/>
                        </a:rPr>
                        <a:t>Δ vs dense (95% CI)</a:t>
                      </a:r>
                      <a:endParaRPr lang="en-US" sz="11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BFD2EE"/>
                    </a:solidFill>
                  </a:tcPr>
                </a:tc>
              </a:tr>
              <a:tr h="292608">
                <a:tc>
                  <a:txBody>
                    <a:bodyPr/>
                    <a:lstStyle/>
                    <a:p>
                      <a:pPr algn="l" indent="0" marL="0">
                        <a:buNone/>
                      </a:pPr>
                      <a:r>
                        <a:rPr lang="en-US" sz="1100" dirty="0">
                          <a:solidFill>
                            <a:srgbClr val="D8E0EE"/>
                          </a:solidFill>
                          <a:latin typeface="Calibri" pitchFamily="34" charset="0"/>
                          <a:ea typeface="Calibri" pitchFamily="34" charset="-122"/>
                          <a:cs typeface="Calibri" pitchFamily="34" charset="-120"/>
                        </a:rPr>
                        <a:t>dense only</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dirty="0">
                          <a:solidFill>
                            <a:srgbClr val="D8E0EE"/>
                          </a:solidFill>
                          <a:latin typeface="Calibri" pitchFamily="34" charset="0"/>
                          <a:ea typeface="Calibri" pitchFamily="34" charset="-122"/>
                          <a:cs typeface="Calibri" pitchFamily="34" charset="-120"/>
                        </a:rPr>
                        <a:t>0.89659</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dirty="0">
                          <a:solidFill>
                            <a:srgbClr val="D8E0EE"/>
                          </a:solidFill>
                          <a:latin typeface="Calibri" pitchFamily="34" charset="0"/>
                          <a:ea typeface="Calibri" pitchFamily="34" charset="-122"/>
                          <a:cs typeface="Calibri" pitchFamily="34" charset="-120"/>
                        </a:rPr>
                        <a:t>0.87560</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dirty="0">
                          <a:solidFill>
                            <a:srgbClr val="D8E0EE"/>
                          </a:solidFill>
                          <a:latin typeface="Calibri" pitchFamily="34" charset="0"/>
                          <a:ea typeface="Calibri" pitchFamily="34" charset="-122"/>
                          <a:cs typeface="Calibri" pitchFamily="34" charset="-120"/>
                        </a:rPr>
                        <a:t>0.9613</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dirty="0">
                          <a:solidFill>
                            <a:srgbClr val="D8E0E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r>
              <a:tr h="292608">
                <a:tc>
                  <a:txBody>
                    <a:bodyPr/>
                    <a:lstStyle/>
                    <a:p>
                      <a:pPr algn="l" indent="0" marL="0">
                        <a:buNone/>
                      </a:pPr>
                      <a:r>
                        <a:rPr lang="en-US" sz="1100" dirty="0">
                          <a:solidFill>
                            <a:srgbClr val="D8E0EE"/>
                          </a:solidFill>
                          <a:latin typeface="Calibri" pitchFamily="34" charset="0"/>
                          <a:ea typeface="Calibri" pitchFamily="34" charset="-122"/>
                          <a:cs typeface="Calibri" pitchFamily="34" charset="-120"/>
                        </a:rPr>
                        <a:t>+ feature reranker</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dirty="0">
                          <a:solidFill>
                            <a:srgbClr val="D8E0EE"/>
                          </a:solidFill>
                          <a:latin typeface="Calibri" pitchFamily="34" charset="0"/>
                          <a:ea typeface="Calibri" pitchFamily="34" charset="-122"/>
                          <a:cs typeface="Calibri" pitchFamily="34" charset="-120"/>
                        </a:rPr>
                        <a:t>0.90139</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dirty="0">
                          <a:solidFill>
                            <a:srgbClr val="D8E0EE"/>
                          </a:solidFill>
                          <a:latin typeface="Calibri" pitchFamily="34" charset="0"/>
                          <a:ea typeface="Calibri" pitchFamily="34" charset="-122"/>
                          <a:cs typeface="Calibri" pitchFamily="34" charset="-120"/>
                        </a:rPr>
                        <a:t>0.87997</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dirty="0">
                          <a:solidFill>
                            <a:srgbClr val="D8E0EE"/>
                          </a:solidFill>
                          <a:latin typeface="Calibri" pitchFamily="34" charset="0"/>
                          <a:ea typeface="Calibri" pitchFamily="34" charset="-122"/>
                          <a:cs typeface="Calibri" pitchFamily="34" charset="-120"/>
                        </a:rPr>
                        <a:t>0.9613</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dirty="0">
                          <a:solidFill>
                            <a:srgbClr val="E79D86"/>
                          </a:solidFill>
                          <a:latin typeface="Calibri" pitchFamily="34" charset="0"/>
                          <a:ea typeface="Calibri" pitchFamily="34" charset="-122"/>
                          <a:cs typeface="Calibri" pitchFamily="34" charset="-120"/>
                        </a:rPr>
                        <a:t>+0.0048  [−0.0009, +0.0109]   rejected</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r>
              <a:tr h="292608">
                <a:tc>
                  <a:txBody>
                    <a:bodyPr/>
                    <a:lstStyle/>
                    <a:p>
                      <a:pPr algn="l" indent="0" marL="0">
                        <a:buNone/>
                      </a:pPr>
                      <a:r>
                        <a:rPr lang="en-US" sz="1100" dirty="0">
                          <a:solidFill>
                            <a:srgbClr val="D8E0EE"/>
                          </a:solidFill>
                          <a:latin typeface="Calibri" pitchFamily="34" charset="0"/>
                          <a:ea typeface="Calibri" pitchFamily="34" charset="-122"/>
                          <a:cs typeface="Calibri" pitchFamily="34" charset="-120"/>
                        </a:rPr>
                        <a:t>+ execution, top-10</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dirty="0">
                          <a:solidFill>
                            <a:srgbClr val="D8E0EE"/>
                          </a:solidFill>
                          <a:latin typeface="Calibri" pitchFamily="34" charset="0"/>
                          <a:ea typeface="Calibri" pitchFamily="34" charset="-122"/>
                          <a:cs typeface="Calibri" pitchFamily="34" charset="-120"/>
                        </a:rPr>
                        <a:t>0.94061</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dirty="0">
                          <a:solidFill>
                            <a:srgbClr val="D8E0EE"/>
                          </a:solidFill>
                          <a:latin typeface="Calibri" pitchFamily="34" charset="0"/>
                          <a:ea typeface="Calibri" pitchFamily="34" charset="-122"/>
                          <a:cs typeface="Calibri" pitchFamily="34" charset="-120"/>
                        </a:rPr>
                        <a:t>0.93382</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dirty="0">
                          <a:solidFill>
                            <a:srgbClr val="D8E0EE"/>
                          </a:solidFill>
                          <a:latin typeface="Calibri" pitchFamily="34" charset="0"/>
                          <a:ea typeface="Calibri" pitchFamily="34" charset="-122"/>
                          <a:cs typeface="Calibri" pitchFamily="34" charset="-120"/>
                        </a:rPr>
                        <a:t>0.9613</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dirty="0">
                          <a:solidFill>
                            <a:srgbClr val="D8E0EE"/>
                          </a:solidFill>
                          <a:latin typeface="Calibri" pitchFamily="34" charset="0"/>
                          <a:ea typeface="Calibri" pitchFamily="34" charset="-122"/>
                          <a:cs typeface="Calibri" pitchFamily="34" charset="-120"/>
                        </a:rPr>
                        <a:t>+0.0440  [+0.0342, +0.0532]</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r>
              <a:tr h="29260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 execution, top-20</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0.95486</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0.94730</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0.9777</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100" b="1" dirty="0">
                          <a:solidFill>
                            <a:srgbClr val="5FD9C2"/>
                          </a:solidFill>
                          <a:latin typeface="Calibri" pitchFamily="34" charset="0"/>
                          <a:ea typeface="Calibri" pitchFamily="34" charset="-122"/>
                          <a:cs typeface="Calibri" pitchFamily="34" charset="-120"/>
                        </a:rPr>
                        <a:t>+0.0583  [+0.0457, +0.0702]</a:t>
                      </a:r>
                      <a:endParaRPr lang="en-US" sz="110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r>
            </a:tbl>
          </a:graphicData>
        </a:graphic>
      </p:graphicFrame>
      <p:sp>
        <p:nvSpPr>
          <p:cNvPr id="6" name="Text 3"/>
          <p:cNvSpPr txBox="1"/>
          <p:nvPr/>
        </p:nvSpPr>
        <p:spPr>
          <a:xfrm>
            <a:off x="566928" y="3584448"/>
            <a:ext cx="6949440" cy="274320"/>
          </a:xfrm>
          <a:prstGeom prst="rect">
            <a:avLst/>
          </a:prstGeom>
          <a:noFill/>
          <a:ln/>
        </p:spPr>
        <p:txBody>
          <a:bodyPr wrap="square" lIns="0" tIns="0" rIns="0" bIns="0" rtlCol="0" anchor="t"/>
          <a:lstStyle/>
          <a:p>
            <a:pPr algn="l" indent="0" marL="0">
              <a:lnSpc>
                <a:spcPct val="112000"/>
              </a:lnSpc>
              <a:buNone/>
            </a:pPr>
            <a:r>
              <a:rPr lang="en-US" sz="1250" dirty="0">
                <a:solidFill>
                  <a:srgbClr val="BFD2EE"/>
                </a:solidFill>
                <a:latin typeface="Calibri" pitchFamily="34" charset="0"/>
                <a:ea typeface="Calibri" pitchFamily="34" charset="-122"/>
                <a:cs typeface="Calibri" pitchFamily="34" charset="-120"/>
              </a:rPr>
              <a:t>Test split — 3,765 queries, scored by mteb.evaluate 2.21.0.</a:t>
            </a:r>
            <a:endParaRPr lang="en-US" sz="125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66928" y="3913632"/>
          <a:ext cx="7818120" cy="914400"/>
        </p:xfrm>
        <a:graphic>
          <a:graphicData uri="http://schemas.openxmlformats.org/drawingml/2006/table">
            <a:tbl>
              <a:tblPr/>
              <a:tblGrid>
                <a:gridCol w="2743200"/>
                <a:gridCol w="1325880"/>
                <a:gridCol w="1325880"/>
                <a:gridCol w="1234440"/>
                <a:gridCol w="1188720"/>
              </a:tblGrid>
              <a:tr h="274320">
                <a:tc>
                  <a:txBody>
                    <a:bodyPr/>
                    <a:lstStyle/>
                    <a:p>
                      <a:pPr algn="l" indent="0" marL="0">
                        <a:buNone/>
                      </a:pPr>
                      <a:r>
                        <a:rPr lang="en-US" sz="1150" b="1" dirty="0">
                          <a:solidFill>
                            <a:srgbClr val="111A2E"/>
                          </a:solidFill>
                          <a:latin typeface="Calibri" pitchFamily="34" charset="0"/>
                          <a:ea typeface="Calibri" pitchFamily="34" charset="-122"/>
                          <a:cs typeface="Calibri" pitchFamily="34" charset="-120"/>
                        </a:rPr>
                        <a:t>test-split stage</a:t>
                      </a:r>
                      <a:endParaRPr lang="en-US" sz="11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BFD2EE"/>
                    </a:solidFill>
                  </a:tcPr>
                </a:tc>
                <a:tc>
                  <a:txBody>
                    <a:bodyPr/>
                    <a:lstStyle/>
                    <a:p>
                      <a:pPr algn="l" indent="0" marL="0">
                        <a:buNone/>
                      </a:pPr>
                      <a:r>
                        <a:rPr lang="en-US" sz="1150" b="1" dirty="0">
                          <a:solidFill>
                            <a:srgbClr val="111A2E"/>
                          </a:solidFill>
                          <a:latin typeface="Calibri" pitchFamily="34" charset="0"/>
                          <a:ea typeface="Calibri" pitchFamily="34" charset="-122"/>
                          <a:cs typeface="Calibri" pitchFamily="34" charset="-120"/>
                        </a:rPr>
                        <a:t>NDCG@10</a:t>
                      </a:r>
                      <a:endParaRPr lang="en-US" sz="11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BFD2EE"/>
                    </a:solidFill>
                  </a:tcPr>
                </a:tc>
                <a:tc>
                  <a:txBody>
                    <a:bodyPr/>
                    <a:lstStyle/>
                    <a:p>
                      <a:pPr algn="l" indent="0" marL="0">
                        <a:buNone/>
                      </a:pPr>
                      <a:r>
                        <a:rPr lang="en-US" sz="1150" b="1" dirty="0">
                          <a:solidFill>
                            <a:srgbClr val="111A2E"/>
                          </a:solidFill>
                          <a:latin typeface="Calibri" pitchFamily="34" charset="0"/>
                          <a:ea typeface="Calibri" pitchFamily="34" charset="-122"/>
                          <a:cs typeface="Calibri" pitchFamily="34" charset="-120"/>
                        </a:rPr>
                        <a:t>MRR@10</a:t>
                      </a:r>
                      <a:endParaRPr lang="en-US" sz="11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BFD2EE"/>
                    </a:solidFill>
                  </a:tcPr>
                </a:tc>
                <a:tc>
                  <a:txBody>
                    <a:bodyPr/>
                    <a:lstStyle/>
                    <a:p>
                      <a:pPr algn="l" indent="0" marL="0">
                        <a:buNone/>
                      </a:pPr>
                      <a:r>
                        <a:rPr lang="en-US" sz="1150" b="1" dirty="0">
                          <a:solidFill>
                            <a:srgbClr val="111A2E"/>
                          </a:solidFill>
                          <a:latin typeface="Calibri" pitchFamily="34" charset="0"/>
                          <a:ea typeface="Calibri" pitchFamily="34" charset="-122"/>
                          <a:cs typeface="Calibri" pitchFamily="34" charset="-120"/>
                        </a:rPr>
                        <a:t>R@10</a:t>
                      </a:r>
                      <a:endParaRPr lang="en-US" sz="11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BFD2EE"/>
                    </a:solidFill>
                  </a:tcPr>
                </a:tc>
                <a:tc>
                  <a:txBody>
                    <a:bodyPr/>
                    <a:lstStyle/>
                    <a:p>
                      <a:pPr algn="l" indent="0" marL="0">
                        <a:buNone/>
                      </a:pPr>
                      <a:r>
                        <a:rPr lang="en-US" sz="1150" b="1" dirty="0">
                          <a:solidFill>
                            <a:srgbClr val="111A2E"/>
                          </a:solidFill>
                          <a:latin typeface="Calibri" pitchFamily="34" charset="0"/>
                          <a:ea typeface="Calibri" pitchFamily="34" charset="-122"/>
                          <a:cs typeface="Calibri" pitchFamily="34" charset="-120"/>
                        </a:rPr>
                        <a:t>sandbox</a:t>
                      </a:r>
                      <a:endParaRPr lang="en-US" sz="11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BFD2EE"/>
                    </a:solidFill>
                  </a:tcPr>
                </a:tc>
              </a:tr>
              <a:tr h="274320">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dense only, F2LLM-v2-1.7B</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0.93756</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0.92370</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0.97955</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r>
              <a:tr h="274320">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 execution, top-10</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0.96085</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0.95449</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0.97955</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5,839 s</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r>
              <a:tr h="274320">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 top-20, exact compare</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0.96543</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0.95837</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0.98619</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10,686 s</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r>
              <a:tr h="27432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 numeric compare (shipped)</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b="1" dirty="0">
                          <a:solidFill>
                            <a:srgbClr val="5FD9C2"/>
                          </a:solidFill>
                          <a:latin typeface="Calibri" pitchFamily="34" charset="0"/>
                          <a:ea typeface="Calibri" pitchFamily="34" charset="-122"/>
                          <a:cs typeface="Calibri" pitchFamily="34" charset="-120"/>
                        </a:rPr>
                        <a:t>0.96558</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0.95857</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0.98619</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c>
                  <a:txBody>
                    <a:bodyPr/>
                    <a:lstStyle/>
                    <a:p>
                      <a:pPr algn="l" indent="0" marL="0">
                        <a:buNone/>
                      </a:pPr>
                      <a:r>
                        <a:rPr lang="en-US" sz="1050" dirty="0">
                          <a:solidFill>
                            <a:srgbClr val="D8E0EE"/>
                          </a:solidFill>
                          <a:latin typeface="Calibri" pitchFamily="34" charset="0"/>
                          <a:ea typeface="Calibri" pitchFamily="34" charset="-122"/>
                          <a:cs typeface="Calibri" pitchFamily="34" charset="-120"/>
                        </a:rPr>
                        <a:t>11,920 s</a:t>
                      </a:r>
                      <a:endParaRPr lang="en-US" sz="1050" dirty="0">
                        <a:latin typeface="Calibri" charset="0"/>
                        <a:ea typeface="Calibri" charset="0"/>
                        <a:cs typeface="Calibri" charset="0"/>
                      </a:endParaRPr>
                    </a:p>
                  </a:txBody>
                  <a:tcPr marL="64008" marR="64008" marT="64008" marB="64008" anchor="ctr">
                    <a:lnL w="6350" cap="flat" cmpd="sng" algn="ctr">
                      <a:solidFill>
                        <a:srgbClr val="2E3E63"/>
                      </a:solidFill>
                      <a:prstDash val="solid"/>
                      <a:round/>
                      <a:headEnd type="none" w="med" len="med"/>
                      <a:tailEnd type="none" w="med" len="med"/>
                    </a:lnL>
                    <a:lnR w="6350" cap="flat" cmpd="sng" algn="ctr">
                      <a:solidFill>
                        <a:srgbClr val="2E3E63"/>
                      </a:solidFill>
                      <a:prstDash val="solid"/>
                      <a:round/>
                      <a:headEnd type="none" w="med" len="med"/>
                      <a:tailEnd type="none" w="med" len="med"/>
                    </a:lnR>
                    <a:lnT w="6350" cap="flat" cmpd="sng" algn="ctr">
                      <a:solidFill>
                        <a:srgbClr val="2E3E63"/>
                      </a:solidFill>
                      <a:prstDash val="solid"/>
                      <a:round/>
                      <a:headEnd type="none" w="med" len="med"/>
                      <a:tailEnd type="none" w="med" len="med"/>
                    </a:lnT>
                    <a:lnB w="6350" cap="flat" cmpd="sng" algn="ctr">
                      <a:solidFill>
                        <a:srgbClr val="2E3E63"/>
                      </a:solidFill>
                      <a:prstDash val="solid"/>
                      <a:round/>
                      <a:headEnd type="none" w="med" len="med"/>
                      <a:tailEnd type="none" w="med" len="med"/>
                    </a:lnB>
                    <a:solidFill>
                      <a:srgbClr val="1C2949"/>
                    </a:solidFill>
                  </a:tcPr>
                </a:tc>
              </a:tr>
            </a:tbl>
          </a:graphicData>
        </a:graphic>
      </p:graphicFrame>
      <p:sp>
        <p:nvSpPr>
          <p:cNvPr id="8" name="Shape 4"/>
          <p:cNvSpPr/>
          <p:nvPr/>
        </p:nvSpPr>
        <p:spPr>
          <a:xfrm>
            <a:off x="8659368" y="3584448"/>
            <a:ext cx="2935224" cy="1773936"/>
          </a:xfrm>
          <a:prstGeom prst="roundRect">
            <a:avLst>
              <a:gd name="adj" fmla="val 3608"/>
            </a:avLst>
          </a:prstGeom>
          <a:solidFill>
            <a:srgbClr val="1C2949"/>
          </a:solidFill>
          <a:ln/>
        </p:spPr>
      </p:sp>
      <p:sp>
        <p:nvSpPr>
          <p:cNvPr id="9" name="Text 5"/>
          <p:cNvSpPr txBox="1"/>
          <p:nvPr/>
        </p:nvSpPr>
        <p:spPr>
          <a:xfrm>
            <a:off x="8887968" y="3749040"/>
            <a:ext cx="3017520" cy="274320"/>
          </a:xfrm>
          <a:prstGeom prst="rect">
            <a:avLst/>
          </a:prstGeom>
          <a:noFill/>
          <a:ln/>
        </p:spPr>
        <p:txBody>
          <a:bodyPr wrap="square" lIns="0" tIns="0" rIns="0" bIns="0" rtlCol="0" anchor="t"/>
          <a:lstStyle/>
          <a:p>
            <a:pPr algn="l" indent="0" marL="0">
              <a:lnSpc>
                <a:spcPct val="112000"/>
              </a:lnSpc>
              <a:buNone/>
            </a:pPr>
            <a:r>
              <a:rPr lang="en-US" sz="1250" b="1" dirty="0">
                <a:solidFill>
                  <a:srgbClr val="E79D86"/>
                </a:solidFill>
                <a:latin typeface="Calibri" pitchFamily="34" charset="0"/>
                <a:ea typeface="Calibri" pitchFamily="34" charset="-122"/>
                <a:cs typeface="Calibri" pitchFamily="34" charset="-120"/>
              </a:rPr>
              <a:t>Say the negative result out loud</a:t>
            </a:r>
            <a:endParaRPr lang="en-US" sz="1250" dirty="0"/>
          </a:p>
        </p:txBody>
      </p:sp>
      <p:sp>
        <p:nvSpPr>
          <p:cNvPr id="10" name="Text 6"/>
          <p:cNvSpPr txBox="1"/>
          <p:nvPr/>
        </p:nvSpPr>
        <p:spPr>
          <a:xfrm>
            <a:off x="8887968" y="4041648"/>
            <a:ext cx="2478024" cy="1234440"/>
          </a:xfrm>
          <a:prstGeom prst="rect">
            <a:avLst/>
          </a:prstGeom>
          <a:noFill/>
          <a:ln/>
        </p:spPr>
        <p:txBody>
          <a:bodyPr wrap="square" lIns="0" tIns="0" rIns="0" bIns="0" rtlCol="0" anchor="t"/>
          <a:lstStyle/>
          <a:p>
            <a:pPr algn="l" indent="0" marL="0">
              <a:lnSpc>
                <a:spcPct val="112000"/>
              </a:lnSpc>
              <a:buNone/>
            </a:pPr>
            <a:r>
              <a:rPr lang="en-US" sz="1050" dirty="0">
                <a:solidFill>
                  <a:srgbClr val="C3CEE2"/>
                </a:solidFill>
                <a:latin typeface="Calibri" pitchFamily="34" charset="0"/>
                <a:ea typeface="Calibri" pitchFamily="34" charset="-122"/>
                <a:cs typeface="Calibri" pitchFamily="34" charset="-120"/>
              </a:rPr>
              <a:t>Our own nine-feature reranker did not clear its own gate. Against a weak encoder it is worth +0.037; against F2LLM-v2-1.7B, +0.0048 with a CI spanning zero. The tuner shipped the identity config and recorded why. Fusion (+0.0038, p = 0.164) and PRF were rejected the same way.</a:t>
            </a:r>
            <a:endParaRPr lang="en-US" sz="1050" dirty="0"/>
          </a:p>
        </p:txBody>
      </p:sp>
      <p:sp>
        <p:nvSpPr>
          <p:cNvPr id="11" name="Text 7"/>
          <p:cNvSpPr txBox="1"/>
          <p:nvPr/>
        </p:nvSpPr>
        <p:spPr>
          <a:xfrm>
            <a:off x="566928" y="5504688"/>
            <a:ext cx="384048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The last step is not claimed as a gain.</a:t>
            </a:r>
            <a:endParaRPr lang="en-US" sz="1250" dirty="0"/>
          </a:p>
        </p:txBody>
      </p:sp>
      <p:sp>
        <p:nvSpPr>
          <p:cNvPr id="12" name="Text 8"/>
          <p:cNvSpPr txBox="1"/>
          <p:nvPr/>
        </p:nvSpPr>
        <p:spPr>
          <a:xfrm>
            <a:off x="566928" y="5760720"/>
            <a:ext cx="11027664" cy="566928"/>
          </a:xfrm>
          <a:prstGeom prst="rect">
            <a:avLst/>
          </a:prstGeom>
          <a:noFill/>
          <a:ln/>
        </p:spPr>
        <p:txBody>
          <a:bodyPr wrap="square" lIns="0" tIns="0" rIns="0" bIns="0" rtlCol="0" anchor="t"/>
          <a:lstStyle/>
          <a:p>
            <a:pPr algn="l" indent="0" marL="0">
              <a:lnSpc>
                <a:spcPct val="112000"/>
              </a:lnSpc>
              <a:buNone/>
            </a:pPr>
            <a:r>
              <a:rPr lang="en-US" sz="1050" dirty="0">
                <a:solidFill>
                  <a:srgbClr val="A9B7D0"/>
                </a:solidFill>
                <a:latin typeface="Calibri" pitchFamily="34" charset="0"/>
                <a:ea typeface="Calibri" pitchFamily="34" charset="-122"/>
                <a:cs typeface="Calibri" pitchFamily="34" charset="-120"/>
              </a:rPr>
              <a:t>Numeric comparison is +0.00015 over exact — 95% CI [−0.00046, +0.00081], p = 0.630, four queries better and three worse. It ships as the higher measured value under a more correct rule, not because the score moved. On held-out DEV the same change was +0.00468 with an interval excluding zero; it did not transfer, because after execution the test split has almost no headroom left. Depth 20 over depth 10 was the real step: 25 golds recovered from ranks 11–20 against 13 lost to false verification, +8 rank-1 hits.</a:t>
            </a:r>
            <a:endParaRPr lang="en-US" sz="1050" dirty="0"/>
          </a:p>
        </p:txBody>
      </p:sp>
      <p:sp>
        <p:nvSpPr>
          <p:cNvPr id="13" name="Text 9"/>
          <p:cNvSpPr txBox="1"/>
          <p:nvPr/>
        </p:nvSpPr>
        <p:spPr>
          <a:xfrm>
            <a:off x="566928" y="6327648"/>
            <a:ext cx="10479024" cy="274320"/>
          </a:xfrm>
          <a:prstGeom prst="rect">
            <a:avLst/>
          </a:prstGeom>
          <a:noFill/>
          <a:ln/>
        </p:spPr>
        <p:txBody>
          <a:bodyPr wrap="square" lIns="0" tIns="0" rIns="0" bIns="0" rtlCol="0" anchor="ctr"/>
          <a:lstStyle/>
          <a:p>
            <a:pPr indent="0" marL="0">
              <a:buNone/>
            </a:pPr>
            <a:r>
              <a:rPr lang="en-US" sz="900" dirty="0">
                <a:solidFill>
                  <a:srgbClr val="5E6C88"/>
                </a:solidFill>
                <a:latin typeface="Calibri" pitchFamily="34" charset="0"/>
                <a:ea typeface="Calibri" pitchFamily="34" charset="-122"/>
                <a:cs typeface="Calibri" pitchFamily="34" charset="-120"/>
              </a:rPr>
              <a:t>CodeDoctor  ·  Samsung PRISM GenAI Hackathon 2026  ·  Theme 01</a:t>
            </a:r>
            <a:endParaRPr lang="en-US" sz="900" dirty="0"/>
          </a:p>
        </p:txBody>
      </p:sp>
      <p:sp>
        <p:nvSpPr>
          <p:cNvPr id="14" name="Text 10"/>
          <p:cNvSpPr txBox="1"/>
          <p:nvPr/>
        </p:nvSpPr>
        <p:spPr>
          <a:xfrm>
            <a:off x="11045952" y="6327648"/>
            <a:ext cx="548640" cy="274320"/>
          </a:xfrm>
          <a:prstGeom prst="rect">
            <a:avLst/>
          </a:prstGeom>
          <a:noFill/>
          <a:ln/>
        </p:spPr>
        <p:txBody>
          <a:bodyPr wrap="square" lIns="0" tIns="0" rIns="0" bIns="0" rtlCol="0" anchor="ctr"/>
          <a:lstStyle/>
          <a:p>
            <a:pPr algn="r" indent="0" marL="0">
              <a:buNone/>
            </a:pPr>
            <a:r>
              <a:rPr lang="en-US" sz="900" dirty="0">
                <a:solidFill>
                  <a:srgbClr val="5E6C8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27664" cy="237744"/>
          </a:xfrm>
          <a:prstGeom prst="rect">
            <a:avLst/>
          </a:prstGeom>
          <a:noFill/>
          <a:ln/>
        </p:spPr>
        <p:txBody>
          <a:bodyPr wrap="square" lIns="0" tIns="0" rIns="0" bIns="0" rtlCol="0" anchor="ctr"/>
          <a:lstStyle/>
          <a:p>
            <a:pPr indent="0" marL="0">
              <a:buNone/>
            </a:pPr>
            <a:r>
              <a:rPr lang="en-US" sz="1100" b="1" spc="160" kern="0" dirty="0">
                <a:solidFill>
                  <a:srgbClr val="0F9B82"/>
                </a:solidFill>
                <a:latin typeface="Calibri" pitchFamily="34" charset="0"/>
                <a:ea typeface="Calibri" pitchFamily="34" charset="-122"/>
                <a:cs typeface="Calibri" pitchFamily="34" charset="-120"/>
              </a:rPr>
              <a:t>SPEED</a:t>
            </a:r>
            <a:endParaRPr lang="en-US" sz="1100" dirty="0"/>
          </a:p>
        </p:txBody>
      </p:sp>
      <p:sp>
        <p:nvSpPr>
          <p:cNvPr id="3" name="Text 1"/>
          <p:cNvSpPr txBox="1"/>
          <p:nvPr/>
        </p:nvSpPr>
        <p:spPr>
          <a:xfrm>
            <a:off x="566928" y="566928"/>
            <a:ext cx="11027664" cy="731520"/>
          </a:xfrm>
          <a:prstGeom prst="rect">
            <a:avLst/>
          </a:prstGeom>
          <a:noFill/>
          <a:ln/>
        </p:spPr>
        <p:txBody>
          <a:bodyPr wrap="square" lIns="0" tIns="0" rIns="0" bIns="0" rtlCol="0" anchor="ctr"/>
          <a:lstStyle/>
          <a:p>
            <a:pPr indent="0" marL="0">
              <a:buNone/>
            </a:pPr>
            <a:r>
              <a:rPr lang="en-US" sz="3400" b="1" dirty="0">
                <a:solidFill>
                  <a:srgbClr val="22304F"/>
                </a:solidFill>
                <a:latin typeface="Calibri" pitchFamily="34" charset="0"/>
                <a:ea typeface="Calibri" pitchFamily="34" charset="-122"/>
                <a:cs typeface="Calibri" pitchFamily="34" charset="-120"/>
              </a:rPr>
              <a:t>Under a second, on a deliberately bad laptop</a:t>
            </a:r>
            <a:endParaRPr lang="en-US" sz="3400" dirty="0"/>
          </a:p>
        </p:txBody>
      </p:sp>
      <p:sp>
        <p:nvSpPr>
          <p:cNvPr id="4" name="Text 2"/>
          <p:cNvSpPr txBox="1"/>
          <p:nvPr/>
        </p:nvSpPr>
        <p:spPr>
          <a:xfrm>
            <a:off x="566928" y="1463040"/>
            <a:ext cx="11027664" cy="292608"/>
          </a:xfrm>
          <a:prstGeom prst="rect">
            <a:avLst/>
          </a:prstGeom>
          <a:noFill/>
          <a:ln/>
        </p:spPr>
        <p:txBody>
          <a:bodyPr wrap="square" lIns="0" tIns="0" rIns="0" bIns="0" rtlCol="0" anchor="t"/>
          <a:lstStyle/>
          <a:p>
            <a:pPr algn="l" indent="0" marL="0">
              <a:lnSpc>
                <a:spcPct val="112000"/>
              </a:lnSpc>
              <a:buNone/>
            </a:pPr>
            <a:r>
              <a:rPr lang="en-US" sz="1300" dirty="0">
                <a:solidFill>
                  <a:srgbClr val="22304F"/>
                </a:solidFill>
                <a:latin typeface="Calibri" pitchFamily="34" charset="0"/>
                <a:ea typeface="Calibri" pitchFamily="34" charset="-122"/>
                <a:cs typeface="Calibri" pitchFamily="34" charset="-120"/>
              </a:rPr>
              <a:t>Measured end to end on a 6-core i5-11260H with 7.7 GB RAM, and reported as measured.</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27664" cy="914400"/>
        </p:xfrm>
        <a:graphic>
          <a:graphicData uri="http://schemas.openxmlformats.org/drawingml/2006/table">
            <a:tbl>
              <a:tblPr/>
              <a:tblGrid>
                <a:gridCol w="3931920"/>
                <a:gridCol w="1828800"/>
                <a:gridCol w="5285232"/>
              </a:tblGrid>
              <a:tr h="32918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operation</a:t>
                      </a:r>
                      <a:endParaRPr lang="en-US" sz="115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22304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cost</a:t>
                      </a:r>
                      <a:endParaRPr lang="en-US" sz="115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22304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note</a:t>
                      </a:r>
                      <a:endParaRPr lang="en-US" sz="115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22304F"/>
                    </a:solidFill>
                  </a:tcPr>
                </a:tc>
              </a:tr>
              <a:tr h="329184">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query classification</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1.2 ms</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pure regex</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query encode (0.6B, CPU)</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924 ms</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dominates; this box is RAM-starved</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dense search over 8,765 snippets</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21 ms</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one numpy matmul</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feature rerank of top 50</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0 ms</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identity config — it did not ship</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22304F"/>
                          </a:solidFill>
                          <a:latin typeface="Calibri" pitchFamily="34" charset="0"/>
                          <a:ea typeface="Calibri" pitchFamily="34" charset="-122"/>
                          <a:cs typeface="Calibri" pitchFamily="34" charset="-120"/>
                        </a:rPr>
                        <a:t>free-text query, total</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0F9B82"/>
                          </a:solidFill>
                          <a:latin typeface="Calibri" pitchFamily="34" charset="0"/>
                          <a:ea typeface="Calibri" pitchFamily="34" charset="-122"/>
                          <a:cs typeface="Calibri" pitchFamily="34" charset="-120"/>
                        </a:rPr>
                        <a:t>947 ms</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no worked examples, so no execution</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execution verification (top 10)</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+361 ms</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only fires on statements with examples</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22304F"/>
                          </a:solidFill>
                          <a:latin typeface="Calibri" pitchFamily="34" charset="0"/>
                          <a:ea typeface="Calibri" pitchFamily="34" charset="-122"/>
                          <a:cs typeface="Calibri" pitchFamily="34" charset="-120"/>
                        </a:rPr>
                        <a:t>dataset query, total</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0F9B82"/>
                          </a:solidFill>
                          <a:latin typeface="Calibri" pitchFamily="34" charset="0"/>
                          <a:ea typeface="Calibri" pitchFamily="34" charset="-122"/>
                          <a:cs typeface="Calibri" pitchFamily="34" charset="-120"/>
                        </a:rPr>
                        <a:t>2,077 ms</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corpus encode, 17,530 texts</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12 / 24 min</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9435A"/>
                          </a:solidFill>
                          <a:latin typeface="Calibri" pitchFamily="34" charset="0"/>
                          <a:ea typeface="Calibri" pitchFamily="34" charset="-122"/>
                          <a:cs typeface="Calibri" pitchFamily="34" charset="-120"/>
                        </a:rPr>
                        <a:t>one-time, on one T4 (0.6B / 1.7B)</a:t>
                      </a:r>
                      <a:endParaRPr lang="en-US" sz="1200" dirty="0">
                        <a:latin typeface="Calibri" charset="0"/>
                        <a:ea typeface="Calibri" charset="0"/>
                        <a:cs typeface="Calibri" charset="0"/>
                      </a:endParaRPr>
                    </a:p>
                  </a:txBody>
                  <a:tcPr marL="64008" marR="64008" marT="64008" marB="64008" anchor="ctr">
                    <a:lnL w="6350" cap="flat" cmpd="sng" algn="ctr">
                      <a:solidFill>
                        <a:srgbClr val="D7DEE9"/>
                      </a:solidFill>
                      <a:prstDash val="solid"/>
                      <a:round/>
                      <a:headEnd type="none" w="med" len="med"/>
                      <a:tailEnd type="none" w="med" len="med"/>
                    </a:lnL>
                    <a:lnR w="6350" cap="flat" cmpd="sng" algn="ctr">
                      <a:solidFill>
                        <a:srgbClr val="D7DEE9"/>
                      </a:solidFill>
                      <a:prstDash val="solid"/>
                      <a:round/>
                      <a:headEnd type="none" w="med" len="med"/>
                      <a:tailEnd type="none" w="med" len="med"/>
                    </a:lnR>
                    <a:lnT w="6350" cap="flat" cmpd="sng" algn="ctr">
                      <a:solidFill>
                        <a:srgbClr val="D7DEE9"/>
                      </a:solidFill>
                      <a:prstDash val="solid"/>
                      <a:round/>
                      <a:headEnd type="none" w="med" len="med"/>
                      <a:tailEnd type="none" w="med" len="med"/>
                    </a:lnT>
                    <a:lnB w="6350" cap="flat" cmpd="sng" algn="ctr">
                      <a:solidFill>
                        <a:srgbClr val="D7DEE9"/>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074920"/>
            <a:ext cx="5486400" cy="1051560"/>
          </a:xfrm>
          <a:prstGeom prst="roundRect">
            <a:avLst>
              <a:gd name="adj" fmla="val 6087"/>
            </a:avLst>
          </a:prstGeom>
          <a:solidFill>
            <a:srgbClr val="EEF2F8"/>
          </a:solidFill>
          <a:ln/>
        </p:spPr>
      </p:sp>
      <p:sp>
        <p:nvSpPr>
          <p:cNvPr id="7" name="Text 4"/>
          <p:cNvSpPr txBox="1"/>
          <p:nvPr/>
        </p:nvSpPr>
        <p:spPr>
          <a:xfrm>
            <a:off x="822960" y="5239512"/>
            <a:ext cx="4937760" cy="274320"/>
          </a:xfrm>
          <a:prstGeom prst="rect">
            <a:avLst/>
          </a:prstGeom>
          <a:noFill/>
          <a:ln/>
        </p:spPr>
        <p:txBody>
          <a:bodyPr wrap="square" lIns="0" tIns="0" rIns="0" bIns="0" rtlCol="0" anchor="t"/>
          <a:lstStyle/>
          <a:p>
            <a:pPr algn="l" indent="0" marL="0">
              <a:lnSpc>
                <a:spcPct val="112000"/>
              </a:lnSpc>
              <a:buNone/>
            </a:pPr>
            <a:r>
              <a:rPr lang="en-US" sz="1350" b="1" dirty="0">
                <a:solidFill>
                  <a:srgbClr val="22304F"/>
                </a:solidFill>
                <a:latin typeface="Calibri" pitchFamily="34" charset="0"/>
                <a:ea typeface="Calibri" pitchFamily="34" charset="-122"/>
                <a:cs typeface="Calibri" pitchFamily="34" charset="-120"/>
              </a:rPr>
              <a:t>The index is built once</a:t>
            </a:r>
            <a:endParaRPr lang="en-US" sz="1350" dirty="0"/>
          </a:p>
        </p:txBody>
      </p:sp>
      <p:sp>
        <p:nvSpPr>
          <p:cNvPr id="8" name="Text 5"/>
          <p:cNvSpPr txBox="1"/>
          <p:nvPr/>
        </p:nvSpPr>
        <p:spPr>
          <a:xfrm>
            <a:off x="822960" y="5532120"/>
            <a:ext cx="4983480" cy="54864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Only the query is encoded at query time — which is why a query answers in under a second against 8,765 snippets on a laptop. It is the same code path the service runs.</a:t>
            </a:r>
            <a:endParaRPr lang="en-US" sz="1200" dirty="0"/>
          </a:p>
        </p:txBody>
      </p:sp>
      <p:sp>
        <p:nvSpPr>
          <p:cNvPr id="9" name="Shape 6"/>
          <p:cNvSpPr/>
          <p:nvPr/>
        </p:nvSpPr>
        <p:spPr>
          <a:xfrm>
            <a:off x="6309360" y="5074920"/>
            <a:ext cx="5285232" cy="1051560"/>
          </a:xfrm>
          <a:prstGeom prst="roundRect">
            <a:avLst>
              <a:gd name="adj" fmla="val 6087"/>
            </a:avLst>
          </a:prstGeom>
          <a:solidFill>
            <a:srgbClr val="EEF2F8"/>
          </a:solidFill>
          <a:ln/>
        </p:spPr>
      </p:sp>
      <p:sp>
        <p:nvSpPr>
          <p:cNvPr id="10" name="Text 7"/>
          <p:cNvSpPr txBox="1"/>
          <p:nvPr/>
        </p:nvSpPr>
        <p:spPr>
          <a:xfrm>
            <a:off x="6565392" y="5239512"/>
            <a:ext cx="4937760" cy="274320"/>
          </a:xfrm>
          <a:prstGeom prst="rect">
            <a:avLst/>
          </a:prstGeom>
          <a:noFill/>
          <a:ln/>
        </p:spPr>
        <p:txBody>
          <a:bodyPr wrap="square" lIns="0" tIns="0" rIns="0" bIns="0" rtlCol="0" anchor="t"/>
          <a:lstStyle/>
          <a:p>
            <a:pPr algn="l" indent="0" marL="0">
              <a:lnSpc>
                <a:spcPct val="112000"/>
              </a:lnSpc>
              <a:buNone/>
            </a:pPr>
            <a:r>
              <a:rPr lang="en-US" sz="1350" b="1" dirty="0">
                <a:solidFill>
                  <a:srgbClr val="22304F"/>
                </a:solidFill>
                <a:latin typeface="Calibri" pitchFamily="34" charset="0"/>
                <a:ea typeface="Calibri" pitchFamily="34" charset="-122"/>
                <a:cs typeface="Calibri" pitchFamily="34" charset="-120"/>
              </a:rPr>
              <a:t>Two tiers, one recipe</a:t>
            </a:r>
            <a:endParaRPr lang="en-US" sz="1350" dirty="0"/>
          </a:p>
        </p:txBody>
      </p:sp>
      <p:sp>
        <p:nvSpPr>
          <p:cNvPr id="11" name="Text 8"/>
          <p:cNvSpPr txBox="1"/>
          <p:nvPr/>
        </p:nvSpPr>
        <p:spPr>
          <a:xfrm>
            <a:off x="6565392" y="5532120"/>
            <a:ext cx="4773168" cy="548640"/>
          </a:xfrm>
          <a:prstGeom prst="rect">
            <a:avLst/>
          </a:prstGeom>
          <a:noFill/>
          <a:ln/>
        </p:spPr>
        <p:txBody>
          <a:bodyPr wrap="square" lIns="0" tIns="0" rIns="0" bIns="0" rtlCol="0" anchor="t"/>
          <a:lstStyle/>
          <a:p>
            <a:pPr algn="l" indent="0" marL="0">
              <a:lnSpc>
                <a:spcPct val="112000"/>
              </a:lnSpc>
              <a:buNone/>
            </a:pPr>
            <a:r>
              <a:rPr lang="en-US" sz="1200" dirty="0">
                <a:solidFill>
                  <a:srgbClr val="39435A"/>
                </a:solidFill>
                <a:latin typeface="Calibri" pitchFamily="34" charset="0"/>
                <a:ea typeface="Calibri" pitchFamily="34" charset="-122"/>
                <a:cs typeface="Calibri" pitchFamily="34" charset="-120"/>
              </a:rPr>
              <a:t>1.7B for the screening submission, 0.6B for interactive use. A tier changes which model runs, never how it is prompted.</a:t>
            </a:r>
            <a:endParaRPr lang="en-US" sz="1200" dirty="0"/>
          </a:p>
        </p:txBody>
      </p:sp>
      <p:sp>
        <p:nvSpPr>
          <p:cNvPr id="12" name="Text 9"/>
          <p:cNvSpPr txBox="1"/>
          <p:nvPr/>
        </p:nvSpPr>
        <p:spPr>
          <a:xfrm>
            <a:off x="566928" y="6327648"/>
            <a:ext cx="10479024" cy="274320"/>
          </a:xfrm>
          <a:prstGeom prst="rect">
            <a:avLst/>
          </a:prstGeom>
          <a:noFill/>
          <a:ln/>
        </p:spPr>
        <p:txBody>
          <a:bodyPr wrap="square" lIns="0" tIns="0" rIns="0" bIns="0" rtlCol="0" anchor="ctr"/>
          <a:lstStyle/>
          <a:p>
            <a:pPr indent="0" marL="0">
              <a:buNone/>
            </a:pPr>
            <a:r>
              <a:rPr lang="en-US" sz="900" dirty="0">
                <a:solidFill>
                  <a:srgbClr val="7C879B"/>
                </a:solidFill>
                <a:latin typeface="Calibri" pitchFamily="34" charset="0"/>
                <a:ea typeface="Calibri" pitchFamily="34" charset="-122"/>
                <a:cs typeface="Calibri" pitchFamily="34" charset="-120"/>
              </a:rPr>
              <a:t>CodeDoctor  ·  Samsung PRISM GenAI Hackathon 2026  ·  Theme 01</a:t>
            </a:r>
            <a:endParaRPr lang="en-US" sz="900" dirty="0"/>
          </a:p>
        </p:txBody>
      </p:sp>
      <p:sp>
        <p:nvSpPr>
          <p:cNvPr id="13" name="Text 10"/>
          <p:cNvSpPr txBox="1"/>
          <p:nvPr/>
        </p:nvSpPr>
        <p:spPr>
          <a:xfrm>
            <a:off x="11045952" y="6327648"/>
            <a:ext cx="548640" cy="274320"/>
          </a:xfrm>
          <a:prstGeom prst="rect">
            <a:avLst/>
          </a:prstGeom>
          <a:noFill/>
          <a:ln/>
        </p:spPr>
        <p:txBody>
          <a:bodyPr wrap="square" lIns="0" tIns="0" rIns="0" bIns="0" rtlCol="0" anchor="ctr"/>
          <a:lstStyle/>
          <a:p>
            <a:pPr algn="r" indent="0" marL="0">
              <a:buNone/>
            </a:pPr>
            <a:r>
              <a:rPr lang="en-US" sz="900" dirty="0">
                <a:solidFill>
                  <a:srgbClr val="7C879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27664" cy="237744"/>
          </a:xfrm>
          <a:prstGeom prst="rect">
            <a:avLst/>
          </a:prstGeom>
          <a:noFill/>
          <a:ln/>
        </p:spPr>
        <p:txBody>
          <a:bodyPr wrap="square" lIns="0" tIns="0" rIns="0" bIns="0" rtlCol="0" anchor="ctr"/>
          <a:lstStyle/>
          <a:p>
            <a:pPr indent="0" marL="0">
              <a:buNone/>
            </a:pPr>
            <a:r>
              <a:rPr lang="en-US" sz="1100" b="1" spc="160" kern="0" dirty="0">
                <a:solidFill>
                  <a:srgbClr val="0F9B82"/>
                </a:solidFill>
                <a:latin typeface="Calibri" pitchFamily="34" charset="0"/>
                <a:ea typeface="Calibri" pitchFamily="34" charset="-122"/>
                <a:cs typeface="Calibri" pitchFamily="34" charset="-120"/>
              </a:rPr>
              <a:t>P1 AND THE BONUS GOAL</a:t>
            </a:r>
            <a:endParaRPr lang="en-US" sz="1100" dirty="0"/>
          </a:p>
        </p:txBody>
      </p:sp>
      <p:sp>
        <p:nvSpPr>
          <p:cNvPr id="3" name="Text 1"/>
          <p:cNvSpPr txBox="1"/>
          <p:nvPr/>
        </p:nvSpPr>
        <p:spPr>
          <a:xfrm>
            <a:off x="566928" y="566928"/>
            <a:ext cx="11027664" cy="731520"/>
          </a:xfrm>
          <a:prstGeom prst="rect">
            <a:avLst/>
          </a:prstGeom>
          <a:noFill/>
          <a:ln/>
        </p:spPr>
        <p:txBody>
          <a:bodyPr wrap="square" lIns="0" tIns="0" rIns="0" bIns="0" rtlCol="0" anchor="ctr"/>
          <a:lstStyle/>
          <a:p>
            <a:pPr indent="0" marL="0">
              <a:buNone/>
            </a:pPr>
            <a:r>
              <a:rPr lang="en-US" sz="3400" b="1" dirty="0">
                <a:solidFill>
                  <a:srgbClr val="22304F"/>
                </a:solidFill>
                <a:latin typeface="Calibri" pitchFamily="34" charset="0"/>
                <a:ea typeface="Calibri" pitchFamily="34" charset="-122"/>
                <a:cs typeface="Calibri" pitchFamily="34" charset="-120"/>
              </a:rPr>
              <a:t>Repositories change; the index keeps up</a:t>
            </a:r>
            <a:endParaRPr lang="en-US" sz="3400" dirty="0"/>
          </a:p>
        </p:txBody>
      </p:sp>
      <p:sp>
        <p:nvSpPr>
          <p:cNvPr id="4" name="Shape 2"/>
          <p:cNvSpPr/>
          <p:nvPr/>
        </p:nvSpPr>
        <p:spPr>
          <a:xfrm>
            <a:off x="566928" y="1536192"/>
            <a:ext cx="11027664" cy="1024128"/>
          </a:xfrm>
          <a:prstGeom prst="roundRect">
            <a:avLst>
              <a:gd name="adj" fmla="val 6250"/>
            </a:avLst>
          </a:prstGeom>
          <a:solidFill>
            <a:srgbClr val="EEF2F8"/>
          </a:solidFill>
          <a:ln/>
        </p:spPr>
      </p:sp>
      <p:sp>
        <p:nvSpPr>
          <p:cNvPr id="5" name="Shape 3"/>
          <p:cNvSpPr/>
          <p:nvPr/>
        </p:nvSpPr>
        <p:spPr>
          <a:xfrm>
            <a:off x="841248" y="1856232"/>
            <a:ext cx="384048" cy="384048"/>
          </a:xfrm>
          <a:prstGeom prst="ellipse">
            <a:avLst/>
          </a:prstGeom>
          <a:solidFill>
            <a:srgbClr val="0F9B82"/>
          </a:solidFill>
          <a:ln/>
        </p:spPr>
      </p:sp>
      <p:sp>
        <p:nvSpPr>
          <p:cNvPr id="6" name="Text 4"/>
          <p:cNvSpPr txBox="1"/>
          <p:nvPr/>
        </p:nvSpPr>
        <p:spPr>
          <a:xfrm>
            <a:off x="841248" y="18562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426464" y="1719072"/>
            <a:ext cx="4206240" cy="292608"/>
          </a:xfrm>
          <a:prstGeom prst="rect">
            <a:avLst/>
          </a:prstGeom>
          <a:noFill/>
          <a:ln/>
        </p:spPr>
        <p:txBody>
          <a:bodyPr wrap="square" lIns="0" tIns="0" rIns="0" bIns="0" rtlCol="0" anchor="t"/>
          <a:lstStyle/>
          <a:p>
            <a:pPr algn="l" indent="0" marL="0">
              <a:lnSpc>
                <a:spcPct val="112000"/>
              </a:lnSpc>
              <a:buNone/>
            </a:pPr>
            <a:r>
              <a:rPr lang="en-US" sz="1350" b="1" dirty="0">
                <a:solidFill>
                  <a:srgbClr val="22304F"/>
                </a:solidFill>
                <a:latin typeface="Calibri" pitchFamily="34" charset="0"/>
                <a:ea typeface="Calibri" pitchFamily="34" charset="-122"/>
                <a:cs typeface="Calibri" pitchFamily="34" charset="-120"/>
              </a:rPr>
              <a:t>Zero re-embeddings on a rename</a:t>
            </a:r>
            <a:endParaRPr lang="en-US" sz="1350" dirty="0"/>
          </a:p>
        </p:txBody>
      </p:sp>
      <p:sp>
        <p:nvSpPr>
          <p:cNvPr id="8" name="Text 6"/>
          <p:cNvSpPr txBox="1"/>
          <p:nvPr/>
        </p:nvSpPr>
        <p:spPr>
          <a:xfrm>
            <a:off x="1426464" y="2029968"/>
            <a:ext cx="9838944" cy="457200"/>
          </a:xfrm>
          <a:prstGeom prst="rect">
            <a:avLst/>
          </a:prstGeom>
          <a:noFill/>
          <a:ln/>
        </p:spPr>
        <p:txBody>
          <a:bodyPr wrap="square" lIns="0" tIns="0" rIns="0" bIns="0" rtlCol="0" anchor="t"/>
          <a:lstStyle/>
          <a:p>
            <a:pPr algn="l" indent="0" marL="0">
              <a:lnSpc>
                <a:spcPct val="112000"/>
              </a:lnSpc>
              <a:buNone/>
            </a:pPr>
            <a:r>
              <a:rPr lang="en-US" sz="1150" dirty="0">
                <a:solidFill>
                  <a:srgbClr val="39435A"/>
                </a:solidFill>
                <a:latin typeface="Calibri" pitchFamily="34" charset="0"/>
                <a:ea typeface="Calibri" pitchFamily="34" charset="-122"/>
                <a:cs typeface="Calibri" pitchFamily="34" charset="-120"/>
              </a:rPr>
              <a:t>The embedding cache is keyed on H(encoder_rev, tokenizer_rev, template_rev, encoder_input_bytes). Path and line numbers are deliberately excluded, so moving or renaming a file triggers no re-embedding at all.</a:t>
            </a:r>
            <a:endParaRPr lang="en-US" sz="1150" dirty="0"/>
          </a:p>
        </p:txBody>
      </p:sp>
      <p:sp>
        <p:nvSpPr>
          <p:cNvPr id="9" name="Shape 7"/>
          <p:cNvSpPr/>
          <p:nvPr/>
        </p:nvSpPr>
        <p:spPr>
          <a:xfrm>
            <a:off x="566928" y="2670048"/>
            <a:ext cx="11027664" cy="1024128"/>
          </a:xfrm>
          <a:prstGeom prst="roundRect">
            <a:avLst>
              <a:gd name="adj" fmla="val 6250"/>
            </a:avLst>
          </a:prstGeom>
          <a:solidFill>
            <a:srgbClr val="EEF2F8"/>
          </a:solidFill>
          <a:ln/>
        </p:spPr>
      </p:sp>
      <p:sp>
        <p:nvSpPr>
          <p:cNvPr id="10" name="Shape 8"/>
          <p:cNvSpPr/>
          <p:nvPr/>
        </p:nvSpPr>
        <p:spPr>
          <a:xfrm>
            <a:off x="841248" y="2990088"/>
            <a:ext cx="384048" cy="384048"/>
          </a:xfrm>
          <a:prstGeom prst="ellipse">
            <a:avLst/>
          </a:prstGeom>
          <a:solidFill>
            <a:srgbClr val="0F9B82"/>
          </a:solidFill>
          <a:ln/>
        </p:spPr>
      </p:sp>
      <p:sp>
        <p:nvSpPr>
          <p:cNvPr id="11" name="Text 9"/>
          <p:cNvSpPr txBox="1"/>
          <p:nvPr/>
        </p:nvSpPr>
        <p:spPr>
          <a:xfrm>
            <a:off x="841248" y="29900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1426464" y="2852928"/>
            <a:ext cx="4206240" cy="292608"/>
          </a:xfrm>
          <a:prstGeom prst="rect">
            <a:avLst/>
          </a:prstGeom>
          <a:noFill/>
          <a:ln/>
        </p:spPr>
        <p:txBody>
          <a:bodyPr wrap="square" lIns="0" tIns="0" rIns="0" bIns="0" rtlCol="0" anchor="t"/>
          <a:lstStyle/>
          <a:p>
            <a:pPr algn="l" indent="0" marL="0">
              <a:lnSpc>
                <a:spcPct val="112000"/>
              </a:lnSpc>
              <a:buNone/>
            </a:pPr>
            <a:r>
              <a:rPr lang="en-US" sz="1350" b="1" dirty="0">
                <a:solidFill>
                  <a:srgbClr val="22304F"/>
                </a:solidFill>
                <a:latin typeface="Calibri" pitchFamily="34" charset="0"/>
                <a:ea typeface="Calibri" pitchFamily="34" charset="-122"/>
                <a:cs typeface="Calibri" pitchFamily="34" charset="-120"/>
              </a:rPr>
              <a:t>~0.01 s to re-index one edited function</a:t>
            </a:r>
            <a:endParaRPr lang="en-US" sz="1350" dirty="0"/>
          </a:p>
        </p:txBody>
      </p:sp>
      <p:sp>
        <p:nvSpPr>
          <p:cNvPr id="13" name="Text 11"/>
          <p:cNvSpPr txBox="1"/>
          <p:nvPr/>
        </p:nvSpPr>
        <p:spPr>
          <a:xfrm>
            <a:off x="1426464" y="3163824"/>
            <a:ext cx="9838944" cy="457200"/>
          </a:xfrm>
          <a:prstGeom prst="rect">
            <a:avLst/>
          </a:prstGeom>
          <a:noFill/>
          <a:ln/>
        </p:spPr>
        <p:txBody>
          <a:bodyPr wrap="square" lIns="0" tIns="0" rIns="0" bIns="0" rtlCol="0" anchor="t"/>
          <a:lstStyle/>
          <a:p>
            <a:pPr algn="l" indent="0" marL="0">
              <a:lnSpc>
                <a:spcPct val="112000"/>
              </a:lnSpc>
              <a:buNone/>
            </a:pPr>
            <a:r>
              <a:rPr lang="en-US" sz="1150" dirty="0">
                <a:solidFill>
                  <a:srgbClr val="39435A"/>
                </a:solidFill>
                <a:latin typeface="Calibri" pitchFamily="34" charset="0"/>
                <a:ea typeface="Calibri" pitchFamily="34" charset="-122"/>
                <a:cs typeface="Calibri" pitchFamily="34" charset="-120"/>
              </a:rPr>
              <a:t>Incremental at the symbol level, not the file level.</a:t>
            </a:r>
            <a:endParaRPr lang="en-US" sz="1150" dirty="0"/>
          </a:p>
        </p:txBody>
      </p:sp>
      <p:sp>
        <p:nvSpPr>
          <p:cNvPr id="14" name="Shape 12"/>
          <p:cNvSpPr/>
          <p:nvPr/>
        </p:nvSpPr>
        <p:spPr>
          <a:xfrm>
            <a:off x="566928" y="3803904"/>
            <a:ext cx="11027664" cy="1024128"/>
          </a:xfrm>
          <a:prstGeom prst="roundRect">
            <a:avLst>
              <a:gd name="adj" fmla="val 6250"/>
            </a:avLst>
          </a:prstGeom>
          <a:solidFill>
            <a:srgbClr val="EEF2F8"/>
          </a:solidFill>
          <a:ln/>
        </p:spPr>
      </p:sp>
      <p:sp>
        <p:nvSpPr>
          <p:cNvPr id="15" name="Shape 13"/>
          <p:cNvSpPr/>
          <p:nvPr/>
        </p:nvSpPr>
        <p:spPr>
          <a:xfrm>
            <a:off x="841248" y="4123944"/>
            <a:ext cx="384048" cy="384048"/>
          </a:xfrm>
          <a:prstGeom prst="ellipse">
            <a:avLst/>
          </a:prstGeom>
          <a:solidFill>
            <a:srgbClr val="0F9B82"/>
          </a:solidFill>
          <a:ln/>
        </p:spPr>
      </p:sp>
      <p:sp>
        <p:nvSpPr>
          <p:cNvPr id="16" name="Text 14"/>
          <p:cNvSpPr txBox="1"/>
          <p:nvPr/>
        </p:nvSpPr>
        <p:spPr>
          <a:xfrm>
            <a:off x="841248" y="41239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1426464" y="3986784"/>
            <a:ext cx="4206240" cy="292608"/>
          </a:xfrm>
          <a:prstGeom prst="rect">
            <a:avLst/>
          </a:prstGeom>
          <a:noFill/>
          <a:ln/>
        </p:spPr>
        <p:txBody>
          <a:bodyPr wrap="square" lIns="0" tIns="0" rIns="0" bIns="0" rtlCol="0" anchor="t"/>
          <a:lstStyle/>
          <a:p>
            <a:pPr algn="l" indent="0" marL="0">
              <a:lnSpc>
                <a:spcPct val="112000"/>
              </a:lnSpc>
              <a:buNone/>
            </a:pPr>
            <a:r>
              <a:rPr lang="en-US" sz="1350" b="1" dirty="0">
                <a:solidFill>
                  <a:srgbClr val="22304F"/>
                </a:solidFill>
                <a:latin typeface="Calibri" pitchFamily="34" charset="0"/>
                <a:ea typeface="Calibri" pitchFamily="34" charset="-122"/>
                <a:cs typeface="Calibri" pitchFamily="34" charset="-120"/>
              </a:rPr>
              <a:t>0 leaks across 50 randomized property trials</a:t>
            </a:r>
            <a:endParaRPr lang="en-US" sz="1350" dirty="0"/>
          </a:p>
        </p:txBody>
      </p:sp>
      <p:sp>
        <p:nvSpPr>
          <p:cNvPr id="18" name="Text 16"/>
          <p:cNvSpPr txBox="1"/>
          <p:nvPr/>
        </p:nvSpPr>
        <p:spPr>
          <a:xfrm>
            <a:off x="1426464" y="4297680"/>
            <a:ext cx="9838944" cy="457200"/>
          </a:xfrm>
          <a:prstGeom prst="rect">
            <a:avLst/>
          </a:prstGeom>
          <a:noFill/>
          <a:ln/>
        </p:spPr>
        <p:txBody>
          <a:bodyPr wrap="square" lIns="0" tIns="0" rIns="0" bIns="0" rtlCol="0" anchor="t"/>
          <a:lstStyle/>
          <a:p>
            <a:pPr algn="l" indent="0" marL="0">
              <a:lnSpc>
                <a:spcPct val="112000"/>
              </a:lnSpc>
              <a:buNone/>
            </a:pPr>
            <a:r>
              <a:rPr lang="en-US" sz="1150" dirty="0">
                <a:solidFill>
                  <a:srgbClr val="39435A"/>
                </a:solidFill>
                <a:latin typeface="Calibri" pitchFamily="34" charset="0"/>
                <a:ea typeface="Calibri" pitchFamily="34" charset="-122"/>
                <a:cs typeface="Calibri" pitchFamily="34" charset="-120"/>
              </a:rPr>
              <a:t>Commit-pinned queries restrict candidates to that commit's tree snapshot.</a:t>
            </a:r>
            <a:endParaRPr lang="en-US" sz="1150" dirty="0"/>
          </a:p>
        </p:txBody>
      </p:sp>
      <p:sp>
        <p:nvSpPr>
          <p:cNvPr id="19" name="Shape 17"/>
          <p:cNvSpPr/>
          <p:nvPr/>
        </p:nvSpPr>
        <p:spPr>
          <a:xfrm>
            <a:off x="566928" y="4937760"/>
            <a:ext cx="11027664" cy="1024128"/>
          </a:xfrm>
          <a:prstGeom prst="roundRect">
            <a:avLst>
              <a:gd name="adj" fmla="val 6250"/>
            </a:avLst>
          </a:prstGeom>
          <a:solidFill>
            <a:srgbClr val="EEF2F8"/>
          </a:solidFill>
          <a:ln/>
        </p:spPr>
      </p:sp>
      <p:sp>
        <p:nvSpPr>
          <p:cNvPr id="20" name="Shape 18"/>
          <p:cNvSpPr/>
          <p:nvPr/>
        </p:nvSpPr>
        <p:spPr>
          <a:xfrm>
            <a:off x="841248" y="5257800"/>
            <a:ext cx="384048" cy="384048"/>
          </a:xfrm>
          <a:prstGeom prst="ellipse">
            <a:avLst/>
          </a:prstGeom>
          <a:solidFill>
            <a:srgbClr val="0F9B82"/>
          </a:solidFill>
          <a:ln/>
        </p:spPr>
      </p:sp>
      <p:sp>
        <p:nvSpPr>
          <p:cNvPr id="21" name="Text 19"/>
          <p:cNvSpPr txBox="1"/>
          <p:nvPr/>
        </p:nvSpPr>
        <p:spPr>
          <a:xfrm>
            <a:off x="841248" y="5257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1426464" y="5120640"/>
            <a:ext cx="4206240" cy="292608"/>
          </a:xfrm>
          <a:prstGeom prst="rect">
            <a:avLst/>
          </a:prstGeom>
          <a:noFill/>
          <a:ln/>
        </p:spPr>
        <p:txBody>
          <a:bodyPr wrap="square" lIns="0" tIns="0" rIns="0" bIns="0" rtlCol="0" anchor="t"/>
          <a:lstStyle/>
          <a:p>
            <a:pPr algn="l" indent="0" marL="0">
              <a:lnSpc>
                <a:spcPct val="112000"/>
              </a:lnSpc>
              <a:buNone/>
            </a:pPr>
            <a:r>
              <a:rPr lang="en-US" sz="1350" b="1" dirty="0">
                <a:solidFill>
                  <a:srgbClr val="22304F"/>
                </a:solidFill>
                <a:latin typeface="Calibri" pitchFamily="34" charset="0"/>
                <a:ea typeface="Calibri" pitchFamily="34" charset="-122"/>
                <a:cs typeface="Calibri" pitchFamily="34" charset="-120"/>
              </a:rPr>
              <a:t>100.0% span fidelity</a:t>
            </a:r>
            <a:endParaRPr lang="en-US" sz="1350" dirty="0"/>
          </a:p>
        </p:txBody>
      </p:sp>
      <p:sp>
        <p:nvSpPr>
          <p:cNvPr id="23" name="Text 21"/>
          <p:cNvSpPr txBox="1"/>
          <p:nvPr/>
        </p:nvSpPr>
        <p:spPr>
          <a:xfrm>
            <a:off x="1426464" y="5431536"/>
            <a:ext cx="9838944" cy="457200"/>
          </a:xfrm>
          <a:prstGeom prst="rect">
            <a:avLst/>
          </a:prstGeom>
          <a:noFill/>
          <a:ln/>
        </p:spPr>
        <p:txBody>
          <a:bodyPr wrap="square" lIns="0" tIns="0" rIns="0" bIns="0" rtlCol="0" anchor="t"/>
          <a:lstStyle/>
          <a:p>
            <a:pPr algn="l" indent="0" marL="0">
              <a:lnSpc>
                <a:spcPct val="112000"/>
              </a:lnSpc>
              <a:buNone/>
            </a:pPr>
            <a:r>
              <a:rPr lang="en-US" sz="1150" dirty="0">
                <a:solidFill>
                  <a:srgbClr val="39435A"/>
                </a:solidFill>
                <a:latin typeface="Calibri" pitchFamily="34" charset="0"/>
                <a:ea typeface="Calibri" pitchFamily="34" charset="-122"/>
                <a:cs typeface="Calibri" pitchFamily="34" charset="-120"/>
              </a:rPr>
              <a:t>489 chunks across 171 files round-trip exactly — a chunk's recorded span always reproduces its source text.</a:t>
            </a:r>
            <a:endParaRPr lang="en-US" sz="1150" dirty="0"/>
          </a:p>
        </p:txBody>
      </p:sp>
      <p:sp>
        <p:nvSpPr>
          <p:cNvPr id="24" name="Text 22"/>
          <p:cNvSpPr txBox="1"/>
          <p:nvPr/>
        </p:nvSpPr>
        <p:spPr>
          <a:xfrm>
            <a:off x="566928" y="6327648"/>
            <a:ext cx="10479024" cy="274320"/>
          </a:xfrm>
          <a:prstGeom prst="rect">
            <a:avLst/>
          </a:prstGeom>
          <a:noFill/>
          <a:ln/>
        </p:spPr>
        <p:txBody>
          <a:bodyPr wrap="square" lIns="0" tIns="0" rIns="0" bIns="0" rtlCol="0" anchor="ctr"/>
          <a:lstStyle/>
          <a:p>
            <a:pPr indent="0" marL="0">
              <a:buNone/>
            </a:pPr>
            <a:r>
              <a:rPr lang="en-US" sz="900" dirty="0">
                <a:solidFill>
                  <a:srgbClr val="7C879B"/>
                </a:solidFill>
                <a:latin typeface="Calibri" pitchFamily="34" charset="0"/>
                <a:ea typeface="Calibri" pitchFamily="34" charset="-122"/>
                <a:cs typeface="Calibri" pitchFamily="34" charset="-120"/>
              </a:rPr>
              <a:t>CodeDoctor  ·  Samsung PRISM GenAI Hackathon 2026  ·  Theme 01</a:t>
            </a:r>
            <a:endParaRPr lang="en-US" sz="900" dirty="0"/>
          </a:p>
        </p:txBody>
      </p:sp>
      <p:sp>
        <p:nvSpPr>
          <p:cNvPr id="25" name="Text 23"/>
          <p:cNvSpPr txBox="1"/>
          <p:nvPr/>
        </p:nvSpPr>
        <p:spPr>
          <a:xfrm>
            <a:off x="11045952" y="6327648"/>
            <a:ext cx="548640" cy="274320"/>
          </a:xfrm>
          <a:prstGeom prst="rect">
            <a:avLst/>
          </a:prstGeom>
          <a:noFill/>
          <a:ln/>
        </p:spPr>
        <p:txBody>
          <a:bodyPr wrap="square" lIns="0" tIns="0" rIns="0" bIns="0" rtlCol="0" anchor="ctr"/>
          <a:lstStyle/>
          <a:p>
            <a:pPr algn="r" indent="0" marL="0">
              <a:buNone/>
            </a:pPr>
            <a:r>
              <a:rPr lang="en-US" sz="900" dirty="0">
                <a:solidFill>
                  <a:srgbClr val="7C879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A2E"/>
        </a:solidFill>
      </p:bgPr>
    </p:bg>
    <p:spTree>
      <p:nvGrpSpPr>
        <p:cNvPr id="1" name=""/>
        <p:cNvGrpSpPr/>
        <p:nvPr/>
      </p:nvGrpSpPr>
      <p:grpSpPr>
        <a:xfrm>
          <a:off x="0" y="0"/>
          <a:ext cx="0" cy="0"/>
          <a:chOff x="0" y="0"/>
          <a:chExt cx="0" cy="0"/>
        </a:xfrm>
      </p:grpSpPr>
      <p:sp>
        <p:nvSpPr>
          <p:cNvPr id="2" name="Text 0"/>
          <p:cNvSpPr txBox="1"/>
          <p:nvPr/>
        </p:nvSpPr>
        <p:spPr>
          <a:xfrm>
            <a:off x="566928" y="329184"/>
            <a:ext cx="11027664" cy="237744"/>
          </a:xfrm>
          <a:prstGeom prst="rect">
            <a:avLst/>
          </a:prstGeom>
          <a:noFill/>
          <a:ln/>
        </p:spPr>
        <p:txBody>
          <a:bodyPr wrap="square" lIns="0" tIns="0" rIns="0" bIns="0" rtlCol="0" anchor="ctr"/>
          <a:lstStyle/>
          <a:p>
            <a:pPr indent="0" marL="0">
              <a:buNone/>
            </a:pPr>
            <a:r>
              <a:rPr lang="en-US" sz="1100" b="1" spc="160" kern="0" dirty="0">
                <a:solidFill>
                  <a:srgbClr val="0F9B82"/>
                </a:solidFill>
                <a:latin typeface="Calibri" pitchFamily="34" charset="0"/>
                <a:ea typeface="Calibri" pitchFamily="34" charset="-122"/>
                <a:cs typeface="Calibri" pitchFamily="34" charset="-120"/>
              </a:rPr>
              <a:t>ENGINEERING NOTES</a:t>
            </a:r>
            <a:endParaRPr lang="en-US" sz="1100" dirty="0"/>
          </a:p>
        </p:txBody>
      </p:sp>
      <p:sp>
        <p:nvSpPr>
          <p:cNvPr id="3" name="Text 1"/>
          <p:cNvSpPr txBox="1"/>
          <p:nvPr/>
        </p:nvSpPr>
        <p:spPr>
          <a:xfrm>
            <a:off x="566928" y="566928"/>
            <a:ext cx="11027664"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Five things that cost us a day each</a:t>
            </a:r>
            <a:endParaRPr lang="en-US" sz="3400" dirty="0"/>
          </a:p>
        </p:txBody>
      </p:sp>
      <p:sp>
        <p:nvSpPr>
          <p:cNvPr id="4" name="Shape 2"/>
          <p:cNvSpPr/>
          <p:nvPr/>
        </p:nvSpPr>
        <p:spPr>
          <a:xfrm>
            <a:off x="566928" y="1426464"/>
            <a:ext cx="11027664" cy="914400"/>
          </a:xfrm>
          <a:prstGeom prst="roundRect">
            <a:avLst>
              <a:gd name="adj" fmla="val 6000"/>
            </a:avLst>
          </a:prstGeom>
          <a:solidFill>
            <a:srgbClr val="1C2949"/>
          </a:solidFill>
          <a:ln/>
        </p:spPr>
      </p:sp>
      <p:sp>
        <p:nvSpPr>
          <p:cNvPr id="5" name="Text 3"/>
          <p:cNvSpPr txBox="1"/>
          <p:nvPr/>
        </p:nvSpPr>
        <p:spPr>
          <a:xfrm>
            <a:off x="841248" y="1554480"/>
            <a:ext cx="3931920" cy="274320"/>
          </a:xfrm>
          <a:prstGeom prst="rect">
            <a:avLst/>
          </a:prstGeom>
          <a:noFill/>
          <a:ln/>
        </p:spPr>
        <p:txBody>
          <a:bodyPr wrap="square" lIns="0" tIns="0" rIns="0" bIns="0" rtlCol="0" anchor="t"/>
          <a:lstStyle/>
          <a:p>
            <a:pPr algn="l" indent="0" marL="0">
              <a:lnSpc>
                <a:spcPct val="112000"/>
              </a:lnSpc>
              <a:buNone/>
            </a:pPr>
            <a:r>
              <a:rPr lang="en-US" sz="1300" b="1" dirty="0">
                <a:solidFill>
                  <a:srgbClr val="5FD9C2"/>
                </a:solidFill>
                <a:latin typeface="Calibri" pitchFamily="34" charset="0"/>
                <a:ea typeface="Calibri" pitchFamily="34" charset="-122"/>
                <a:cs typeface="Calibri" pitchFamily="34" charset="-120"/>
              </a:rPr>
              <a:t>Attention memory is quadratic</a:t>
            </a:r>
            <a:endParaRPr lang="en-US" sz="1300" dirty="0"/>
          </a:p>
        </p:txBody>
      </p:sp>
      <p:sp>
        <p:nvSpPr>
          <p:cNvPr id="6" name="Text 4"/>
          <p:cNvSpPr txBox="1"/>
          <p:nvPr/>
        </p:nvSpPr>
        <p:spPr>
          <a:xfrm>
            <a:off x="4910328" y="1554480"/>
            <a:ext cx="6409944" cy="685800"/>
          </a:xfrm>
          <a:prstGeom prst="rect">
            <a:avLst/>
          </a:prstGeom>
          <a:noFill/>
          <a:ln/>
        </p:spPr>
        <p:txBody>
          <a:bodyPr wrap="square" lIns="0" tIns="0" rIns="0" bIns="0" rtlCol="0" anchor="t"/>
          <a:lstStyle/>
          <a:p>
            <a:pPr algn="l" indent="0" marL="0">
              <a:lnSpc>
                <a:spcPct val="112000"/>
              </a:lnSpc>
              <a:buNone/>
            </a:pPr>
            <a:r>
              <a:rPr lang="en-US" sz="1150" dirty="0">
                <a:solidFill>
                  <a:srgbClr val="C3CEE2"/>
                </a:solidFill>
                <a:latin typeface="Calibri" pitchFamily="34" charset="0"/>
                <a:ea typeface="Calibri" pitchFamily="34" charset="-122"/>
                <a:cs typeface="Calibri" pitchFamily="34" charset="-120"/>
              </a:rPr>
              <a:t>Documents run 225 tokens on average and 289,002 at the tail. A linear token budget still OOMed at 12 GiB; batches are budgeted on max_len² × batch.</a:t>
            </a:r>
            <a:endParaRPr lang="en-US" sz="1150" dirty="0"/>
          </a:p>
        </p:txBody>
      </p:sp>
      <p:sp>
        <p:nvSpPr>
          <p:cNvPr id="7" name="Shape 5"/>
          <p:cNvSpPr/>
          <p:nvPr/>
        </p:nvSpPr>
        <p:spPr>
          <a:xfrm>
            <a:off x="566928" y="2414016"/>
            <a:ext cx="11027664" cy="914400"/>
          </a:xfrm>
          <a:prstGeom prst="roundRect">
            <a:avLst>
              <a:gd name="adj" fmla="val 6000"/>
            </a:avLst>
          </a:prstGeom>
          <a:solidFill>
            <a:srgbClr val="1C2949"/>
          </a:solidFill>
          <a:ln/>
        </p:spPr>
      </p:sp>
      <p:sp>
        <p:nvSpPr>
          <p:cNvPr id="8" name="Text 6"/>
          <p:cNvSpPr txBox="1"/>
          <p:nvPr/>
        </p:nvSpPr>
        <p:spPr>
          <a:xfrm>
            <a:off x="841248" y="2542032"/>
            <a:ext cx="3931920" cy="274320"/>
          </a:xfrm>
          <a:prstGeom prst="rect">
            <a:avLst/>
          </a:prstGeom>
          <a:noFill/>
          <a:ln/>
        </p:spPr>
        <p:txBody>
          <a:bodyPr wrap="square" lIns="0" tIns="0" rIns="0" bIns="0" rtlCol="0" anchor="t"/>
          <a:lstStyle/>
          <a:p>
            <a:pPr algn="l" indent="0" marL="0">
              <a:lnSpc>
                <a:spcPct val="112000"/>
              </a:lnSpc>
              <a:buNone/>
            </a:pPr>
            <a:r>
              <a:rPr lang="en-US" sz="1300" b="1" dirty="0">
                <a:solidFill>
                  <a:srgbClr val="5FD9C2"/>
                </a:solidFill>
                <a:latin typeface="Calibri" pitchFamily="34" charset="0"/>
                <a:ea typeface="Calibri" pitchFamily="34" charset="-122"/>
                <a:cs typeface="Calibri" pitchFamily="34" charset="-120"/>
              </a:rPr>
              <a:t>T4 has no native bfloat16</a:t>
            </a:r>
            <a:endParaRPr lang="en-US" sz="1300" dirty="0"/>
          </a:p>
        </p:txBody>
      </p:sp>
      <p:sp>
        <p:nvSpPr>
          <p:cNvPr id="9" name="Text 7"/>
          <p:cNvSpPr txBox="1"/>
          <p:nvPr/>
        </p:nvSpPr>
        <p:spPr>
          <a:xfrm>
            <a:off x="4910328" y="2542032"/>
            <a:ext cx="6409944" cy="685800"/>
          </a:xfrm>
          <a:prstGeom prst="rect">
            <a:avLst/>
          </a:prstGeom>
          <a:noFill/>
          <a:ln/>
        </p:spPr>
        <p:txBody>
          <a:bodyPr wrap="square" lIns="0" tIns="0" rIns="0" bIns="0" rtlCol="0" anchor="t"/>
          <a:lstStyle/>
          <a:p>
            <a:pPr algn="l" indent="0" marL="0">
              <a:lnSpc>
                <a:spcPct val="112000"/>
              </a:lnSpc>
              <a:buNone/>
            </a:pPr>
            <a:r>
              <a:rPr lang="en-US" sz="1150" dirty="0">
                <a:solidFill>
                  <a:srgbClr val="C3CEE2"/>
                </a:solidFill>
                <a:latin typeface="Calibri" pitchFamily="34" charset="0"/>
                <a:ea typeface="Calibri" pitchFamily="34" charset="-122"/>
                <a:cs typeface="Calibri" pitchFamily="34" charset="-120"/>
              </a:rPr>
              <a:t>Torch emulates it and the encode slows by roughly 10×. select_dtype picks fp16 below compute capability 8.0.</a:t>
            </a:r>
            <a:endParaRPr lang="en-US" sz="1150" dirty="0"/>
          </a:p>
        </p:txBody>
      </p:sp>
      <p:sp>
        <p:nvSpPr>
          <p:cNvPr id="10" name="Shape 8"/>
          <p:cNvSpPr/>
          <p:nvPr/>
        </p:nvSpPr>
        <p:spPr>
          <a:xfrm>
            <a:off x="566928" y="3401568"/>
            <a:ext cx="11027664" cy="914400"/>
          </a:xfrm>
          <a:prstGeom prst="roundRect">
            <a:avLst>
              <a:gd name="adj" fmla="val 6000"/>
            </a:avLst>
          </a:prstGeom>
          <a:solidFill>
            <a:srgbClr val="1C2949"/>
          </a:solidFill>
          <a:ln/>
        </p:spPr>
      </p:sp>
      <p:sp>
        <p:nvSpPr>
          <p:cNvPr id="11" name="Text 9"/>
          <p:cNvSpPr txBox="1"/>
          <p:nvPr/>
        </p:nvSpPr>
        <p:spPr>
          <a:xfrm>
            <a:off x="841248" y="3529584"/>
            <a:ext cx="3931920" cy="274320"/>
          </a:xfrm>
          <a:prstGeom prst="rect">
            <a:avLst/>
          </a:prstGeom>
          <a:noFill/>
          <a:ln/>
        </p:spPr>
        <p:txBody>
          <a:bodyPr wrap="square" lIns="0" tIns="0" rIns="0" bIns="0" rtlCol="0" anchor="t"/>
          <a:lstStyle/>
          <a:p>
            <a:pPr algn="l" indent="0" marL="0">
              <a:lnSpc>
                <a:spcPct val="112000"/>
              </a:lnSpc>
              <a:buNone/>
            </a:pPr>
            <a:r>
              <a:rPr lang="en-US" sz="1300" b="1" dirty="0">
                <a:solidFill>
                  <a:srgbClr val="5FD9C2"/>
                </a:solidFill>
                <a:latin typeface="Calibri" pitchFamily="34" charset="0"/>
                <a:ea typeface="Calibri" pitchFamily="34" charset="-122"/>
                <a:cs typeface="Calibri" pitchFamily="34" charset="-120"/>
              </a:rPr>
              <a:t>The recipe is verified at load, not assumed</a:t>
            </a:r>
            <a:endParaRPr lang="en-US" sz="1300" dirty="0"/>
          </a:p>
        </p:txBody>
      </p:sp>
      <p:sp>
        <p:nvSpPr>
          <p:cNvPr id="12" name="Text 10"/>
          <p:cNvSpPr txBox="1"/>
          <p:nvPr/>
        </p:nvSpPr>
        <p:spPr>
          <a:xfrm>
            <a:off x="4910328" y="3529584"/>
            <a:ext cx="6409944" cy="685800"/>
          </a:xfrm>
          <a:prstGeom prst="rect">
            <a:avLst/>
          </a:prstGeom>
          <a:noFill/>
          <a:ln/>
        </p:spPr>
        <p:txBody>
          <a:bodyPr wrap="square" lIns="0" tIns="0" rIns="0" bIns="0" rtlCol="0" anchor="t"/>
          <a:lstStyle/>
          <a:p>
            <a:pPr algn="l" indent="0" marL="0">
              <a:lnSpc>
                <a:spcPct val="112000"/>
              </a:lnSpc>
              <a:buNone/>
            </a:pPr>
            <a:r>
              <a:rPr lang="en-US" sz="1150" dirty="0">
                <a:solidFill>
                  <a:srgbClr val="C3CEE2"/>
                </a:solidFill>
                <a:latin typeface="Calibri" pitchFamily="34" charset="0"/>
                <a:ea typeface="Calibri" pitchFamily="34" charset="-122"/>
                <a:cs typeface="Calibri" pitchFamily="34" charset="-120"/>
              </a:rPr>
              <a:t>tokenizer_kwargs is deprecated in sentence-transformers 6. The day it stops being honoured, the EOS quietly vanishes and every embedding is wrong while the run still succeeds. The encoder probes the loaded tokenizer and refuses.</a:t>
            </a:r>
            <a:endParaRPr lang="en-US" sz="1150" dirty="0"/>
          </a:p>
        </p:txBody>
      </p:sp>
      <p:sp>
        <p:nvSpPr>
          <p:cNvPr id="13" name="Shape 11"/>
          <p:cNvSpPr/>
          <p:nvPr/>
        </p:nvSpPr>
        <p:spPr>
          <a:xfrm>
            <a:off x="566928" y="4389120"/>
            <a:ext cx="11027664" cy="914400"/>
          </a:xfrm>
          <a:prstGeom prst="roundRect">
            <a:avLst>
              <a:gd name="adj" fmla="val 6000"/>
            </a:avLst>
          </a:prstGeom>
          <a:solidFill>
            <a:srgbClr val="1C2949"/>
          </a:solidFill>
          <a:ln/>
        </p:spPr>
      </p:sp>
      <p:sp>
        <p:nvSpPr>
          <p:cNvPr id="14" name="Text 12"/>
          <p:cNvSpPr txBox="1"/>
          <p:nvPr/>
        </p:nvSpPr>
        <p:spPr>
          <a:xfrm>
            <a:off x="841248" y="4517136"/>
            <a:ext cx="3931920" cy="274320"/>
          </a:xfrm>
          <a:prstGeom prst="rect">
            <a:avLst/>
          </a:prstGeom>
          <a:noFill/>
          <a:ln/>
        </p:spPr>
        <p:txBody>
          <a:bodyPr wrap="square" lIns="0" tIns="0" rIns="0" bIns="0" rtlCol="0" anchor="t"/>
          <a:lstStyle/>
          <a:p>
            <a:pPr algn="l" indent="0" marL="0">
              <a:lnSpc>
                <a:spcPct val="112000"/>
              </a:lnSpc>
              <a:buNone/>
            </a:pPr>
            <a:r>
              <a:rPr lang="en-US" sz="1300" b="1" dirty="0">
                <a:solidFill>
                  <a:srgbClr val="5FD9C2"/>
                </a:solidFill>
                <a:latin typeface="Calibri" pitchFamily="34" charset="0"/>
                <a:ea typeface="Calibri" pitchFamily="34" charset="-122"/>
                <a:cs typeface="Calibri" pitchFamily="34" charset="-120"/>
              </a:rPr>
              <a:t>The hub profile is content-keyed</a:t>
            </a:r>
            <a:endParaRPr lang="en-US" sz="1300" dirty="0"/>
          </a:p>
        </p:txBody>
      </p:sp>
      <p:sp>
        <p:nvSpPr>
          <p:cNvPr id="15" name="Text 13"/>
          <p:cNvSpPr txBox="1"/>
          <p:nvPr/>
        </p:nvSpPr>
        <p:spPr>
          <a:xfrm>
            <a:off x="4910328" y="4517136"/>
            <a:ext cx="6409944" cy="685800"/>
          </a:xfrm>
          <a:prstGeom prst="rect">
            <a:avLst/>
          </a:prstGeom>
          <a:noFill/>
          <a:ln/>
        </p:spPr>
        <p:txBody>
          <a:bodyPr wrap="square" lIns="0" tIns="0" rIns="0" bIns="0" rtlCol="0" anchor="t"/>
          <a:lstStyle/>
          <a:p>
            <a:pPr algn="l" indent="0" marL="0">
              <a:lnSpc>
                <a:spcPct val="112000"/>
              </a:lnSpc>
              <a:buNone/>
            </a:pPr>
            <a:r>
              <a:rPr lang="en-US" sz="1150" dirty="0">
                <a:solidFill>
                  <a:srgbClr val="C3CEE2"/>
                </a:solidFill>
                <a:latin typeface="Calibri" pitchFamily="34" charset="0"/>
                <a:ea typeface="Calibri" pitchFamily="34" charset="-122"/>
                <a:cs typeface="Calibri" pitchFamily="34" charset="-120"/>
              </a:rPr>
              <a:t>It is built against one corpus ordering and applied against MTEB's. Index alignment would have shifted every hub score silently onto the wrong document.</a:t>
            </a:r>
            <a:endParaRPr lang="en-US" sz="1150" dirty="0"/>
          </a:p>
        </p:txBody>
      </p:sp>
      <p:sp>
        <p:nvSpPr>
          <p:cNvPr id="16" name="Shape 14"/>
          <p:cNvSpPr/>
          <p:nvPr/>
        </p:nvSpPr>
        <p:spPr>
          <a:xfrm>
            <a:off x="566928" y="5376672"/>
            <a:ext cx="11027664" cy="914400"/>
          </a:xfrm>
          <a:prstGeom prst="roundRect">
            <a:avLst>
              <a:gd name="adj" fmla="val 6000"/>
            </a:avLst>
          </a:prstGeom>
          <a:solidFill>
            <a:srgbClr val="1C2949"/>
          </a:solidFill>
          <a:ln/>
        </p:spPr>
      </p:sp>
      <p:sp>
        <p:nvSpPr>
          <p:cNvPr id="17" name="Text 15"/>
          <p:cNvSpPr txBox="1"/>
          <p:nvPr/>
        </p:nvSpPr>
        <p:spPr>
          <a:xfrm>
            <a:off x="841248" y="5504688"/>
            <a:ext cx="3931920" cy="274320"/>
          </a:xfrm>
          <a:prstGeom prst="rect">
            <a:avLst/>
          </a:prstGeom>
          <a:noFill/>
          <a:ln/>
        </p:spPr>
        <p:txBody>
          <a:bodyPr wrap="square" lIns="0" tIns="0" rIns="0" bIns="0" rtlCol="0" anchor="t"/>
          <a:lstStyle/>
          <a:p>
            <a:pPr algn="l" indent="0" marL="0">
              <a:lnSpc>
                <a:spcPct val="112000"/>
              </a:lnSpc>
              <a:buNone/>
            </a:pPr>
            <a:r>
              <a:rPr lang="en-US" sz="1300" b="1" dirty="0">
                <a:solidFill>
                  <a:srgbClr val="5FD9C2"/>
                </a:solidFill>
                <a:latin typeface="Calibri" pitchFamily="34" charset="0"/>
                <a:ea typeface="Calibri" pitchFamily="34" charset="-122"/>
                <a:cs typeface="Calibri" pitchFamily="34" charset="-120"/>
              </a:rPr>
              <a:t>A planted-noise negative control</a:t>
            </a:r>
            <a:endParaRPr lang="en-US" sz="1300" dirty="0"/>
          </a:p>
        </p:txBody>
      </p:sp>
      <p:sp>
        <p:nvSpPr>
          <p:cNvPr id="18" name="Text 16"/>
          <p:cNvSpPr txBox="1"/>
          <p:nvPr/>
        </p:nvSpPr>
        <p:spPr>
          <a:xfrm>
            <a:off x="4910328" y="5504688"/>
            <a:ext cx="6409944" cy="685800"/>
          </a:xfrm>
          <a:prstGeom prst="rect">
            <a:avLst/>
          </a:prstGeom>
          <a:noFill/>
          <a:ln/>
        </p:spPr>
        <p:txBody>
          <a:bodyPr wrap="square" lIns="0" tIns="0" rIns="0" bIns="0" rtlCol="0" anchor="t"/>
          <a:lstStyle/>
          <a:p>
            <a:pPr algn="l" indent="0" marL="0">
              <a:lnSpc>
                <a:spcPct val="112000"/>
              </a:lnSpc>
              <a:buNone/>
            </a:pPr>
            <a:r>
              <a:rPr lang="en-US" sz="1150" dirty="0">
                <a:solidFill>
                  <a:srgbClr val="C3CEE2"/>
                </a:solidFill>
                <a:latin typeface="Calibri" pitchFamily="34" charset="0"/>
                <a:ea typeface="Calibri" pitchFamily="34" charset="-122"/>
                <a:cs typeface="Calibri" pitchFamily="34" charset="-120"/>
              </a:rPr>
              <a:t>In the test suite, to show why the held-out gate exists: a pure-noise feature still buys in-sample NDCG.</a:t>
            </a:r>
            <a:endParaRPr lang="en-US" sz="1150" dirty="0"/>
          </a:p>
        </p:txBody>
      </p:sp>
      <p:sp>
        <p:nvSpPr>
          <p:cNvPr id="19" name="Text 17"/>
          <p:cNvSpPr txBox="1"/>
          <p:nvPr/>
        </p:nvSpPr>
        <p:spPr>
          <a:xfrm>
            <a:off x="566928" y="6327648"/>
            <a:ext cx="10479024" cy="274320"/>
          </a:xfrm>
          <a:prstGeom prst="rect">
            <a:avLst/>
          </a:prstGeom>
          <a:noFill/>
          <a:ln/>
        </p:spPr>
        <p:txBody>
          <a:bodyPr wrap="square" lIns="0" tIns="0" rIns="0" bIns="0" rtlCol="0" anchor="ctr"/>
          <a:lstStyle/>
          <a:p>
            <a:pPr indent="0" marL="0">
              <a:buNone/>
            </a:pPr>
            <a:r>
              <a:rPr lang="en-US" sz="900" dirty="0">
                <a:solidFill>
                  <a:srgbClr val="5E6C88"/>
                </a:solidFill>
                <a:latin typeface="Calibri" pitchFamily="34" charset="0"/>
                <a:ea typeface="Calibri" pitchFamily="34" charset="-122"/>
                <a:cs typeface="Calibri" pitchFamily="34" charset="-120"/>
              </a:rPr>
              <a:t>CodeDoctor  ·  Samsung PRISM GenAI Hackathon 2026  ·  Theme 01</a:t>
            </a:r>
            <a:endParaRPr lang="en-US" sz="900" dirty="0"/>
          </a:p>
        </p:txBody>
      </p:sp>
      <p:sp>
        <p:nvSpPr>
          <p:cNvPr id="20" name="Text 18"/>
          <p:cNvSpPr txBox="1"/>
          <p:nvPr/>
        </p:nvSpPr>
        <p:spPr>
          <a:xfrm>
            <a:off x="11045952" y="6327648"/>
            <a:ext cx="548640" cy="274320"/>
          </a:xfrm>
          <a:prstGeom prst="rect">
            <a:avLst/>
          </a:prstGeom>
          <a:noFill/>
          <a:ln/>
        </p:spPr>
        <p:txBody>
          <a:bodyPr wrap="square" lIns="0" tIns="0" rIns="0" bIns="0" rtlCol="0" anchor="ctr"/>
          <a:lstStyle/>
          <a:p>
            <a:pPr algn="r" indent="0" marL="0">
              <a:buNone/>
            </a:pPr>
            <a:r>
              <a:rPr lang="en-US" sz="900" dirty="0">
                <a:solidFill>
                  <a:srgbClr val="5E6C8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CodeDoctor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CodeDoctor - Agentic Code Intelligence</dc:title>
  <dc:subject>PptxGenJS Presentation</dc:subject>
  <dc:creator>Munal Singh</dc:creator>
  <cp:lastModifiedBy>Munal Singh</cp:lastModifiedBy>
  <cp:revision>1</cp:revision>
  <dcterms:created xsi:type="dcterms:W3CDTF">2026-09-19T08:12:39Z</dcterms:created>
  <dcterms:modified xsi:type="dcterms:W3CDTF">2026-09-19T08:12:39Z</dcterms:modified>
</cp:coreProperties>
</file>